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we're presenting a full product and design analysis of Medsev, an online healthcare booking platform, as part of our graduation project research. This deck walks through the platform's structure, its user experience, and its technical foundation, and connects it to lessons we're carrying into our own MedCare project. Let's start with a project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Medsev is a healthcare clinic and doctor-booking template — a ready-made digital front door for a hospital or clinic. Its purpose is simple: let a patient land on the site, understand the services and doctors available, and book an appointment without picking up the phone. It serves three groups — patients looking for care, doctors presenting their credentials, and administrators who need one cohesive online identity. Keep these three audiences in mind as we walk through every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site map at a glance. Medsev is organized around nine core areas: Home, About, Services, Doctors, Departments, Appointment booking, a Blog for health content, Contact, and simple patient Authentication. Notice this mirrors exactly what a real hospital website needs — informational pages to build trust, directory pages to browse options, and a transactional core, the appointment system, that turns a visitor into a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homepage is the platform's first impression. It opens with a rotating hero — five different variations are available — each pairing a confident headline with a direct 'Get Appointment' button, so the primary action is visible immediately. Below the fold, trust-building stats like bed count and years of experience sit next to service preview cards, video introductions, and a doctor teaser section. Every element on this page exists to move a first-time visitor one step closer to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asking for anything, the About page builds credibility. It tells the hospital's story, highlights three trust pillars — certified doctors, 24-hour emergency coverage, and modern technology — and restates its scale through stats like bed count and years of operation. Real patient testimonials close out the page as social proof. This is a deliberate sequencing choice: establish trust first, then guide the visitor toward services and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Services page lists eight medical categories — from dental care and cardiology to diagnostics and ambulance support — using one repeating card pattern: an icon, a title, and a short description. Each card links through to a Service Details page for the full write-up. This repetition is intentional: once a patient learns how to read one card, they can scan all eight in seconds, which matters when someone is comparing options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through from a service card lands on Service Details, which expands the one-line summary into a full description, a checklist of what the service actually covers, and — importantly — the doctors associated with that specialty. This is where a curious visitor gets enough information to commit, and the booking button here is scoped to that specific service rather than a generic appointment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Doctors page presents each specialist as a card: photo, name, specialization, and a one-click 'Get Appointment' button. It doesn't overload the card with detail — that's deliberate, since the goal here is browsing, not deciding. A patient scans specializations until one matches their need, then either clicks through to a full profile or books directly. We'll look at that full profile — the Doctor Details page —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Doctor Details is where browsing turns into a decision. Beyond the photo and specialization already seen on the directory card, this page adds a biography, listed qualifications, and published working hours — the exact information a patient needs before committing to a visit. The 'Get Appointment' call-to-action stays visible throughout, so once trust is established, the next step is always one click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Departments give the site a second navigation path. Instead of browsing by individual doctor or generic service name, a patient can go straight to the clinical area they need — cardiology, neurology, dental, pediatrics, pathology, or emergency care — and find the doctors and services grouped under it. This matters most for less tech-savvy visitors or urgent situations, where thinking in terms of 'what's wrong with me' is faster than scanning a full doctor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transaction of the entire platform. The appointment form captures name, email, phone, preferred service, doctor, and age in a single, short screen, and promises confirmation within two hours — an explicit expectation that reduces anxiety about being ignored. Structurally, it's a five-step journey: choose a department, select a doctor, pick a date and service, fill in patient details, and receive confirmation. Every earlier page we've shown — Home, Doctors, Departments — exists to funnel a visitor into this one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Testimonials do the same job here that they do on any commerce site — they convert an abstract claim of quality into something concrete. Each card pairs a short quote with a named patient and a star rating, which is more persuasive than the hospital simply asserting it provides excellent care. Placing this content on its own dedicated page, in addition to the homepage teaser, signals that patient trust is treated as a first-class concern, not an afterthought.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Blog gives Medsev a reason to be visited even by people who aren't booking an appointment today. Articles cover health-awareness topics — surgical specialties, global health observances, clinical research — each with a publish date and a 'Read More' link into the full article. For an SEO and retention strategy, this is standard practice: informational content brings in search traffic and repeat visits that the transactional pages alone never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Blog Details is the full read-through experience. The article itself sits alongside a sidebar of categories and recent posts, which encourages a reader to open a second or third article in the same visit. A comment section at the bottom adds a light layer of community engagement. Structurally this is a standard content-site pattern, and it's the right one here — it doesn't need to be reinvented for a healthcare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 Us backs up the appointment form with lower-commitment ways to reach the hospital — two phone lines, dedicated email addresses, a physical address, and an embedded map for anyone who prefers to visit in person. This matters for a healthcare context specifically: some visitors have urgent or sensitive questions they'd rather ask a human than submit through a booking form, and this page is where that path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on Medsev is intentionally minimal — a short sign-up form and an even shorter login form. It's not trying to be a full patient portal; it's a foundation. As it stands it lets a returning visitor skip re-entering their details, and it's the natural place a future 'my appointments' dashboard would hang off of. For our own MedCare build, this is one area we plan to extend further than the template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FAQ page is a small addition with an outsized practical benefit: it's an accordion of the questions any clinic fields constantly — how to book, whether you can pick your doctor, what to bring, whether emergency care runs 24/7, how to reschedule. Answering these once, in writing, reduces the volume of routine phone calls the front desk has to handle, which is a real operational cost saving hiding inside what looks like a simple content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Stepping back from individual pages, a few design decisions repeat across the whole site. The palette is a confident medical blue against white and ice-blue tints, with a single teal accent reserved for calls-to-action — that restraint is what keeps 'Get Appointment' buttons visible everywhere. Typography follows a clear size hierarchy, layouts consistently reuse the same card module, and nearly every feature is paired with an icon so meaning doesn't rely on reading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on Bootstrap's grid system, the layout adapts across three breakpoints. On desktop, content spreads across multi-column grids — four services per row, for example. On tablet, that collapses to two columns, and on mobile it stacks into a single column with a simplified, thumb-friendly navigation. Nothing is hidden on smaller screens, it's simply reflowed, which matters for a healthcare site where a patient booking from their phone needs the exact same information as one on a desktop.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the pages into a journey makes the site's logic obvious: a visitor arrives, browses services, selects a doctor, chooses an appointment slot, fills in their information, and receives confirmation. Six steps, no dead ends. This is the lens we used to evaluate every other page in this deck — each one either informs a step in this journey or removes friction from it. It's also the exact flow we're adapting for our own MedCare booking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Medsev is a classic front-end stack: semantic HTML5, CSS3 for the visual identity, vanilla JavaScript for interactive elements like sliders and tabs, and Bootstrap providing the responsive grid that makes the desktop-to-mobile reflow possible. It's a static template with no back-end of its own — appointment forms would need to be wired to a real API. That's precisely the gap our MedCare project fills, using React and a proper backend instead of a static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this together, eight strengths stand out: professional design, easy navigation, fast static-page load times, a responsive layout, a clean uncluttered interface, modern components like cards and sliders, a genuinely user-friendly booking path, and consistent branding across every page. These are the qualities we're benchmarking our own MedCare interface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Medsev works as a healthcare booking platform because it was designed for that job specifically — every page maps to a real step in the patient journey, the branding stays consistent enough to build clinical trust, and the responsive foundation is solid. Its main limitation is that it's a static template with no real backend, which is exactly the gap our own MedCare project is built to close. Thank you —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6.png"/><Relationship Id="rId8" Type="http://schemas.openxmlformats.org/officeDocument/2006/relationships/image" Target="../media/image-4-6.png"/><Relationship Id="rId9" Type="http://schemas.openxmlformats.org/officeDocument/2006/relationships/image" Target="../media/image-4-6.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6.png"/><Relationship Id="rId8" Type="http://schemas.openxmlformats.org/officeDocument/2006/relationships/image" Target="../media/image-5-6.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2.png"/><Relationship Id="rId4" Type="http://schemas.openxmlformats.org/officeDocument/2006/relationships/image" Target="../media/image-7-2.png"/><Relationship Id="rId5" Type="http://schemas.openxmlformats.org/officeDocument/2006/relationships/image" Target="../media/image-7-2.png"/><Relationship Id="rId6" Type="http://schemas.openxmlformats.org/officeDocument/2006/relationships/image" Target="../media/image-7-2.png"/><Relationship Id="rId7" Type="http://schemas.openxmlformats.org/officeDocument/2006/relationships/image" Target="../media/image-7-2.png"/><Relationship Id="rId8" Type="http://schemas.openxmlformats.org/officeDocument/2006/relationships/image" Target="../media/image-7-2.png"/><Relationship Id="rId9" Type="http://schemas.openxmlformats.org/officeDocument/2006/relationships/image" Target="../media/image-7-2.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1.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2.png"/><Relationship Id="rId4" Type="http://schemas.openxmlformats.org/officeDocument/2006/relationships/image" Target="../media/image-9-2.png"/><Relationship Id="rId5" Type="http://schemas.openxmlformats.org/officeDocument/2006/relationships/image" Target="../media/image-9-2.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3.png"/><Relationship Id="rId5" Type="http://schemas.openxmlformats.org/officeDocument/2006/relationships/image" Target="../media/image-12-3.png"/><Relationship Id="rId6" Type="http://schemas.openxmlformats.org/officeDocument/2006/relationships/image" Target="../media/image-12-3.png"/><Relationship Id="rId7" Type="http://schemas.openxmlformats.org/officeDocument/2006/relationships/image" Target="../media/image-12-3.png"/><Relationship Id="rId8" Type="http://schemas.openxmlformats.org/officeDocument/2006/relationships/image" Target="../media/image-12-1.png"/><Relationship Id="rId9" Type="http://schemas.openxmlformats.org/officeDocument/2006/relationships/image" Target="../media/image-12-2.png"/><Relationship Id="rId10" Type="http://schemas.openxmlformats.org/officeDocument/2006/relationships/image" Target="../media/image-12-3.png"/><Relationship Id="rId11" Type="http://schemas.openxmlformats.org/officeDocument/2006/relationships/image" Target="../media/image-12-3.png"/><Relationship Id="rId12" Type="http://schemas.openxmlformats.org/officeDocument/2006/relationships/image" Target="../media/image-12-3.png"/><Relationship Id="rId13" Type="http://schemas.openxmlformats.org/officeDocument/2006/relationships/image" Target="../media/image-12-3.png"/><Relationship Id="rId14" Type="http://schemas.openxmlformats.org/officeDocument/2006/relationships/image" Target="../media/image-12-3.png"/><Relationship Id="rId15" Type="http://schemas.openxmlformats.org/officeDocument/2006/relationships/image" Target="../media/image-12-1.png"/><Relationship Id="rId16" Type="http://schemas.openxmlformats.org/officeDocument/2006/relationships/image" Target="../media/image-12-2.png"/><Relationship Id="rId17" Type="http://schemas.openxmlformats.org/officeDocument/2006/relationships/image" Target="../media/image-12-3.png"/><Relationship Id="rId18" Type="http://schemas.openxmlformats.org/officeDocument/2006/relationships/image" Target="../media/image-12-3.png"/><Relationship Id="rId19" Type="http://schemas.openxmlformats.org/officeDocument/2006/relationships/image" Target="../media/image-12-3.png"/><Relationship Id="rId20" Type="http://schemas.openxmlformats.org/officeDocument/2006/relationships/image" Target="../media/image-12-3.png"/><Relationship Id="rId21" Type="http://schemas.openxmlformats.org/officeDocument/2006/relationships/image" Target="../media/image-12-3.png"/><Relationship Id="rId22" Type="http://schemas.openxmlformats.org/officeDocument/2006/relationships/slideLayout" Target="../slideLayouts/slideLayout1.xml"/><Relationship Id="rId2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image" Target="../media/image-13-1.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2.png"/><Relationship Id="rId4" Type="http://schemas.openxmlformats.org/officeDocument/2006/relationships/image" Target="../media/image-14-2.png"/><Relationship Id="rId5" Type="http://schemas.openxmlformats.org/officeDocument/2006/relationships/image" Target="../media/image-14-2.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3.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3.png"/><Relationship Id="rId5" Type="http://schemas.openxmlformats.org/officeDocument/2006/relationships/image" Target="../media/image-16-3.png"/><Relationship Id="rId6" Type="http://schemas.openxmlformats.org/officeDocument/2006/relationships/image" Target="../media/image-16-3.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1.png"/><Relationship Id="rId3" Type="http://schemas.openxmlformats.org/officeDocument/2006/relationships/image" Target="../media/image-17-1.png"/><Relationship Id="rId4" Type="http://schemas.openxmlformats.org/officeDocument/2006/relationships/image" Target="../media/image-17-1.png"/><Relationship Id="rId5" Type="http://schemas.openxmlformats.org/officeDocument/2006/relationships/image" Target="../media/image-17-1.png"/><Relationship Id="rId6" Type="http://schemas.openxmlformats.org/officeDocument/2006/relationships/image" Target="../media/image-17-1.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slideLayout" Target="../slideLayouts/slideLayout1.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1.png"/><Relationship Id="rId3" Type="http://schemas.openxmlformats.org/officeDocument/2006/relationships/image" Target="../media/image-23-1.png"/><Relationship Id="rId4" Type="http://schemas.openxmlformats.org/officeDocument/2006/relationships/image" Target="../media/image-23-1.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2A47"/>
        </a:solidFill>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0B5FA4">
              <a:alpha val="45000"/>
            </a:srgbClr>
          </a:solidFill>
          <a:ln/>
        </p:spPr>
      </p:sp>
      <p:sp>
        <p:nvSpPr>
          <p:cNvPr id="3" name="Shape 1"/>
          <p:cNvSpPr/>
          <p:nvPr/>
        </p:nvSpPr>
        <p:spPr>
          <a:xfrm>
            <a:off x="-2194560" y="4206240"/>
            <a:ext cx="5486400" cy="5486400"/>
          </a:xfrm>
          <a:prstGeom prst="ellipse">
            <a:avLst/>
          </a:prstGeom>
          <a:solidFill>
            <a:srgbClr val="00B4A6">
              <a:alpha val="28000"/>
            </a:srgbClr>
          </a:solidFill>
          <a:ln/>
        </p:spPr>
      </p:sp>
      <p:sp>
        <p:nvSpPr>
          <p:cNvPr id="4" name="Shape 2"/>
          <p:cNvSpPr/>
          <p:nvPr/>
        </p:nvSpPr>
        <p:spPr>
          <a:xfrm>
            <a:off x="10058400" y="4572000"/>
            <a:ext cx="2743200" cy="2743200"/>
          </a:xfrm>
          <a:prstGeom prst="ellipse">
            <a:avLst/>
          </a:prstGeom>
          <a:solidFill>
            <a:srgbClr val="00B4A6">
              <a:alpha val="22000"/>
            </a:srgbClr>
          </a:solidFill>
          <a:ln/>
        </p:spPr>
      </p:sp>
      <p:sp>
        <p:nvSpPr>
          <p:cNvPr id="5" name="Shape 3"/>
          <p:cNvSpPr/>
          <p:nvPr/>
        </p:nvSpPr>
        <p:spPr>
          <a:xfrm>
            <a:off x="822960" y="658368"/>
            <a:ext cx="777240" cy="777240"/>
          </a:xfrm>
          <a:prstGeom prst="ellipse">
            <a:avLst/>
          </a:prstGeom>
          <a:solidFill>
            <a:srgbClr val="FFFFFF"/>
          </a:solidFill>
          <a:ln/>
        </p:spPr>
      </p:sp>
      <p:pic>
        <p:nvPicPr>
          <p:cNvPr id="6" name="Image 0" descr="/home/claude/medsev-ppt/icons/hospital_0B5FA4.png">    </p:cNvPr>
          <p:cNvPicPr>
            <a:picLocks noChangeAspect="1"/>
          </p:cNvPicPr>
          <p:nvPr/>
        </p:nvPicPr>
        <p:blipFill>
          <a:blip r:embed="rId1"/>
          <a:stretch>
            <a:fillRect/>
          </a:stretch>
        </p:blipFill>
        <p:spPr>
          <a:xfrm>
            <a:off x="997839" y="833247"/>
            <a:ext cx="427482" cy="427482"/>
          </a:xfrm>
          <a:prstGeom prst="rect">
            <a:avLst/>
          </a:prstGeom>
        </p:spPr>
      </p:pic>
      <p:sp>
        <p:nvSpPr>
          <p:cNvPr id="7" name="Text 4"/>
          <p:cNvSpPr/>
          <p:nvPr/>
        </p:nvSpPr>
        <p:spPr>
          <a:xfrm>
            <a:off x="1737360" y="676656"/>
            <a:ext cx="3657600" cy="457200"/>
          </a:xfrm>
          <a:prstGeom prst="rect">
            <a:avLst/>
          </a:prstGeom>
          <a:noFill/>
          <a:ln/>
        </p:spPr>
        <p:txBody>
          <a:bodyPr wrap="square" lIns="0" tIns="0" rIns="0" bIns="0" rtlCol="0" anchor="ctr"/>
          <a:lstStyle/>
          <a:p>
            <a:pPr indent="0" marL="0">
              <a:buNone/>
            </a:pPr>
            <a:r>
              <a:rPr lang="en-US" sz="2200" b="1" spc="300" kern="0" dirty="0">
                <a:solidFill>
                  <a:srgbClr val="FFFFFF"/>
                </a:solidFill>
                <a:latin typeface="Cambria" pitchFamily="34" charset="0"/>
                <a:ea typeface="Cambria" pitchFamily="34" charset="-122"/>
                <a:cs typeface="Cambria" pitchFamily="34" charset="-120"/>
              </a:rPr>
              <a:t>MEDSEV</a:t>
            </a:r>
            <a:endParaRPr lang="en-US" sz="2200" dirty="0"/>
          </a:p>
        </p:txBody>
      </p:sp>
      <p:sp>
        <p:nvSpPr>
          <p:cNvPr id="8" name="Text 5"/>
          <p:cNvSpPr/>
          <p:nvPr/>
        </p:nvSpPr>
        <p:spPr>
          <a:xfrm>
            <a:off x="1737360" y="1051560"/>
            <a:ext cx="4572000" cy="274320"/>
          </a:xfrm>
          <a:prstGeom prst="rect">
            <a:avLst/>
          </a:prstGeom>
          <a:noFill/>
          <a:ln/>
        </p:spPr>
        <p:txBody>
          <a:bodyPr wrap="square" lIns="0" tIns="0" rIns="0" bIns="0" rtlCol="0" anchor="ctr"/>
          <a:lstStyle/>
          <a:p>
            <a:pPr indent="0" marL="0">
              <a:buNone/>
            </a:pPr>
            <a:r>
              <a:rPr lang="en-US" sz="1050" spc="200" kern="0" dirty="0">
                <a:solidFill>
                  <a:srgbClr val="AFC9E6"/>
                </a:solidFill>
                <a:latin typeface="Calibri" pitchFamily="34" charset="0"/>
                <a:ea typeface="Calibri" pitchFamily="34" charset="-122"/>
                <a:cs typeface="Calibri" pitchFamily="34" charset="-120"/>
              </a:rPr>
              <a:t>HEALTHCARE PLATFORM ANALYSIS</a:t>
            </a:r>
            <a:endParaRPr lang="en-US" sz="1050" dirty="0"/>
          </a:p>
        </p:txBody>
      </p:sp>
      <p:sp>
        <p:nvSpPr>
          <p:cNvPr id="9" name="Text 6"/>
          <p:cNvSpPr/>
          <p:nvPr/>
        </p:nvSpPr>
        <p:spPr>
          <a:xfrm>
            <a:off x="804672" y="2286000"/>
            <a:ext cx="10515600" cy="100584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Medsev</a:t>
            </a:r>
            <a:endParaRPr lang="en-US" sz="5800" dirty="0"/>
          </a:p>
        </p:txBody>
      </p:sp>
      <p:sp>
        <p:nvSpPr>
          <p:cNvPr id="10" name="Text 7"/>
          <p:cNvSpPr/>
          <p:nvPr/>
        </p:nvSpPr>
        <p:spPr>
          <a:xfrm>
            <a:off x="822960" y="3200400"/>
            <a:ext cx="10058400" cy="777240"/>
          </a:xfrm>
          <a:prstGeom prst="rect">
            <a:avLst/>
          </a:prstGeom>
          <a:noFill/>
          <a:ln/>
        </p:spPr>
        <p:txBody>
          <a:bodyPr wrap="square" lIns="0" tIns="0" rIns="0" bIns="0" rtlCol="0" anchor="ctr"/>
          <a:lstStyle/>
          <a:p>
            <a:pPr indent="0" marL="0">
              <a:buNone/>
            </a:pPr>
            <a:r>
              <a:rPr lang="en-US" sz="3200" dirty="0">
                <a:solidFill>
                  <a:srgbClr val="CFE3F7"/>
                </a:solidFill>
                <a:latin typeface="Cambria" pitchFamily="34" charset="0"/>
                <a:ea typeface="Cambria" pitchFamily="34" charset="-122"/>
                <a:cs typeface="Cambria" pitchFamily="34" charset="-120"/>
              </a:rPr>
              <a:t>Online Healthcare Booking Platform</a:t>
            </a:r>
            <a:endParaRPr lang="en-US" sz="3200" dirty="0"/>
          </a:p>
        </p:txBody>
      </p:sp>
      <p:sp>
        <p:nvSpPr>
          <p:cNvPr id="11" name="Shape 8"/>
          <p:cNvSpPr/>
          <p:nvPr/>
        </p:nvSpPr>
        <p:spPr>
          <a:xfrm>
            <a:off x="841248" y="4114800"/>
            <a:ext cx="1005840" cy="45720"/>
          </a:xfrm>
          <a:prstGeom prst="rect">
            <a:avLst/>
          </a:prstGeom>
          <a:solidFill>
            <a:srgbClr val="00B4A6"/>
          </a:solidFill>
          <a:ln/>
        </p:spPr>
      </p:sp>
      <p:sp>
        <p:nvSpPr>
          <p:cNvPr id="12" name="Text 9"/>
          <p:cNvSpPr/>
          <p:nvPr/>
        </p:nvSpPr>
        <p:spPr>
          <a:xfrm>
            <a:off x="822960" y="4297680"/>
            <a:ext cx="9601200" cy="365760"/>
          </a:xfrm>
          <a:prstGeom prst="rect">
            <a:avLst/>
          </a:prstGeom>
          <a:noFill/>
          <a:ln/>
        </p:spPr>
        <p:txBody>
          <a:bodyPr wrap="square" lIns="0" tIns="0" rIns="0" bIns="0" rtlCol="0" anchor="ctr"/>
          <a:lstStyle/>
          <a:p>
            <a:pPr indent="0" marL="0">
              <a:buNone/>
            </a:pPr>
            <a:r>
              <a:rPr lang="en-US" sz="1400" dirty="0">
                <a:solidFill>
                  <a:srgbClr val="CFE3F7"/>
                </a:solidFill>
                <a:latin typeface="Calibri" pitchFamily="34" charset="0"/>
                <a:ea typeface="Calibri" pitchFamily="34" charset="-122"/>
                <a:cs typeface="Calibri" pitchFamily="34" charset="-120"/>
              </a:rPr>
              <a:t>UI / UX Analysis   •   Software Architecture   •   Graduation Project Discussion</a:t>
            </a:r>
            <a:endParaRPr lang="en-US" sz="1400" dirty="0"/>
          </a:p>
        </p:txBody>
      </p:sp>
      <p:sp>
        <p:nvSpPr>
          <p:cNvPr id="13" name="Text 10"/>
          <p:cNvSpPr/>
          <p:nvPr/>
        </p:nvSpPr>
        <p:spPr>
          <a:xfrm>
            <a:off x="822960" y="6080760"/>
            <a:ext cx="8229600" cy="320040"/>
          </a:xfrm>
          <a:prstGeom prst="rect">
            <a:avLst/>
          </a:prstGeom>
          <a:noFill/>
          <a:ln/>
        </p:spPr>
        <p:txBody>
          <a:bodyPr wrap="square" lIns="0" tIns="0" rIns="0" bIns="0" rtlCol="0" anchor="ctr"/>
          <a:lstStyle/>
          <a:p>
            <a:pPr indent="0" marL="0">
              <a:buNone/>
            </a:pPr>
            <a:r>
              <a:rPr lang="en-US" sz="1150" dirty="0">
                <a:solidFill>
                  <a:srgbClr val="8FB3DD"/>
                </a:solidFill>
                <a:latin typeface="Calibri" pitchFamily="34" charset="0"/>
                <a:ea typeface="Calibri" pitchFamily="34" charset="-122"/>
                <a:cs typeface="Calibri" pitchFamily="34" charset="-120"/>
              </a:rPr>
              <a:t>Prepared by the MedCare Capstone Team  —  DEPI Round 4, React.js Track</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INTRODUCTION</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Project Overview</a:t>
            </a:r>
            <a:endParaRPr lang="en-US" sz="3000" dirty="0"/>
          </a:p>
        </p:txBody>
      </p:sp>
      <p:sp>
        <p:nvSpPr>
          <p:cNvPr id="4" name="Shape 2"/>
          <p:cNvSpPr/>
          <p:nvPr/>
        </p:nvSpPr>
        <p:spPr>
          <a:xfrm>
            <a:off x="548640" y="1527048"/>
            <a:ext cx="118872" cy="118872"/>
          </a:xfrm>
          <a:prstGeom prst="ellipse">
            <a:avLst/>
          </a:prstGeom>
          <a:solidFill>
            <a:srgbClr val="00B4A6"/>
          </a:solidFill>
          <a:ln/>
        </p:spPr>
      </p:sp>
      <p:sp>
        <p:nvSpPr>
          <p:cNvPr id="5" name="Text 3"/>
          <p:cNvSpPr/>
          <p:nvPr/>
        </p:nvSpPr>
        <p:spPr>
          <a:xfrm>
            <a:off x="868680" y="1417320"/>
            <a:ext cx="5943600" cy="320040"/>
          </a:xfrm>
          <a:prstGeom prst="rect">
            <a:avLst/>
          </a:prstGeom>
          <a:noFill/>
          <a:ln/>
        </p:spPr>
        <p:txBody>
          <a:bodyPr wrap="square" lIns="0" tIns="0" rIns="0" bIns="0" rtlCol="0" anchor="ctr"/>
          <a:lstStyle/>
          <a:p>
            <a:pPr indent="0" marL="0">
              <a:buNone/>
            </a:pPr>
            <a:r>
              <a:rPr lang="en-US" sz="1650" b="1" dirty="0">
                <a:solidFill>
                  <a:srgbClr val="17263D"/>
                </a:solidFill>
                <a:latin typeface="Cambria" pitchFamily="34" charset="0"/>
                <a:ea typeface="Cambria" pitchFamily="34" charset="-122"/>
                <a:cs typeface="Cambria" pitchFamily="34" charset="-120"/>
              </a:rPr>
              <a:t>What is Medsev?</a:t>
            </a:r>
            <a:endParaRPr lang="en-US" sz="1650" dirty="0"/>
          </a:p>
        </p:txBody>
      </p:sp>
      <p:sp>
        <p:nvSpPr>
          <p:cNvPr id="6" name="Text 4"/>
          <p:cNvSpPr/>
          <p:nvPr/>
        </p:nvSpPr>
        <p:spPr>
          <a:xfrm>
            <a:off x="868680" y="1755648"/>
            <a:ext cx="5943600" cy="731520"/>
          </a:xfrm>
          <a:prstGeom prst="rect">
            <a:avLst/>
          </a:prstGeom>
          <a:noFill/>
          <a:ln/>
        </p:spPr>
        <p:txBody>
          <a:bodyPr wrap="square" lIns="0" tIns="0" rIns="0" bIns="0" rtlCol="0" anchor="ctr"/>
          <a:lstStyle/>
          <a:p>
            <a:pPr indent="0" marL="0">
              <a:lnSpc>
                <a:spcPct val="115000"/>
              </a:lnSpc>
              <a:buNone/>
            </a:pPr>
            <a:r>
              <a:rPr lang="en-US" sz="1230" dirty="0">
                <a:solidFill>
                  <a:srgbClr val="55677E"/>
                </a:solidFill>
                <a:latin typeface="Calibri" pitchFamily="34" charset="0"/>
                <a:ea typeface="Calibri" pitchFamily="34" charset="-122"/>
                <a:cs typeface="Calibri" pitchFamily="34" charset="-120"/>
              </a:rPr>
              <a:t>A healthcare clinic &amp; doctor booking template built to let hospitals, clinics, and private practices run their entire patient-facing presence online.</a:t>
            </a:r>
            <a:endParaRPr lang="en-US" sz="1230" dirty="0"/>
          </a:p>
        </p:txBody>
      </p:sp>
      <p:sp>
        <p:nvSpPr>
          <p:cNvPr id="7" name="Shape 5"/>
          <p:cNvSpPr/>
          <p:nvPr/>
        </p:nvSpPr>
        <p:spPr>
          <a:xfrm>
            <a:off x="548640" y="2761488"/>
            <a:ext cx="118872" cy="118872"/>
          </a:xfrm>
          <a:prstGeom prst="ellipse">
            <a:avLst/>
          </a:prstGeom>
          <a:solidFill>
            <a:srgbClr val="00B4A6"/>
          </a:solidFill>
          <a:ln/>
        </p:spPr>
      </p:sp>
      <p:sp>
        <p:nvSpPr>
          <p:cNvPr id="8" name="Text 6"/>
          <p:cNvSpPr/>
          <p:nvPr/>
        </p:nvSpPr>
        <p:spPr>
          <a:xfrm>
            <a:off x="868680" y="2651760"/>
            <a:ext cx="5943600" cy="320040"/>
          </a:xfrm>
          <a:prstGeom prst="rect">
            <a:avLst/>
          </a:prstGeom>
          <a:noFill/>
          <a:ln/>
        </p:spPr>
        <p:txBody>
          <a:bodyPr wrap="square" lIns="0" tIns="0" rIns="0" bIns="0" rtlCol="0" anchor="ctr"/>
          <a:lstStyle/>
          <a:p>
            <a:pPr indent="0" marL="0">
              <a:buNone/>
            </a:pPr>
            <a:r>
              <a:rPr lang="en-US" sz="1650" b="1" dirty="0">
                <a:solidFill>
                  <a:srgbClr val="17263D"/>
                </a:solidFill>
                <a:latin typeface="Cambria" pitchFamily="34" charset="0"/>
                <a:ea typeface="Cambria" pitchFamily="34" charset="-122"/>
                <a:cs typeface="Cambria" pitchFamily="34" charset="-120"/>
              </a:rPr>
              <a:t>Purpose of the platform</a:t>
            </a:r>
            <a:endParaRPr lang="en-US" sz="1650" dirty="0"/>
          </a:p>
        </p:txBody>
      </p:sp>
      <p:sp>
        <p:nvSpPr>
          <p:cNvPr id="9" name="Text 7"/>
          <p:cNvSpPr/>
          <p:nvPr/>
        </p:nvSpPr>
        <p:spPr>
          <a:xfrm>
            <a:off x="868680" y="2990088"/>
            <a:ext cx="5943600" cy="731520"/>
          </a:xfrm>
          <a:prstGeom prst="rect">
            <a:avLst/>
          </a:prstGeom>
          <a:noFill/>
          <a:ln/>
        </p:spPr>
        <p:txBody>
          <a:bodyPr wrap="square" lIns="0" tIns="0" rIns="0" bIns="0" rtlCol="0" anchor="ctr"/>
          <a:lstStyle/>
          <a:p>
            <a:pPr indent="0" marL="0">
              <a:lnSpc>
                <a:spcPct val="115000"/>
              </a:lnSpc>
              <a:buNone/>
            </a:pPr>
            <a:r>
              <a:rPr lang="en-US" sz="1230" dirty="0">
                <a:solidFill>
                  <a:srgbClr val="55677E"/>
                </a:solidFill>
                <a:latin typeface="Calibri" pitchFamily="34" charset="0"/>
                <a:ea typeface="Calibri" pitchFamily="34" charset="-122"/>
                <a:cs typeface="Calibri" pitchFamily="34" charset="-120"/>
              </a:rPr>
              <a:t>Bridge the gap between patients and providers — presenting services, doctors, and departments, and enabling appointment booking without a phone call.</a:t>
            </a:r>
            <a:endParaRPr lang="en-US" sz="1230" dirty="0"/>
          </a:p>
        </p:txBody>
      </p:sp>
      <p:sp>
        <p:nvSpPr>
          <p:cNvPr id="10" name="Shape 8"/>
          <p:cNvSpPr/>
          <p:nvPr/>
        </p:nvSpPr>
        <p:spPr>
          <a:xfrm>
            <a:off x="548640" y="3995928"/>
            <a:ext cx="118872" cy="118872"/>
          </a:xfrm>
          <a:prstGeom prst="ellipse">
            <a:avLst/>
          </a:prstGeom>
          <a:solidFill>
            <a:srgbClr val="00B4A6"/>
          </a:solidFill>
          <a:ln/>
        </p:spPr>
      </p:sp>
      <p:sp>
        <p:nvSpPr>
          <p:cNvPr id="11" name="Text 9"/>
          <p:cNvSpPr/>
          <p:nvPr/>
        </p:nvSpPr>
        <p:spPr>
          <a:xfrm>
            <a:off x="868680" y="3886200"/>
            <a:ext cx="5943600" cy="320040"/>
          </a:xfrm>
          <a:prstGeom prst="rect">
            <a:avLst/>
          </a:prstGeom>
          <a:noFill/>
          <a:ln/>
        </p:spPr>
        <p:txBody>
          <a:bodyPr wrap="square" lIns="0" tIns="0" rIns="0" bIns="0" rtlCol="0" anchor="ctr"/>
          <a:lstStyle/>
          <a:p>
            <a:pPr indent="0" marL="0">
              <a:buNone/>
            </a:pPr>
            <a:r>
              <a:rPr lang="en-US" sz="1650" b="1" dirty="0">
                <a:solidFill>
                  <a:srgbClr val="17263D"/>
                </a:solidFill>
                <a:latin typeface="Cambria" pitchFamily="34" charset="0"/>
                <a:ea typeface="Cambria" pitchFamily="34" charset="-122"/>
                <a:cs typeface="Cambria" pitchFamily="34" charset="-120"/>
              </a:rPr>
              <a:t>Main objective</a:t>
            </a:r>
            <a:endParaRPr lang="en-US" sz="1650" dirty="0"/>
          </a:p>
        </p:txBody>
      </p:sp>
      <p:sp>
        <p:nvSpPr>
          <p:cNvPr id="12" name="Text 10"/>
          <p:cNvSpPr/>
          <p:nvPr/>
        </p:nvSpPr>
        <p:spPr>
          <a:xfrm>
            <a:off x="868680" y="4224528"/>
            <a:ext cx="5943600" cy="731520"/>
          </a:xfrm>
          <a:prstGeom prst="rect">
            <a:avLst/>
          </a:prstGeom>
          <a:noFill/>
          <a:ln/>
        </p:spPr>
        <p:txBody>
          <a:bodyPr wrap="square" lIns="0" tIns="0" rIns="0" bIns="0" rtlCol="0" anchor="ctr"/>
          <a:lstStyle/>
          <a:p>
            <a:pPr indent="0" marL="0">
              <a:lnSpc>
                <a:spcPct val="115000"/>
              </a:lnSpc>
              <a:buNone/>
            </a:pPr>
            <a:r>
              <a:rPr lang="en-US" sz="1230" dirty="0">
                <a:solidFill>
                  <a:srgbClr val="55677E"/>
                </a:solidFill>
                <a:latin typeface="Calibri" pitchFamily="34" charset="0"/>
                <a:ea typeface="Calibri" pitchFamily="34" charset="-122"/>
                <a:cs typeface="Calibri" pitchFamily="34" charset="-120"/>
              </a:rPr>
              <a:t>Reduce friction in discovering care and booking a visit, while giving the hospital a professional, trustworthy digital front door.</a:t>
            </a:r>
            <a:endParaRPr lang="en-US" sz="1230" dirty="0"/>
          </a:p>
        </p:txBody>
      </p:sp>
      <p:sp>
        <p:nvSpPr>
          <p:cNvPr id="13" name="Shape 11"/>
          <p:cNvSpPr/>
          <p:nvPr/>
        </p:nvSpPr>
        <p:spPr>
          <a:xfrm>
            <a:off x="7269480" y="1371600"/>
            <a:ext cx="4389120" cy="4709160"/>
          </a:xfrm>
          <a:prstGeom prst="roundRect">
            <a:avLst>
              <a:gd name="adj" fmla="val 2500"/>
            </a:avLst>
          </a:prstGeom>
          <a:solidFill>
            <a:srgbClr val="EAF3FB"/>
          </a:solidFill>
          <a:ln/>
        </p:spPr>
      </p:sp>
      <p:sp>
        <p:nvSpPr>
          <p:cNvPr id="14" name="Text 12"/>
          <p:cNvSpPr/>
          <p:nvPr/>
        </p:nvSpPr>
        <p:spPr>
          <a:xfrm>
            <a:off x="7589520" y="1572768"/>
            <a:ext cx="3657600" cy="274320"/>
          </a:xfrm>
          <a:prstGeom prst="rect">
            <a:avLst/>
          </a:prstGeom>
          <a:noFill/>
          <a:ln/>
        </p:spPr>
        <p:txBody>
          <a:bodyPr wrap="square" lIns="0" tIns="0" rIns="0" bIns="0" rtlCol="0" anchor="ctr"/>
          <a:lstStyle/>
          <a:p>
            <a:pPr indent="0" marL="0">
              <a:buNone/>
            </a:pPr>
            <a:r>
              <a:rPr lang="en-US" sz="1150" b="1" spc="150" kern="0" dirty="0">
                <a:solidFill>
                  <a:srgbClr val="0B5FA4"/>
                </a:solidFill>
                <a:latin typeface="Calibri" pitchFamily="34" charset="0"/>
                <a:ea typeface="Calibri" pitchFamily="34" charset="-122"/>
                <a:cs typeface="Calibri" pitchFamily="34" charset="-120"/>
              </a:rPr>
              <a:t>TARGET USERS</a:t>
            </a:r>
            <a:endParaRPr lang="en-US" sz="1150" dirty="0"/>
          </a:p>
        </p:txBody>
      </p:sp>
      <p:sp>
        <p:nvSpPr>
          <p:cNvPr id="15" name="Shape 13"/>
          <p:cNvSpPr/>
          <p:nvPr/>
        </p:nvSpPr>
        <p:spPr>
          <a:xfrm>
            <a:off x="7589520" y="2029968"/>
            <a:ext cx="548640" cy="548640"/>
          </a:xfrm>
          <a:prstGeom prst="ellipse">
            <a:avLst/>
          </a:prstGeom>
          <a:solidFill>
            <a:srgbClr val="FFFFFF"/>
          </a:solidFill>
          <a:ln/>
        </p:spPr>
      </p:sp>
      <p:pic>
        <p:nvPicPr>
          <p:cNvPr id="16" name="Image 0" descr="/home/claude/medsev-ppt/icons/user_0B5FA4.png">    </p:cNvPr>
          <p:cNvPicPr>
            <a:picLocks noChangeAspect="1"/>
          </p:cNvPicPr>
          <p:nvPr/>
        </p:nvPicPr>
        <p:blipFill>
          <a:blip r:embed="rId1"/>
          <a:stretch>
            <a:fillRect/>
          </a:stretch>
        </p:blipFill>
        <p:spPr>
          <a:xfrm>
            <a:off x="7712964" y="2153412"/>
            <a:ext cx="301752" cy="301752"/>
          </a:xfrm>
          <a:prstGeom prst="rect">
            <a:avLst/>
          </a:prstGeom>
        </p:spPr>
      </p:pic>
      <p:sp>
        <p:nvSpPr>
          <p:cNvPr id="17" name="Text 14"/>
          <p:cNvSpPr/>
          <p:nvPr/>
        </p:nvSpPr>
        <p:spPr>
          <a:xfrm>
            <a:off x="8302752" y="2002536"/>
            <a:ext cx="3154680" cy="274320"/>
          </a:xfrm>
          <a:prstGeom prst="rect">
            <a:avLst/>
          </a:prstGeom>
          <a:noFill/>
          <a:ln/>
        </p:spPr>
        <p:txBody>
          <a:bodyPr wrap="square" lIns="0" tIns="0" rIns="0" bIns="0" rtlCol="0" anchor="ctr"/>
          <a:lstStyle/>
          <a:p>
            <a:pPr indent="0" marL="0">
              <a:buNone/>
            </a:pPr>
            <a:r>
              <a:rPr lang="en-US" sz="1400" b="1" dirty="0">
                <a:solidFill>
                  <a:srgbClr val="17263D"/>
                </a:solidFill>
                <a:latin typeface="Cambria" pitchFamily="34" charset="0"/>
                <a:ea typeface="Cambria" pitchFamily="34" charset="-122"/>
                <a:cs typeface="Cambria" pitchFamily="34" charset="-120"/>
              </a:rPr>
              <a:t>Patients</a:t>
            </a:r>
            <a:endParaRPr lang="en-US" sz="1400" dirty="0"/>
          </a:p>
        </p:txBody>
      </p:sp>
      <p:sp>
        <p:nvSpPr>
          <p:cNvPr id="18" name="Text 15"/>
          <p:cNvSpPr/>
          <p:nvPr/>
        </p:nvSpPr>
        <p:spPr>
          <a:xfrm>
            <a:off x="8302752" y="2276856"/>
            <a:ext cx="3200400" cy="685800"/>
          </a:xfrm>
          <a:prstGeom prst="rect">
            <a:avLst/>
          </a:prstGeom>
          <a:noFill/>
          <a:ln/>
        </p:spPr>
        <p:txBody>
          <a:bodyPr wrap="square" lIns="0" tIns="0" rIns="0" bIns="0" rtlCol="0" anchor="ctr"/>
          <a:lstStyle/>
          <a:p>
            <a:pPr indent="0" marL="0">
              <a:lnSpc>
                <a:spcPct val="110000"/>
              </a:lnSpc>
              <a:buNone/>
            </a:pPr>
            <a:r>
              <a:rPr lang="en-US" sz="1060" dirty="0">
                <a:solidFill>
                  <a:srgbClr val="55677E"/>
                </a:solidFill>
                <a:latin typeface="Calibri" pitchFamily="34" charset="0"/>
                <a:ea typeface="Calibri" pitchFamily="34" charset="-122"/>
                <a:cs typeface="Calibri" pitchFamily="34" charset="-120"/>
              </a:rPr>
              <a:t>Search services, browse doctors, and self-book appointments in minutes.</a:t>
            </a:r>
            <a:endParaRPr lang="en-US" sz="1060" dirty="0"/>
          </a:p>
        </p:txBody>
      </p:sp>
      <p:sp>
        <p:nvSpPr>
          <p:cNvPr id="19" name="Shape 16"/>
          <p:cNvSpPr/>
          <p:nvPr/>
        </p:nvSpPr>
        <p:spPr>
          <a:xfrm>
            <a:off x="7589520" y="3447288"/>
            <a:ext cx="548640" cy="548640"/>
          </a:xfrm>
          <a:prstGeom prst="ellipse">
            <a:avLst/>
          </a:prstGeom>
          <a:solidFill>
            <a:srgbClr val="FFFFFF"/>
          </a:solidFill>
          <a:ln/>
        </p:spPr>
      </p:sp>
      <p:pic>
        <p:nvPicPr>
          <p:cNvPr id="20" name="Image 1" descr="/home/claude/medsev-ppt/icons/doctor_0B5FA4.png">    </p:cNvPr>
          <p:cNvPicPr>
            <a:picLocks noChangeAspect="1"/>
          </p:cNvPicPr>
          <p:nvPr/>
        </p:nvPicPr>
        <p:blipFill>
          <a:blip r:embed="rId2"/>
          <a:stretch>
            <a:fillRect/>
          </a:stretch>
        </p:blipFill>
        <p:spPr>
          <a:xfrm>
            <a:off x="7712964" y="3570732"/>
            <a:ext cx="301752" cy="301752"/>
          </a:xfrm>
          <a:prstGeom prst="rect">
            <a:avLst/>
          </a:prstGeom>
        </p:spPr>
      </p:pic>
      <p:sp>
        <p:nvSpPr>
          <p:cNvPr id="21" name="Text 17"/>
          <p:cNvSpPr/>
          <p:nvPr/>
        </p:nvSpPr>
        <p:spPr>
          <a:xfrm>
            <a:off x="8302752" y="3419856"/>
            <a:ext cx="3154680" cy="274320"/>
          </a:xfrm>
          <a:prstGeom prst="rect">
            <a:avLst/>
          </a:prstGeom>
          <a:noFill/>
          <a:ln/>
        </p:spPr>
        <p:txBody>
          <a:bodyPr wrap="square" lIns="0" tIns="0" rIns="0" bIns="0" rtlCol="0" anchor="ctr"/>
          <a:lstStyle/>
          <a:p>
            <a:pPr indent="0" marL="0">
              <a:buNone/>
            </a:pPr>
            <a:r>
              <a:rPr lang="en-US" sz="1400" b="1" dirty="0">
                <a:solidFill>
                  <a:srgbClr val="17263D"/>
                </a:solidFill>
                <a:latin typeface="Cambria" pitchFamily="34" charset="0"/>
                <a:ea typeface="Cambria" pitchFamily="34" charset="-122"/>
                <a:cs typeface="Cambria" pitchFamily="34" charset="-120"/>
              </a:rPr>
              <a:t>Doctors &amp; Staff</a:t>
            </a:r>
            <a:endParaRPr lang="en-US" sz="1400" dirty="0"/>
          </a:p>
        </p:txBody>
      </p:sp>
      <p:sp>
        <p:nvSpPr>
          <p:cNvPr id="22" name="Text 18"/>
          <p:cNvSpPr/>
          <p:nvPr/>
        </p:nvSpPr>
        <p:spPr>
          <a:xfrm>
            <a:off x="8302752" y="3694176"/>
            <a:ext cx="3200400" cy="685800"/>
          </a:xfrm>
          <a:prstGeom prst="rect">
            <a:avLst/>
          </a:prstGeom>
          <a:noFill/>
          <a:ln/>
        </p:spPr>
        <p:txBody>
          <a:bodyPr wrap="square" lIns="0" tIns="0" rIns="0" bIns="0" rtlCol="0" anchor="ctr"/>
          <a:lstStyle/>
          <a:p>
            <a:pPr indent="0" marL="0">
              <a:lnSpc>
                <a:spcPct val="110000"/>
              </a:lnSpc>
              <a:buNone/>
            </a:pPr>
            <a:r>
              <a:rPr lang="en-US" sz="1060" dirty="0">
                <a:solidFill>
                  <a:srgbClr val="55677E"/>
                </a:solidFill>
                <a:latin typeface="Calibri" pitchFamily="34" charset="0"/>
                <a:ea typeface="Calibri" pitchFamily="34" charset="-122"/>
                <a:cs typeface="Calibri" pitchFamily="34" charset="-120"/>
              </a:rPr>
              <a:t>Showcase specialization, credentials, and availability to build trust.</a:t>
            </a:r>
            <a:endParaRPr lang="en-US" sz="1060" dirty="0"/>
          </a:p>
        </p:txBody>
      </p:sp>
      <p:sp>
        <p:nvSpPr>
          <p:cNvPr id="23" name="Shape 19"/>
          <p:cNvSpPr/>
          <p:nvPr/>
        </p:nvSpPr>
        <p:spPr>
          <a:xfrm>
            <a:off x="7589520" y="4864608"/>
            <a:ext cx="548640" cy="548640"/>
          </a:xfrm>
          <a:prstGeom prst="ellipse">
            <a:avLst/>
          </a:prstGeom>
          <a:solidFill>
            <a:srgbClr val="FFFFFF"/>
          </a:solidFill>
          <a:ln/>
        </p:spPr>
      </p:sp>
      <p:pic>
        <p:nvPicPr>
          <p:cNvPr id="24" name="Image 2" descr="/home/claude/medsev-ppt/icons/hospital_0B5FA4.png">    </p:cNvPr>
          <p:cNvPicPr>
            <a:picLocks noChangeAspect="1"/>
          </p:cNvPicPr>
          <p:nvPr/>
        </p:nvPicPr>
        <p:blipFill>
          <a:blip r:embed="rId3"/>
          <a:stretch>
            <a:fillRect/>
          </a:stretch>
        </p:blipFill>
        <p:spPr>
          <a:xfrm>
            <a:off x="7712964" y="4988052"/>
            <a:ext cx="301752" cy="301752"/>
          </a:xfrm>
          <a:prstGeom prst="rect">
            <a:avLst/>
          </a:prstGeom>
        </p:spPr>
      </p:pic>
      <p:sp>
        <p:nvSpPr>
          <p:cNvPr id="25" name="Text 20"/>
          <p:cNvSpPr/>
          <p:nvPr/>
        </p:nvSpPr>
        <p:spPr>
          <a:xfrm>
            <a:off x="8302752" y="4837176"/>
            <a:ext cx="3154680" cy="274320"/>
          </a:xfrm>
          <a:prstGeom prst="rect">
            <a:avLst/>
          </a:prstGeom>
          <a:noFill/>
          <a:ln/>
        </p:spPr>
        <p:txBody>
          <a:bodyPr wrap="square" lIns="0" tIns="0" rIns="0" bIns="0" rtlCol="0" anchor="ctr"/>
          <a:lstStyle/>
          <a:p>
            <a:pPr indent="0" marL="0">
              <a:buNone/>
            </a:pPr>
            <a:r>
              <a:rPr lang="en-US" sz="1400" b="1" dirty="0">
                <a:solidFill>
                  <a:srgbClr val="17263D"/>
                </a:solidFill>
                <a:latin typeface="Cambria" pitchFamily="34" charset="0"/>
                <a:ea typeface="Cambria" pitchFamily="34" charset="-122"/>
                <a:cs typeface="Cambria" pitchFamily="34" charset="-120"/>
              </a:rPr>
              <a:t>Clinic Administrators</a:t>
            </a:r>
            <a:endParaRPr lang="en-US" sz="1400" dirty="0"/>
          </a:p>
        </p:txBody>
      </p:sp>
      <p:sp>
        <p:nvSpPr>
          <p:cNvPr id="26" name="Text 21"/>
          <p:cNvSpPr/>
          <p:nvPr/>
        </p:nvSpPr>
        <p:spPr>
          <a:xfrm>
            <a:off x="8302752" y="5111496"/>
            <a:ext cx="3200400" cy="685800"/>
          </a:xfrm>
          <a:prstGeom prst="rect">
            <a:avLst/>
          </a:prstGeom>
          <a:noFill/>
          <a:ln/>
        </p:spPr>
        <p:txBody>
          <a:bodyPr wrap="square" lIns="0" tIns="0" rIns="0" bIns="0" rtlCol="0" anchor="ctr"/>
          <a:lstStyle/>
          <a:p>
            <a:pPr indent="0" marL="0">
              <a:lnSpc>
                <a:spcPct val="110000"/>
              </a:lnSpc>
              <a:buNone/>
            </a:pPr>
            <a:r>
              <a:rPr lang="en-US" sz="1060" dirty="0">
                <a:solidFill>
                  <a:srgbClr val="55677E"/>
                </a:solidFill>
                <a:latin typeface="Calibri" pitchFamily="34" charset="0"/>
                <a:ea typeface="Calibri" pitchFamily="34" charset="-122"/>
                <a:cs typeface="Calibri" pitchFamily="34" charset="-120"/>
              </a:rPr>
              <a:t>Present departments, services, and hospital identity as one cohesive brand.</a:t>
            </a:r>
            <a:endParaRPr lang="en-US" sz="1060" dirty="0"/>
          </a:p>
        </p:txBody>
      </p:sp>
      <p:sp>
        <p:nvSpPr>
          <p:cNvPr id="27" name="Text 22"/>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28" name="Text 23"/>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Project Overview</a:t>
            </a:r>
            <a:endParaRPr lang="en-US" sz="900" dirty="0"/>
          </a:p>
        </p:txBody>
      </p:sp>
      <p:sp>
        <p:nvSpPr>
          <p:cNvPr id="29" name="Text 24"/>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2 / 23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SITE MAP</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Website Features Overview</a:t>
            </a:r>
            <a:endParaRPr lang="en-US" sz="3000" dirty="0"/>
          </a:p>
        </p:txBody>
      </p:sp>
      <p:sp>
        <p:nvSpPr>
          <p:cNvPr id="4" name="Shape 2"/>
          <p:cNvSpPr/>
          <p:nvPr/>
        </p:nvSpPr>
        <p:spPr>
          <a:xfrm>
            <a:off x="548640" y="1417320"/>
            <a:ext cx="3611880" cy="1536192"/>
          </a:xfrm>
          <a:prstGeom prst="roundRect">
            <a:avLst>
              <a:gd name="adj" fmla="val 5357"/>
            </a:avLst>
          </a:prstGeom>
          <a:solidFill>
            <a:srgbClr val="F6FAFD"/>
          </a:solidFill>
          <a:ln w="12700">
            <a:solidFill>
              <a:srgbClr val="D6E5F2"/>
            </a:solidFill>
            <a:prstDash val="solid"/>
          </a:ln>
        </p:spPr>
      </p:sp>
      <p:sp>
        <p:nvSpPr>
          <p:cNvPr id="5" name="Shape 3"/>
          <p:cNvSpPr/>
          <p:nvPr/>
        </p:nvSpPr>
        <p:spPr>
          <a:xfrm>
            <a:off x="749808" y="1636776"/>
            <a:ext cx="566928" cy="566928"/>
          </a:xfrm>
          <a:prstGeom prst="ellipse">
            <a:avLst/>
          </a:prstGeom>
          <a:solidFill>
            <a:srgbClr val="FFFFFF"/>
          </a:solidFill>
          <a:ln/>
        </p:spPr>
      </p:sp>
      <p:pic>
        <p:nvPicPr>
          <p:cNvPr id="6" name="Image 0" descr="/home/claude/medsev-ppt/icons/hospital_0B5FA4.png">    </p:cNvPr>
          <p:cNvPicPr>
            <a:picLocks noChangeAspect="1"/>
          </p:cNvPicPr>
          <p:nvPr/>
        </p:nvPicPr>
        <p:blipFill>
          <a:blip r:embed="rId1"/>
          <a:stretch>
            <a:fillRect/>
          </a:stretch>
        </p:blipFill>
        <p:spPr>
          <a:xfrm>
            <a:off x="877367" y="1764335"/>
            <a:ext cx="311810" cy="311810"/>
          </a:xfrm>
          <a:prstGeom prst="rect">
            <a:avLst/>
          </a:prstGeom>
        </p:spPr>
      </p:pic>
      <p:sp>
        <p:nvSpPr>
          <p:cNvPr id="7" name="Text 4"/>
          <p:cNvSpPr/>
          <p:nvPr/>
        </p:nvSpPr>
        <p:spPr>
          <a:xfrm>
            <a:off x="1463040" y="1618488"/>
            <a:ext cx="2560320" cy="320040"/>
          </a:xfrm>
          <a:prstGeom prst="rect">
            <a:avLst/>
          </a:prstGeom>
          <a:noFill/>
          <a:ln/>
        </p:spPr>
        <p:txBody>
          <a:bodyPr wrap="square" lIns="0" tIns="0" rIns="0" bIns="0" rtlCol="0" anchor="ctr"/>
          <a:lstStyle/>
          <a:p>
            <a:pPr indent="0" marL="0">
              <a:buNone/>
            </a:pPr>
            <a:r>
              <a:rPr lang="en-US" sz="1550" b="1" dirty="0">
                <a:solidFill>
                  <a:srgbClr val="17263D"/>
                </a:solidFill>
                <a:latin typeface="Cambria" pitchFamily="34" charset="0"/>
                <a:ea typeface="Cambria" pitchFamily="34" charset="-122"/>
                <a:cs typeface="Cambria" pitchFamily="34" charset="-120"/>
              </a:rPr>
              <a:t>Home</a:t>
            </a:r>
            <a:endParaRPr lang="en-US" sz="1550" dirty="0"/>
          </a:p>
        </p:txBody>
      </p:sp>
      <p:sp>
        <p:nvSpPr>
          <p:cNvPr id="8" name="Text 5"/>
          <p:cNvSpPr/>
          <p:nvPr/>
        </p:nvSpPr>
        <p:spPr>
          <a:xfrm>
            <a:off x="1463040" y="1947672"/>
            <a:ext cx="2514600" cy="822960"/>
          </a:xfrm>
          <a:prstGeom prst="rect">
            <a:avLst/>
          </a:prstGeom>
          <a:noFill/>
          <a:ln/>
        </p:spPr>
        <p:txBody>
          <a:bodyPr wrap="square" lIns="0" tIns="0" rIns="0" bIns="0" rtlCol="0" anchor="ctr"/>
          <a:lstStyle/>
          <a:p>
            <a:pPr indent="0" marL="0">
              <a:lnSpc>
                <a:spcPct val="110000"/>
              </a:lnSpc>
              <a:buNone/>
            </a:pPr>
            <a:r>
              <a:rPr lang="en-US" sz="1050" dirty="0">
                <a:solidFill>
                  <a:srgbClr val="55677E"/>
                </a:solidFill>
                <a:latin typeface="Calibri" pitchFamily="34" charset="0"/>
                <a:ea typeface="Calibri" pitchFamily="34" charset="-122"/>
                <a:cs typeface="Calibri" pitchFamily="34" charset="-120"/>
              </a:rPr>
              <a:t>5 hero variations &amp; full site summary</a:t>
            </a:r>
            <a:endParaRPr lang="en-US" sz="1050" dirty="0"/>
          </a:p>
        </p:txBody>
      </p:sp>
      <p:sp>
        <p:nvSpPr>
          <p:cNvPr id="9" name="Shape 6"/>
          <p:cNvSpPr/>
          <p:nvPr/>
        </p:nvSpPr>
        <p:spPr>
          <a:xfrm>
            <a:off x="4325112" y="1417320"/>
            <a:ext cx="3611880" cy="1536192"/>
          </a:xfrm>
          <a:prstGeom prst="roundRect">
            <a:avLst>
              <a:gd name="adj" fmla="val 5357"/>
            </a:avLst>
          </a:prstGeom>
          <a:solidFill>
            <a:srgbClr val="F6FAFD"/>
          </a:solidFill>
          <a:ln w="12700">
            <a:solidFill>
              <a:srgbClr val="D6E5F2"/>
            </a:solidFill>
            <a:prstDash val="solid"/>
          </a:ln>
        </p:spPr>
      </p:sp>
      <p:sp>
        <p:nvSpPr>
          <p:cNvPr id="10" name="Shape 7"/>
          <p:cNvSpPr/>
          <p:nvPr/>
        </p:nvSpPr>
        <p:spPr>
          <a:xfrm>
            <a:off x="4526280" y="1636776"/>
            <a:ext cx="566928" cy="566928"/>
          </a:xfrm>
          <a:prstGeom prst="ellipse">
            <a:avLst/>
          </a:prstGeom>
          <a:solidFill>
            <a:srgbClr val="FFFFFF"/>
          </a:solidFill>
          <a:ln/>
        </p:spPr>
      </p:sp>
      <p:pic>
        <p:nvPicPr>
          <p:cNvPr id="11" name="Image 1" descr="/home/claude/medsev-ppt/icons/idCard_0B5FA4.png">    </p:cNvPr>
          <p:cNvPicPr>
            <a:picLocks noChangeAspect="1"/>
          </p:cNvPicPr>
          <p:nvPr/>
        </p:nvPicPr>
        <p:blipFill>
          <a:blip r:embed="rId2"/>
          <a:stretch>
            <a:fillRect/>
          </a:stretch>
        </p:blipFill>
        <p:spPr>
          <a:xfrm>
            <a:off x="4653839" y="1764335"/>
            <a:ext cx="311810" cy="311810"/>
          </a:xfrm>
          <a:prstGeom prst="rect">
            <a:avLst/>
          </a:prstGeom>
        </p:spPr>
      </p:pic>
      <p:sp>
        <p:nvSpPr>
          <p:cNvPr id="12" name="Text 8"/>
          <p:cNvSpPr/>
          <p:nvPr/>
        </p:nvSpPr>
        <p:spPr>
          <a:xfrm>
            <a:off x="5239512" y="1618488"/>
            <a:ext cx="2560320" cy="320040"/>
          </a:xfrm>
          <a:prstGeom prst="rect">
            <a:avLst/>
          </a:prstGeom>
          <a:noFill/>
          <a:ln/>
        </p:spPr>
        <p:txBody>
          <a:bodyPr wrap="square" lIns="0" tIns="0" rIns="0" bIns="0" rtlCol="0" anchor="ctr"/>
          <a:lstStyle/>
          <a:p>
            <a:pPr indent="0" marL="0">
              <a:buNone/>
            </a:pPr>
            <a:r>
              <a:rPr lang="en-US" sz="1550" b="1" dirty="0">
                <a:solidFill>
                  <a:srgbClr val="17263D"/>
                </a:solidFill>
                <a:latin typeface="Cambria" pitchFamily="34" charset="0"/>
                <a:ea typeface="Cambria" pitchFamily="34" charset="-122"/>
                <a:cs typeface="Cambria" pitchFamily="34" charset="-120"/>
              </a:rPr>
              <a:t>About</a:t>
            </a:r>
            <a:endParaRPr lang="en-US" sz="1550" dirty="0"/>
          </a:p>
        </p:txBody>
      </p:sp>
      <p:sp>
        <p:nvSpPr>
          <p:cNvPr id="13" name="Text 9"/>
          <p:cNvSpPr/>
          <p:nvPr/>
        </p:nvSpPr>
        <p:spPr>
          <a:xfrm>
            <a:off x="5239512" y="1947672"/>
            <a:ext cx="2514600" cy="822960"/>
          </a:xfrm>
          <a:prstGeom prst="rect">
            <a:avLst/>
          </a:prstGeom>
          <a:noFill/>
          <a:ln/>
        </p:spPr>
        <p:txBody>
          <a:bodyPr wrap="square" lIns="0" tIns="0" rIns="0" bIns="0" rtlCol="0" anchor="ctr"/>
          <a:lstStyle/>
          <a:p>
            <a:pPr indent="0" marL="0">
              <a:lnSpc>
                <a:spcPct val="110000"/>
              </a:lnSpc>
              <a:buNone/>
            </a:pPr>
            <a:r>
              <a:rPr lang="en-US" sz="1050" dirty="0">
                <a:solidFill>
                  <a:srgbClr val="55677E"/>
                </a:solidFill>
                <a:latin typeface="Calibri" pitchFamily="34" charset="0"/>
                <a:ea typeface="Calibri" pitchFamily="34" charset="-122"/>
                <a:cs typeface="Calibri" pitchFamily="34" charset="-120"/>
              </a:rPr>
              <a:t>Hospital story, mission &amp; trust signals</a:t>
            </a:r>
            <a:endParaRPr lang="en-US" sz="1050" dirty="0"/>
          </a:p>
        </p:txBody>
      </p:sp>
      <p:sp>
        <p:nvSpPr>
          <p:cNvPr id="14" name="Shape 10"/>
          <p:cNvSpPr/>
          <p:nvPr/>
        </p:nvSpPr>
        <p:spPr>
          <a:xfrm>
            <a:off x="8101584" y="1417320"/>
            <a:ext cx="3611880" cy="1536192"/>
          </a:xfrm>
          <a:prstGeom prst="roundRect">
            <a:avLst>
              <a:gd name="adj" fmla="val 5357"/>
            </a:avLst>
          </a:prstGeom>
          <a:solidFill>
            <a:srgbClr val="F6FAFD"/>
          </a:solidFill>
          <a:ln w="12700">
            <a:solidFill>
              <a:srgbClr val="D6E5F2"/>
            </a:solidFill>
            <a:prstDash val="solid"/>
          </a:ln>
        </p:spPr>
      </p:sp>
      <p:sp>
        <p:nvSpPr>
          <p:cNvPr id="15" name="Shape 11"/>
          <p:cNvSpPr/>
          <p:nvPr/>
        </p:nvSpPr>
        <p:spPr>
          <a:xfrm>
            <a:off x="8302752" y="1636776"/>
            <a:ext cx="566928" cy="566928"/>
          </a:xfrm>
          <a:prstGeom prst="ellipse">
            <a:avLst/>
          </a:prstGeom>
          <a:solidFill>
            <a:srgbClr val="FFFFFF"/>
          </a:solidFill>
          <a:ln/>
        </p:spPr>
      </p:sp>
      <p:pic>
        <p:nvPicPr>
          <p:cNvPr id="16" name="Image 2" descr="/home/claude/medsev-ppt/icons/stethoscope_0B5FA4.png">    </p:cNvPr>
          <p:cNvPicPr>
            <a:picLocks noChangeAspect="1"/>
          </p:cNvPicPr>
          <p:nvPr/>
        </p:nvPicPr>
        <p:blipFill>
          <a:blip r:embed="rId3"/>
          <a:stretch>
            <a:fillRect/>
          </a:stretch>
        </p:blipFill>
        <p:spPr>
          <a:xfrm>
            <a:off x="8430311" y="1764335"/>
            <a:ext cx="311810" cy="311810"/>
          </a:xfrm>
          <a:prstGeom prst="rect">
            <a:avLst/>
          </a:prstGeom>
        </p:spPr>
      </p:pic>
      <p:sp>
        <p:nvSpPr>
          <p:cNvPr id="17" name="Text 12"/>
          <p:cNvSpPr/>
          <p:nvPr/>
        </p:nvSpPr>
        <p:spPr>
          <a:xfrm>
            <a:off x="9015984" y="1618488"/>
            <a:ext cx="2560320" cy="320040"/>
          </a:xfrm>
          <a:prstGeom prst="rect">
            <a:avLst/>
          </a:prstGeom>
          <a:noFill/>
          <a:ln/>
        </p:spPr>
        <p:txBody>
          <a:bodyPr wrap="square" lIns="0" tIns="0" rIns="0" bIns="0" rtlCol="0" anchor="ctr"/>
          <a:lstStyle/>
          <a:p>
            <a:pPr indent="0" marL="0">
              <a:buNone/>
            </a:pPr>
            <a:r>
              <a:rPr lang="en-US" sz="1550" b="1" dirty="0">
                <a:solidFill>
                  <a:srgbClr val="17263D"/>
                </a:solidFill>
                <a:latin typeface="Cambria" pitchFamily="34" charset="0"/>
                <a:ea typeface="Cambria" pitchFamily="34" charset="-122"/>
                <a:cs typeface="Cambria" pitchFamily="34" charset="-120"/>
              </a:rPr>
              <a:t>Services</a:t>
            </a:r>
            <a:endParaRPr lang="en-US" sz="1550" dirty="0"/>
          </a:p>
        </p:txBody>
      </p:sp>
      <p:sp>
        <p:nvSpPr>
          <p:cNvPr id="18" name="Text 13"/>
          <p:cNvSpPr/>
          <p:nvPr/>
        </p:nvSpPr>
        <p:spPr>
          <a:xfrm>
            <a:off x="9015984" y="1947672"/>
            <a:ext cx="2514600" cy="822960"/>
          </a:xfrm>
          <a:prstGeom prst="rect">
            <a:avLst/>
          </a:prstGeom>
          <a:noFill/>
          <a:ln/>
        </p:spPr>
        <p:txBody>
          <a:bodyPr wrap="square" lIns="0" tIns="0" rIns="0" bIns="0" rtlCol="0" anchor="ctr"/>
          <a:lstStyle/>
          <a:p>
            <a:pPr indent="0" marL="0">
              <a:lnSpc>
                <a:spcPct val="110000"/>
              </a:lnSpc>
              <a:buNone/>
            </a:pPr>
            <a:r>
              <a:rPr lang="en-US" sz="1050" dirty="0">
                <a:solidFill>
                  <a:srgbClr val="55677E"/>
                </a:solidFill>
                <a:latin typeface="Calibri" pitchFamily="34" charset="0"/>
                <a:ea typeface="Calibri" pitchFamily="34" charset="-122"/>
                <a:cs typeface="Calibri" pitchFamily="34" charset="-120"/>
              </a:rPr>
              <a:t>8 medical service categories</a:t>
            </a:r>
            <a:endParaRPr lang="en-US" sz="1050" dirty="0"/>
          </a:p>
        </p:txBody>
      </p:sp>
      <p:sp>
        <p:nvSpPr>
          <p:cNvPr id="19" name="Shape 14"/>
          <p:cNvSpPr/>
          <p:nvPr/>
        </p:nvSpPr>
        <p:spPr>
          <a:xfrm>
            <a:off x="548640" y="3118104"/>
            <a:ext cx="3611880" cy="1536192"/>
          </a:xfrm>
          <a:prstGeom prst="roundRect">
            <a:avLst>
              <a:gd name="adj" fmla="val 5357"/>
            </a:avLst>
          </a:prstGeom>
          <a:solidFill>
            <a:srgbClr val="F6FAFD"/>
          </a:solidFill>
          <a:ln w="12700">
            <a:solidFill>
              <a:srgbClr val="D6E5F2"/>
            </a:solidFill>
            <a:prstDash val="solid"/>
          </a:ln>
        </p:spPr>
      </p:sp>
      <p:sp>
        <p:nvSpPr>
          <p:cNvPr id="20" name="Shape 15"/>
          <p:cNvSpPr/>
          <p:nvPr/>
        </p:nvSpPr>
        <p:spPr>
          <a:xfrm>
            <a:off x="749808" y="3337560"/>
            <a:ext cx="566928" cy="566928"/>
          </a:xfrm>
          <a:prstGeom prst="ellipse">
            <a:avLst/>
          </a:prstGeom>
          <a:solidFill>
            <a:srgbClr val="FFFFFF"/>
          </a:solidFill>
          <a:ln/>
        </p:spPr>
      </p:sp>
      <p:pic>
        <p:nvPicPr>
          <p:cNvPr id="21" name="Image 3" descr="/home/claude/medsev-ppt/icons/doctor_0B5FA4.png">    </p:cNvPr>
          <p:cNvPicPr>
            <a:picLocks noChangeAspect="1"/>
          </p:cNvPicPr>
          <p:nvPr/>
        </p:nvPicPr>
        <p:blipFill>
          <a:blip r:embed="rId4"/>
          <a:stretch>
            <a:fillRect/>
          </a:stretch>
        </p:blipFill>
        <p:spPr>
          <a:xfrm>
            <a:off x="877367" y="3465119"/>
            <a:ext cx="311810" cy="311810"/>
          </a:xfrm>
          <a:prstGeom prst="rect">
            <a:avLst/>
          </a:prstGeom>
        </p:spPr>
      </p:pic>
      <p:sp>
        <p:nvSpPr>
          <p:cNvPr id="22" name="Text 16"/>
          <p:cNvSpPr/>
          <p:nvPr/>
        </p:nvSpPr>
        <p:spPr>
          <a:xfrm>
            <a:off x="1463040" y="3319272"/>
            <a:ext cx="2560320" cy="320040"/>
          </a:xfrm>
          <a:prstGeom prst="rect">
            <a:avLst/>
          </a:prstGeom>
          <a:noFill/>
          <a:ln/>
        </p:spPr>
        <p:txBody>
          <a:bodyPr wrap="square" lIns="0" tIns="0" rIns="0" bIns="0" rtlCol="0" anchor="ctr"/>
          <a:lstStyle/>
          <a:p>
            <a:pPr indent="0" marL="0">
              <a:buNone/>
            </a:pPr>
            <a:r>
              <a:rPr lang="en-US" sz="1550" b="1" dirty="0">
                <a:solidFill>
                  <a:srgbClr val="17263D"/>
                </a:solidFill>
                <a:latin typeface="Cambria" pitchFamily="34" charset="0"/>
                <a:ea typeface="Cambria" pitchFamily="34" charset="-122"/>
                <a:cs typeface="Cambria" pitchFamily="34" charset="-120"/>
              </a:rPr>
              <a:t>Doctors</a:t>
            </a:r>
            <a:endParaRPr lang="en-US" sz="1550" dirty="0"/>
          </a:p>
        </p:txBody>
      </p:sp>
      <p:sp>
        <p:nvSpPr>
          <p:cNvPr id="23" name="Text 17"/>
          <p:cNvSpPr/>
          <p:nvPr/>
        </p:nvSpPr>
        <p:spPr>
          <a:xfrm>
            <a:off x="1463040" y="3648456"/>
            <a:ext cx="2514600" cy="822960"/>
          </a:xfrm>
          <a:prstGeom prst="rect">
            <a:avLst/>
          </a:prstGeom>
          <a:noFill/>
          <a:ln/>
        </p:spPr>
        <p:txBody>
          <a:bodyPr wrap="square" lIns="0" tIns="0" rIns="0" bIns="0" rtlCol="0" anchor="ctr"/>
          <a:lstStyle/>
          <a:p>
            <a:pPr indent="0" marL="0">
              <a:lnSpc>
                <a:spcPct val="110000"/>
              </a:lnSpc>
              <a:buNone/>
            </a:pPr>
            <a:r>
              <a:rPr lang="en-US" sz="1050" dirty="0">
                <a:solidFill>
                  <a:srgbClr val="55677E"/>
                </a:solidFill>
                <a:latin typeface="Calibri" pitchFamily="34" charset="0"/>
                <a:ea typeface="Calibri" pitchFamily="34" charset="-122"/>
                <a:cs typeface="Calibri" pitchFamily="34" charset="-120"/>
              </a:rPr>
              <a:t>Specialist directory &amp; profiles</a:t>
            </a:r>
            <a:endParaRPr lang="en-US" sz="1050" dirty="0"/>
          </a:p>
        </p:txBody>
      </p:sp>
      <p:sp>
        <p:nvSpPr>
          <p:cNvPr id="24" name="Shape 18"/>
          <p:cNvSpPr/>
          <p:nvPr/>
        </p:nvSpPr>
        <p:spPr>
          <a:xfrm>
            <a:off x="4325112" y="3118104"/>
            <a:ext cx="3611880" cy="1536192"/>
          </a:xfrm>
          <a:prstGeom prst="roundRect">
            <a:avLst>
              <a:gd name="adj" fmla="val 5357"/>
            </a:avLst>
          </a:prstGeom>
          <a:solidFill>
            <a:srgbClr val="F6FAFD"/>
          </a:solidFill>
          <a:ln w="12700">
            <a:solidFill>
              <a:srgbClr val="D6E5F2"/>
            </a:solidFill>
            <a:prstDash val="solid"/>
          </a:ln>
        </p:spPr>
      </p:sp>
      <p:sp>
        <p:nvSpPr>
          <p:cNvPr id="25" name="Shape 19"/>
          <p:cNvSpPr/>
          <p:nvPr/>
        </p:nvSpPr>
        <p:spPr>
          <a:xfrm>
            <a:off x="4526280" y="3337560"/>
            <a:ext cx="566928" cy="566928"/>
          </a:xfrm>
          <a:prstGeom prst="ellipse">
            <a:avLst/>
          </a:prstGeom>
          <a:solidFill>
            <a:srgbClr val="FFFFFF"/>
          </a:solidFill>
          <a:ln/>
        </p:spPr>
      </p:sp>
      <p:pic>
        <p:nvPicPr>
          <p:cNvPr id="26" name="Image 4" descr="/home/claude/medsev-ppt/icons/sitemap_0B5FA4.png">    </p:cNvPr>
          <p:cNvPicPr>
            <a:picLocks noChangeAspect="1"/>
          </p:cNvPicPr>
          <p:nvPr/>
        </p:nvPicPr>
        <p:blipFill>
          <a:blip r:embed="rId5"/>
          <a:stretch>
            <a:fillRect/>
          </a:stretch>
        </p:blipFill>
        <p:spPr>
          <a:xfrm>
            <a:off x="4653839" y="3465119"/>
            <a:ext cx="311810" cy="311810"/>
          </a:xfrm>
          <a:prstGeom prst="rect">
            <a:avLst/>
          </a:prstGeom>
        </p:spPr>
      </p:pic>
      <p:sp>
        <p:nvSpPr>
          <p:cNvPr id="27" name="Text 20"/>
          <p:cNvSpPr/>
          <p:nvPr/>
        </p:nvSpPr>
        <p:spPr>
          <a:xfrm>
            <a:off x="5239512" y="3319272"/>
            <a:ext cx="2560320" cy="320040"/>
          </a:xfrm>
          <a:prstGeom prst="rect">
            <a:avLst/>
          </a:prstGeom>
          <a:noFill/>
          <a:ln/>
        </p:spPr>
        <p:txBody>
          <a:bodyPr wrap="square" lIns="0" tIns="0" rIns="0" bIns="0" rtlCol="0" anchor="ctr"/>
          <a:lstStyle/>
          <a:p>
            <a:pPr indent="0" marL="0">
              <a:buNone/>
            </a:pPr>
            <a:r>
              <a:rPr lang="en-US" sz="1550" b="1" dirty="0">
                <a:solidFill>
                  <a:srgbClr val="17263D"/>
                </a:solidFill>
                <a:latin typeface="Cambria" pitchFamily="34" charset="0"/>
                <a:ea typeface="Cambria" pitchFamily="34" charset="-122"/>
                <a:cs typeface="Cambria" pitchFamily="34" charset="-120"/>
              </a:rPr>
              <a:t>Departments</a:t>
            </a:r>
            <a:endParaRPr lang="en-US" sz="1550" dirty="0"/>
          </a:p>
        </p:txBody>
      </p:sp>
      <p:sp>
        <p:nvSpPr>
          <p:cNvPr id="28" name="Text 21"/>
          <p:cNvSpPr/>
          <p:nvPr/>
        </p:nvSpPr>
        <p:spPr>
          <a:xfrm>
            <a:off x="5239512" y="3648456"/>
            <a:ext cx="2514600" cy="822960"/>
          </a:xfrm>
          <a:prstGeom prst="rect">
            <a:avLst/>
          </a:prstGeom>
          <a:noFill/>
          <a:ln/>
        </p:spPr>
        <p:txBody>
          <a:bodyPr wrap="square" lIns="0" tIns="0" rIns="0" bIns="0" rtlCol="0" anchor="ctr"/>
          <a:lstStyle/>
          <a:p>
            <a:pPr indent="0" marL="0">
              <a:lnSpc>
                <a:spcPct val="110000"/>
              </a:lnSpc>
              <a:buNone/>
            </a:pPr>
            <a:r>
              <a:rPr lang="en-US" sz="1050" dirty="0">
                <a:solidFill>
                  <a:srgbClr val="55677E"/>
                </a:solidFill>
                <a:latin typeface="Calibri" pitchFamily="34" charset="0"/>
                <a:ea typeface="Calibri" pitchFamily="34" charset="-122"/>
                <a:cs typeface="Calibri" pitchFamily="34" charset="-120"/>
              </a:rPr>
              <a:t>Clinical departments overview</a:t>
            </a:r>
            <a:endParaRPr lang="en-US" sz="1050" dirty="0"/>
          </a:p>
        </p:txBody>
      </p:sp>
      <p:sp>
        <p:nvSpPr>
          <p:cNvPr id="29" name="Shape 22"/>
          <p:cNvSpPr/>
          <p:nvPr/>
        </p:nvSpPr>
        <p:spPr>
          <a:xfrm>
            <a:off x="8101584" y="3118104"/>
            <a:ext cx="3611880" cy="1536192"/>
          </a:xfrm>
          <a:prstGeom prst="roundRect">
            <a:avLst>
              <a:gd name="adj" fmla="val 5357"/>
            </a:avLst>
          </a:prstGeom>
          <a:solidFill>
            <a:srgbClr val="F6FAFD"/>
          </a:solidFill>
          <a:ln w="12700">
            <a:solidFill>
              <a:srgbClr val="D6E5F2"/>
            </a:solidFill>
            <a:prstDash val="solid"/>
          </a:ln>
        </p:spPr>
      </p:sp>
      <p:sp>
        <p:nvSpPr>
          <p:cNvPr id="30" name="Shape 23"/>
          <p:cNvSpPr/>
          <p:nvPr/>
        </p:nvSpPr>
        <p:spPr>
          <a:xfrm>
            <a:off x="8302752" y="3337560"/>
            <a:ext cx="566928" cy="566928"/>
          </a:xfrm>
          <a:prstGeom prst="ellipse">
            <a:avLst/>
          </a:prstGeom>
          <a:solidFill>
            <a:srgbClr val="FFFFFF"/>
          </a:solidFill>
          <a:ln/>
        </p:spPr>
      </p:sp>
      <p:pic>
        <p:nvPicPr>
          <p:cNvPr id="31" name="Image 5" descr="/home/claude/medsev-ppt/icons/calendar_0B5FA4.png">    </p:cNvPr>
          <p:cNvPicPr>
            <a:picLocks noChangeAspect="1"/>
          </p:cNvPicPr>
          <p:nvPr/>
        </p:nvPicPr>
        <p:blipFill>
          <a:blip r:embed="rId6"/>
          <a:stretch>
            <a:fillRect/>
          </a:stretch>
        </p:blipFill>
        <p:spPr>
          <a:xfrm>
            <a:off x="8430311" y="3465119"/>
            <a:ext cx="311810" cy="311810"/>
          </a:xfrm>
          <a:prstGeom prst="rect">
            <a:avLst/>
          </a:prstGeom>
        </p:spPr>
      </p:pic>
      <p:sp>
        <p:nvSpPr>
          <p:cNvPr id="32" name="Text 24"/>
          <p:cNvSpPr/>
          <p:nvPr/>
        </p:nvSpPr>
        <p:spPr>
          <a:xfrm>
            <a:off x="9015984" y="3319272"/>
            <a:ext cx="2560320" cy="320040"/>
          </a:xfrm>
          <a:prstGeom prst="rect">
            <a:avLst/>
          </a:prstGeom>
          <a:noFill/>
          <a:ln/>
        </p:spPr>
        <p:txBody>
          <a:bodyPr wrap="square" lIns="0" tIns="0" rIns="0" bIns="0" rtlCol="0" anchor="ctr"/>
          <a:lstStyle/>
          <a:p>
            <a:pPr indent="0" marL="0">
              <a:buNone/>
            </a:pPr>
            <a:r>
              <a:rPr lang="en-US" sz="1550" b="1" dirty="0">
                <a:solidFill>
                  <a:srgbClr val="17263D"/>
                </a:solidFill>
                <a:latin typeface="Cambria" pitchFamily="34" charset="0"/>
                <a:ea typeface="Cambria" pitchFamily="34" charset="-122"/>
                <a:cs typeface="Cambria" pitchFamily="34" charset="-120"/>
              </a:rPr>
              <a:t>Appointment</a:t>
            </a:r>
            <a:endParaRPr lang="en-US" sz="1550" dirty="0"/>
          </a:p>
        </p:txBody>
      </p:sp>
      <p:sp>
        <p:nvSpPr>
          <p:cNvPr id="33" name="Text 25"/>
          <p:cNvSpPr/>
          <p:nvPr/>
        </p:nvSpPr>
        <p:spPr>
          <a:xfrm>
            <a:off x="9015984" y="3648456"/>
            <a:ext cx="2514600" cy="822960"/>
          </a:xfrm>
          <a:prstGeom prst="rect">
            <a:avLst/>
          </a:prstGeom>
          <a:noFill/>
          <a:ln/>
        </p:spPr>
        <p:txBody>
          <a:bodyPr wrap="square" lIns="0" tIns="0" rIns="0" bIns="0" rtlCol="0" anchor="ctr"/>
          <a:lstStyle/>
          <a:p>
            <a:pPr indent="0" marL="0">
              <a:lnSpc>
                <a:spcPct val="110000"/>
              </a:lnSpc>
              <a:buNone/>
            </a:pPr>
            <a:r>
              <a:rPr lang="en-US" sz="1050" dirty="0">
                <a:solidFill>
                  <a:srgbClr val="55677E"/>
                </a:solidFill>
                <a:latin typeface="Calibri" pitchFamily="34" charset="0"/>
                <a:ea typeface="Calibri" pitchFamily="34" charset="-122"/>
                <a:cs typeface="Calibri" pitchFamily="34" charset="-120"/>
              </a:rPr>
              <a:t>Multi-step booking form</a:t>
            </a:r>
            <a:endParaRPr lang="en-US" sz="1050" dirty="0"/>
          </a:p>
        </p:txBody>
      </p:sp>
      <p:sp>
        <p:nvSpPr>
          <p:cNvPr id="34" name="Shape 26"/>
          <p:cNvSpPr/>
          <p:nvPr/>
        </p:nvSpPr>
        <p:spPr>
          <a:xfrm>
            <a:off x="548640" y="4818888"/>
            <a:ext cx="3611880" cy="1536192"/>
          </a:xfrm>
          <a:prstGeom prst="roundRect">
            <a:avLst>
              <a:gd name="adj" fmla="val 5357"/>
            </a:avLst>
          </a:prstGeom>
          <a:solidFill>
            <a:srgbClr val="F6FAFD"/>
          </a:solidFill>
          <a:ln w="12700">
            <a:solidFill>
              <a:srgbClr val="D6E5F2"/>
            </a:solidFill>
            <a:prstDash val="solid"/>
          </a:ln>
        </p:spPr>
      </p:sp>
      <p:sp>
        <p:nvSpPr>
          <p:cNvPr id="35" name="Shape 27"/>
          <p:cNvSpPr/>
          <p:nvPr/>
        </p:nvSpPr>
        <p:spPr>
          <a:xfrm>
            <a:off x="749808" y="5038344"/>
            <a:ext cx="566928" cy="566928"/>
          </a:xfrm>
          <a:prstGeom prst="ellipse">
            <a:avLst/>
          </a:prstGeom>
          <a:solidFill>
            <a:srgbClr val="FFFFFF"/>
          </a:solidFill>
          <a:ln/>
        </p:spPr>
      </p:sp>
      <p:pic>
        <p:nvPicPr>
          <p:cNvPr id="36" name="Image 6" descr="/home/claude/medsev-ppt/icons/blog_0B5FA4.png">    </p:cNvPr>
          <p:cNvPicPr>
            <a:picLocks noChangeAspect="1"/>
          </p:cNvPicPr>
          <p:nvPr/>
        </p:nvPicPr>
        <p:blipFill>
          <a:blip r:embed="rId7"/>
          <a:stretch>
            <a:fillRect/>
          </a:stretch>
        </p:blipFill>
        <p:spPr>
          <a:xfrm>
            <a:off x="877367" y="5165903"/>
            <a:ext cx="311810" cy="311810"/>
          </a:xfrm>
          <a:prstGeom prst="rect">
            <a:avLst/>
          </a:prstGeom>
        </p:spPr>
      </p:pic>
      <p:sp>
        <p:nvSpPr>
          <p:cNvPr id="37" name="Text 28"/>
          <p:cNvSpPr/>
          <p:nvPr/>
        </p:nvSpPr>
        <p:spPr>
          <a:xfrm>
            <a:off x="1463040" y="5020056"/>
            <a:ext cx="2560320" cy="320040"/>
          </a:xfrm>
          <a:prstGeom prst="rect">
            <a:avLst/>
          </a:prstGeom>
          <a:noFill/>
          <a:ln/>
        </p:spPr>
        <p:txBody>
          <a:bodyPr wrap="square" lIns="0" tIns="0" rIns="0" bIns="0" rtlCol="0" anchor="ctr"/>
          <a:lstStyle/>
          <a:p>
            <a:pPr indent="0" marL="0">
              <a:buNone/>
            </a:pPr>
            <a:r>
              <a:rPr lang="en-US" sz="1550" b="1" dirty="0">
                <a:solidFill>
                  <a:srgbClr val="17263D"/>
                </a:solidFill>
                <a:latin typeface="Cambria" pitchFamily="34" charset="0"/>
                <a:ea typeface="Cambria" pitchFamily="34" charset="-122"/>
                <a:cs typeface="Cambria" pitchFamily="34" charset="-120"/>
              </a:rPr>
              <a:t>Blog</a:t>
            </a:r>
            <a:endParaRPr lang="en-US" sz="1550" dirty="0"/>
          </a:p>
        </p:txBody>
      </p:sp>
      <p:sp>
        <p:nvSpPr>
          <p:cNvPr id="38" name="Text 29"/>
          <p:cNvSpPr/>
          <p:nvPr/>
        </p:nvSpPr>
        <p:spPr>
          <a:xfrm>
            <a:off x="1463040" y="5349240"/>
            <a:ext cx="2514600" cy="822960"/>
          </a:xfrm>
          <a:prstGeom prst="rect">
            <a:avLst/>
          </a:prstGeom>
          <a:noFill/>
          <a:ln/>
        </p:spPr>
        <p:txBody>
          <a:bodyPr wrap="square" lIns="0" tIns="0" rIns="0" bIns="0" rtlCol="0" anchor="ctr"/>
          <a:lstStyle/>
          <a:p>
            <a:pPr indent="0" marL="0">
              <a:lnSpc>
                <a:spcPct val="110000"/>
              </a:lnSpc>
              <a:buNone/>
            </a:pPr>
            <a:r>
              <a:rPr lang="en-US" sz="1050" dirty="0">
                <a:solidFill>
                  <a:srgbClr val="55677E"/>
                </a:solidFill>
                <a:latin typeface="Calibri" pitchFamily="34" charset="0"/>
                <a:ea typeface="Calibri" pitchFamily="34" charset="-122"/>
                <a:cs typeface="Calibri" pitchFamily="34" charset="-120"/>
              </a:rPr>
              <a:t>Health articles &amp; awareness content</a:t>
            </a:r>
            <a:endParaRPr lang="en-US" sz="1050" dirty="0"/>
          </a:p>
        </p:txBody>
      </p:sp>
      <p:sp>
        <p:nvSpPr>
          <p:cNvPr id="39" name="Shape 30"/>
          <p:cNvSpPr/>
          <p:nvPr/>
        </p:nvSpPr>
        <p:spPr>
          <a:xfrm>
            <a:off x="4325112" y="4818888"/>
            <a:ext cx="3611880" cy="1536192"/>
          </a:xfrm>
          <a:prstGeom prst="roundRect">
            <a:avLst>
              <a:gd name="adj" fmla="val 5357"/>
            </a:avLst>
          </a:prstGeom>
          <a:solidFill>
            <a:srgbClr val="F6FAFD"/>
          </a:solidFill>
          <a:ln w="12700">
            <a:solidFill>
              <a:srgbClr val="D6E5F2"/>
            </a:solidFill>
            <a:prstDash val="solid"/>
          </a:ln>
        </p:spPr>
      </p:sp>
      <p:sp>
        <p:nvSpPr>
          <p:cNvPr id="40" name="Shape 31"/>
          <p:cNvSpPr/>
          <p:nvPr/>
        </p:nvSpPr>
        <p:spPr>
          <a:xfrm>
            <a:off x="4526280" y="5038344"/>
            <a:ext cx="566928" cy="566928"/>
          </a:xfrm>
          <a:prstGeom prst="ellipse">
            <a:avLst/>
          </a:prstGeom>
          <a:solidFill>
            <a:srgbClr val="FFFFFF"/>
          </a:solidFill>
          <a:ln/>
        </p:spPr>
      </p:sp>
      <p:pic>
        <p:nvPicPr>
          <p:cNvPr id="41" name="Image 7" descr="/home/claude/medsev-ppt/icons/envelope_0B5FA4.png">    </p:cNvPr>
          <p:cNvPicPr>
            <a:picLocks noChangeAspect="1"/>
          </p:cNvPicPr>
          <p:nvPr/>
        </p:nvPicPr>
        <p:blipFill>
          <a:blip r:embed="rId8"/>
          <a:stretch>
            <a:fillRect/>
          </a:stretch>
        </p:blipFill>
        <p:spPr>
          <a:xfrm>
            <a:off x="4653839" y="5165903"/>
            <a:ext cx="311810" cy="311810"/>
          </a:xfrm>
          <a:prstGeom prst="rect">
            <a:avLst/>
          </a:prstGeom>
        </p:spPr>
      </p:pic>
      <p:sp>
        <p:nvSpPr>
          <p:cNvPr id="42" name="Text 32"/>
          <p:cNvSpPr/>
          <p:nvPr/>
        </p:nvSpPr>
        <p:spPr>
          <a:xfrm>
            <a:off x="5239512" y="5020056"/>
            <a:ext cx="2560320" cy="320040"/>
          </a:xfrm>
          <a:prstGeom prst="rect">
            <a:avLst/>
          </a:prstGeom>
          <a:noFill/>
          <a:ln/>
        </p:spPr>
        <p:txBody>
          <a:bodyPr wrap="square" lIns="0" tIns="0" rIns="0" bIns="0" rtlCol="0" anchor="ctr"/>
          <a:lstStyle/>
          <a:p>
            <a:pPr indent="0" marL="0">
              <a:buNone/>
            </a:pPr>
            <a:r>
              <a:rPr lang="en-US" sz="1550" b="1" dirty="0">
                <a:solidFill>
                  <a:srgbClr val="17263D"/>
                </a:solidFill>
                <a:latin typeface="Cambria" pitchFamily="34" charset="0"/>
                <a:ea typeface="Cambria" pitchFamily="34" charset="-122"/>
                <a:cs typeface="Cambria" pitchFamily="34" charset="-120"/>
              </a:rPr>
              <a:t>Contact</a:t>
            </a:r>
            <a:endParaRPr lang="en-US" sz="1550" dirty="0"/>
          </a:p>
        </p:txBody>
      </p:sp>
      <p:sp>
        <p:nvSpPr>
          <p:cNvPr id="43" name="Text 33"/>
          <p:cNvSpPr/>
          <p:nvPr/>
        </p:nvSpPr>
        <p:spPr>
          <a:xfrm>
            <a:off x="5239512" y="5349240"/>
            <a:ext cx="2514600" cy="822960"/>
          </a:xfrm>
          <a:prstGeom prst="rect">
            <a:avLst/>
          </a:prstGeom>
          <a:noFill/>
          <a:ln/>
        </p:spPr>
        <p:txBody>
          <a:bodyPr wrap="square" lIns="0" tIns="0" rIns="0" bIns="0" rtlCol="0" anchor="ctr"/>
          <a:lstStyle/>
          <a:p>
            <a:pPr indent="0" marL="0">
              <a:lnSpc>
                <a:spcPct val="110000"/>
              </a:lnSpc>
              <a:buNone/>
            </a:pPr>
            <a:r>
              <a:rPr lang="en-US" sz="1050" dirty="0">
                <a:solidFill>
                  <a:srgbClr val="55677E"/>
                </a:solidFill>
                <a:latin typeface="Calibri" pitchFamily="34" charset="0"/>
                <a:ea typeface="Calibri" pitchFamily="34" charset="-122"/>
                <a:cs typeface="Calibri" pitchFamily="34" charset="-120"/>
              </a:rPr>
              <a:t>Form, map &amp; clinic details</a:t>
            </a:r>
            <a:endParaRPr lang="en-US" sz="1050" dirty="0"/>
          </a:p>
        </p:txBody>
      </p:sp>
      <p:sp>
        <p:nvSpPr>
          <p:cNvPr id="44" name="Shape 34"/>
          <p:cNvSpPr/>
          <p:nvPr/>
        </p:nvSpPr>
        <p:spPr>
          <a:xfrm>
            <a:off x="8101584" y="4818888"/>
            <a:ext cx="3611880" cy="1536192"/>
          </a:xfrm>
          <a:prstGeom prst="roundRect">
            <a:avLst>
              <a:gd name="adj" fmla="val 5357"/>
            </a:avLst>
          </a:prstGeom>
          <a:solidFill>
            <a:srgbClr val="F6FAFD"/>
          </a:solidFill>
          <a:ln w="12700">
            <a:solidFill>
              <a:srgbClr val="D6E5F2"/>
            </a:solidFill>
            <a:prstDash val="solid"/>
          </a:ln>
        </p:spPr>
      </p:sp>
      <p:sp>
        <p:nvSpPr>
          <p:cNvPr id="45" name="Shape 35"/>
          <p:cNvSpPr/>
          <p:nvPr/>
        </p:nvSpPr>
        <p:spPr>
          <a:xfrm>
            <a:off x="8302752" y="5038344"/>
            <a:ext cx="566928" cy="566928"/>
          </a:xfrm>
          <a:prstGeom prst="ellipse">
            <a:avLst/>
          </a:prstGeom>
          <a:solidFill>
            <a:srgbClr val="FFFFFF"/>
          </a:solidFill>
          <a:ln/>
        </p:spPr>
      </p:sp>
      <p:pic>
        <p:nvPicPr>
          <p:cNvPr id="46" name="Image 8" descr="/home/claude/medsev-ppt/icons/lock_0B5FA4.png">    </p:cNvPr>
          <p:cNvPicPr>
            <a:picLocks noChangeAspect="1"/>
          </p:cNvPicPr>
          <p:nvPr/>
        </p:nvPicPr>
        <p:blipFill>
          <a:blip r:embed="rId9"/>
          <a:stretch>
            <a:fillRect/>
          </a:stretch>
        </p:blipFill>
        <p:spPr>
          <a:xfrm>
            <a:off x="8430311" y="5165903"/>
            <a:ext cx="311810" cy="311810"/>
          </a:xfrm>
          <a:prstGeom prst="rect">
            <a:avLst/>
          </a:prstGeom>
        </p:spPr>
      </p:pic>
      <p:sp>
        <p:nvSpPr>
          <p:cNvPr id="47" name="Text 36"/>
          <p:cNvSpPr/>
          <p:nvPr/>
        </p:nvSpPr>
        <p:spPr>
          <a:xfrm>
            <a:off x="9015984" y="5020056"/>
            <a:ext cx="2560320" cy="320040"/>
          </a:xfrm>
          <a:prstGeom prst="rect">
            <a:avLst/>
          </a:prstGeom>
          <a:noFill/>
          <a:ln/>
        </p:spPr>
        <p:txBody>
          <a:bodyPr wrap="square" lIns="0" tIns="0" rIns="0" bIns="0" rtlCol="0" anchor="ctr"/>
          <a:lstStyle/>
          <a:p>
            <a:pPr indent="0" marL="0">
              <a:buNone/>
            </a:pPr>
            <a:r>
              <a:rPr lang="en-US" sz="1550" b="1" dirty="0">
                <a:solidFill>
                  <a:srgbClr val="17263D"/>
                </a:solidFill>
                <a:latin typeface="Cambria" pitchFamily="34" charset="0"/>
                <a:ea typeface="Cambria" pitchFamily="34" charset="-122"/>
                <a:cs typeface="Cambria" pitchFamily="34" charset="-120"/>
              </a:rPr>
              <a:t>Authentication</a:t>
            </a:r>
            <a:endParaRPr lang="en-US" sz="1550" dirty="0"/>
          </a:p>
        </p:txBody>
      </p:sp>
      <p:sp>
        <p:nvSpPr>
          <p:cNvPr id="48" name="Text 37"/>
          <p:cNvSpPr/>
          <p:nvPr/>
        </p:nvSpPr>
        <p:spPr>
          <a:xfrm>
            <a:off x="9015984" y="5349240"/>
            <a:ext cx="2514600" cy="822960"/>
          </a:xfrm>
          <a:prstGeom prst="rect">
            <a:avLst/>
          </a:prstGeom>
          <a:noFill/>
          <a:ln/>
        </p:spPr>
        <p:txBody>
          <a:bodyPr wrap="square" lIns="0" tIns="0" rIns="0" bIns="0" rtlCol="0" anchor="ctr"/>
          <a:lstStyle/>
          <a:p>
            <a:pPr indent="0" marL="0">
              <a:lnSpc>
                <a:spcPct val="110000"/>
              </a:lnSpc>
              <a:buNone/>
            </a:pPr>
            <a:r>
              <a:rPr lang="en-US" sz="1050" dirty="0">
                <a:solidFill>
                  <a:srgbClr val="55677E"/>
                </a:solidFill>
                <a:latin typeface="Calibri" pitchFamily="34" charset="0"/>
                <a:ea typeface="Calibri" pitchFamily="34" charset="-122"/>
                <a:cs typeface="Calibri" pitchFamily="34" charset="-120"/>
              </a:rPr>
              <a:t>Sign up / login for patients</a:t>
            </a:r>
            <a:endParaRPr lang="en-US" sz="1050" dirty="0"/>
          </a:p>
        </p:txBody>
      </p:sp>
      <p:sp>
        <p:nvSpPr>
          <p:cNvPr id="49" name="Text 38"/>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50" name="Text 39"/>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Website Features Overview</a:t>
            </a:r>
            <a:endParaRPr lang="en-US" sz="900" dirty="0"/>
          </a:p>
        </p:txBody>
      </p:sp>
      <p:sp>
        <p:nvSpPr>
          <p:cNvPr id="51" name="Text 40"/>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3 / 23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PAGE WALKTHROUGH · 01</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Home Page</a:t>
            </a:r>
            <a:endParaRPr lang="en-US" sz="3000" dirty="0"/>
          </a:p>
        </p:txBody>
      </p:sp>
      <p:sp>
        <p:nvSpPr>
          <p:cNvPr id="4" name="Shape 2"/>
          <p:cNvSpPr/>
          <p:nvPr/>
        </p:nvSpPr>
        <p:spPr>
          <a:xfrm>
            <a:off x="548640" y="1417320"/>
            <a:ext cx="6537960" cy="4663440"/>
          </a:xfrm>
          <a:prstGeom prst="roundRect">
            <a:avLst>
              <a:gd name="adj" fmla="val 1373"/>
            </a:avLst>
          </a:prstGeom>
          <a:solidFill>
            <a:srgbClr val="FFFFFF"/>
          </a:solidFill>
          <a:ln w="12700">
            <a:solidFill>
              <a:srgbClr val="D6E5F2"/>
            </a:solidFill>
            <a:prstDash val="solid"/>
          </a:ln>
          <a:effectLst>
            <a:outerShdw sx="100000" sy="100000" kx="0" ky="0" algn="bl" rotWithShape="0" blurRad="152400" dist="50800" dir="5400000">
              <a:srgbClr val="0A3B63">
                <a:alpha val="22000"/>
              </a:srgbClr>
            </a:outerShdw>
          </a:effectLst>
        </p:spPr>
      </p:sp>
      <p:sp>
        <p:nvSpPr>
          <p:cNvPr id="5" name="Shape 3"/>
          <p:cNvSpPr/>
          <p:nvPr/>
        </p:nvSpPr>
        <p:spPr>
          <a:xfrm>
            <a:off x="548640" y="1417320"/>
            <a:ext cx="6537960" cy="310896"/>
          </a:xfrm>
          <a:prstGeom prst="rect">
            <a:avLst/>
          </a:prstGeom>
          <a:solidFill>
            <a:srgbClr val="F6FAFD"/>
          </a:solidFill>
          <a:ln/>
        </p:spPr>
      </p:sp>
      <p:sp>
        <p:nvSpPr>
          <p:cNvPr id="6" name="Shape 4"/>
          <p:cNvSpPr/>
          <p:nvPr/>
        </p:nvSpPr>
        <p:spPr>
          <a:xfrm>
            <a:off x="676656" y="1527048"/>
            <a:ext cx="100584" cy="100584"/>
          </a:xfrm>
          <a:prstGeom prst="ellipse">
            <a:avLst/>
          </a:prstGeom>
          <a:solidFill>
            <a:srgbClr val="E27D60"/>
          </a:solidFill>
          <a:ln/>
        </p:spPr>
      </p:sp>
      <p:sp>
        <p:nvSpPr>
          <p:cNvPr id="7" name="Shape 5"/>
          <p:cNvSpPr/>
          <p:nvPr/>
        </p:nvSpPr>
        <p:spPr>
          <a:xfrm>
            <a:off x="859536" y="1527048"/>
            <a:ext cx="100584" cy="100584"/>
          </a:xfrm>
          <a:prstGeom prst="ellipse">
            <a:avLst/>
          </a:prstGeom>
          <a:solidFill>
            <a:srgbClr val="E8C547"/>
          </a:solidFill>
          <a:ln/>
        </p:spPr>
      </p:sp>
      <p:sp>
        <p:nvSpPr>
          <p:cNvPr id="8" name="Shape 6"/>
          <p:cNvSpPr/>
          <p:nvPr/>
        </p:nvSpPr>
        <p:spPr>
          <a:xfrm>
            <a:off x="1042416" y="1527048"/>
            <a:ext cx="100584" cy="100584"/>
          </a:xfrm>
          <a:prstGeom prst="ellipse">
            <a:avLst/>
          </a:prstGeom>
          <a:solidFill>
            <a:srgbClr val="6FCF97"/>
          </a:solidFill>
          <a:ln/>
        </p:spPr>
      </p:sp>
      <p:sp>
        <p:nvSpPr>
          <p:cNvPr id="9" name="Shape 7"/>
          <p:cNvSpPr/>
          <p:nvPr/>
        </p:nvSpPr>
        <p:spPr>
          <a:xfrm>
            <a:off x="1325880" y="1490472"/>
            <a:ext cx="5532120" cy="164592"/>
          </a:xfrm>
          <a:prstGeom prst="roundRect">
            <a:avLst>
              <a:gd name="adj" fmla="val 50000"/>
            </a:avLst>
          </a:prstGeom>
          <a:solidFill>
            <a:srgbClr val="FFFFFF"/>
          </a:solidFill>
          <a:ln w="6350">
            <a:solidFill>
              <a:srgbClr val="D6E5F2"/>
            </a:solidFill>
            <a:prstDash val="solid"/>
          </a:ln>
        </p:spPr>
      </p:sp>
      <p:sp>
        <p:nvSpPr>
          <p:cNvPr id="10" name="Text 8"/>
          <p:cNvSpPr/>
          <p:nvPr/>
        </p:nvSpPr>
        <p:spPr>
          <a:xfrm>
            <a:off x="1417320" y="1485900"/>
            <a:ext cx="5440680" cy="173736"/>
          </a:xfrm>
          <a:prstGeom prst="rect">
            <a:avLst/>
          </a:prstGeom>
          <a:noFill/>
          <a:ln/>
        </p:spPr>
        <p:txBody>
          <a:bodyPr wrap="square" lIns="0" tIns="0" rIns="0" bIns="0" rtlCol="0" anchor="ctr"/>
          <a:lstStyle/>
          <a:p>
            <a:pPr indent="0" marL="0">
              <a:buNone/>
            </a:pPr>
            <a:r>
              <a:rPr lang="en-US" sz="800" dirty="0">
                <a:solidFill>
                  <a:srgbClr val="55677E"/>
                </a:solidFill>
                <a:latin typeface="Calibri" pitchFamily="34" charset="0"/>
                <a:ea typeface="Calibri" pitchFamily="34" charset="-122"/>
                <a:cs typeface="Calibri" pitchFamily="34" charset="-120"/>
              </a:rPr>
              <a:t>medsev/default/index-2.html</a:t>
            </a:r>
            <a:endParaRPr lang="en-US" sz="800" dirty="0"/>
          </a:p>
        </p:txBody>
      </p:sp>
      <p:sp>
        <p:nvSpPr>
          <p:cNvPr id="11" name="Shape 9"/>
          <p:cNvSpPr/>
          <p:nvPr/>
        </p:nvSpPr>
        <p:spPr>
          <a:xfrm>
            <a:off x="676656" y="1837944"/>
            <a:ext cx="6281928" cy="1417320"/>
          </a:xfrm>
          <a:prstGeom prst="roundRect">
            <a:avLst>
              <a:gd name="adj" fmla="val 3226"/>
            </a:avLst>
          </a:prstGeom>
          <a:solidFill>
            <a:srgbClr val="0B5FA4"/>
          </a:solidFill>
          <a:ln/>
        </p:spPr>
      </p:sp>
      <p:sp>
        <p:nvSpPr>
          <p:cNvPr id="12" name="Text 10"/>
          <p:cNvSpPr/>
          <p:nvPr/>
        </p:nvSpPr>
        <p:spPr>
          <a:xfrm>
            <a:off x="996696" y="2039112"/>
            <a:ext cx="3769157" cy="777240"/>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mbria" pitchFamily="34" charset="0"/>
                <a:ea typeface="Cambria" pitchFamily="34" charset="-122"/>
                <a:cs typeface="Cambria" pitchFamily="34" charset="-120"/>
              </a:rPr>
              <a:t>We have Fantastic Doctors</a:t>
            </a:r>
            <a:endParaRPr lang="en-US" sz="1500" dirty="0"/>
          </a:p>
          <a:p>
            <a:pPr indent="0" marL="0">
              <a:lnSpc>
                <a:spcPct val="105000"/>
              </a:lnSpc>
              <a:buNone/>
            </a:pPr>
            <a:r>
              <a:rPr lang="en-US" sz="1500" b="1" dirty="0">
                <a:solidFill>
                  <a:srgbClr val="FFFFFF"/>
                </a:solidFill>
                <a:latin typeface="Cambria" pitchFamily="34" charset="0"/>
                <a:ea typeface="Cambria" pitchFamily="34" charset="-122"/>
                <a:cs typeface="Cambria" pitchFamily="34" charset="-120"/>
              </a:rPr>
              <a:t>and Dentists</a:t>
            </a:r>
            <a:endParaRPr lang="en-US" sz="1500" dirty="0"/>
          </a:p>
        </p:txBody>
      </p:sp>
      <p:sp>
        <p:nvSpPr>
          <p:cNvPr id="13" name="Shape 11"/>
          <p:cNvSpPr/>
          <p:nvPr/>
        </p:nvSpPr>
        <p:spPr>
          <a:xfrm>
            <a:off x="996696" y="2843784"/>
            <a:ext cx="1371600" cy="256032"/>
          </a:xfrm>
          <a:prstGeom prst="roundRect">
            <a:avLst>
              <a:gd name="adj" fmla="val 50000"/>
            </a:avLst>
          </a:prstGeom>
          <a:solidFill>
            <a:srgbClr val="00B4A6"/>
          </a:solidFill>
          <a:ln/>
        </p:spPr>
      </p:sp>
      <p:sp>
        <p:nvSpPr>
          <p:cNvPr id="14" name="Text 12"/>
          <p:cNvSpPr/>
          <p:nvPr/>
        </p:nvSpPr>
        <p:spPr>
          <a:xfrm>
            <a:off x="996696" y="2843784"/>
            <a:ext cx="137160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Get Appointment</a:t>
            </a:r>
            <a:endParaRPr lang="en-US" sz="900" dirty="0"/>
          </a:p>
        </p:txBody>
      </p:sp>
      <p:sp>
        <p:nvSpPr>
          <p:cNvPr id="15" name="Shape 13"/>
          <p:cNvSpPr/>
          <p:nvPr/>
        </p:nvSpPr>
        <p:spPr>
          <a:xfrm>
            <a:off x="2487168" y="2843784"/>
            <a:ext cx="1051560" cy="256032"/>
          </a:xfrm>
          <a:prstGeom prst="roundRect">
            <a:avLst>
              <a:gd name="adj" fmla="val 50000"/>
            </a:avLst>
          </a:prstGeom>
          <a:solidFill>
            <a:srgbClr val="FFFFFF"/>
          </a:solidFill>
          <a:ln/>
        </p:spPr>
      </p:sp>
      <p:sp>
        <p:nvSpPr>
          <p:cNvPr id="16" name="Text 14"/>
          <p:cNvSpPr/>
          <p:nvPr/>
        </p:nvSpPr>
        <p:spPr>
          <a:xfrm>
            <a:off x="2487168" y="2843784"/>
            <a:ext cx="1051560" cy="256032"/>
          </a:xfrm>
          <a:prstGeom prst="rect">
            <a:avLst/>
          </a:prstGeom>
          <a:noFill/>
          <a:ln/>
        </p:spPr>
        <p:txBody>
          <a:bodyPr wrap="square" lIns="0" tIns="0" rIns="0" bIns="0" rtlCol="0" anchor="ctr"/>
          <a:lstStyle/>
          <a:p>
            <a:pPr algn="ctr" indent="0" marL="0">
              <a:buNone/>
            </a:pPr>
            <a:r>
              <a:rPr lang="en-US" sz="900" b="1" dirty="0">
                <a:solidFill>
                  <a:srgbClr val="0B5FA4"/>
                </a:solidFill>
                <a:latin typeface="Calibri" pitchFamily="34" charset="0"/>
                <a:ea typeface="Calibri" pitchFamily="34" charset="-122"/>
                <a:cs typeface="Calibri" pitchFamily="34" charset="-120"/>
              </a:rPr>
              <a:t>Learn More</a:t>
            </a:r>
            <a:endParaRPr lang="en-US" sz="900" dirty="0"/>
          </a:p>
        </p:txBody>
      </p:sp>
      <p:sp>
        <p:nvSpPr>
          <p:cNvPr id="17" name="Shape 15"/>
          <p:cNvSpPr/>
          <p:nvPr/>
        </p:nvSpPr>
        <p:spPr>
          <a:xfrm>
            <a:off x="5724144" y="2157984"/>
            <a:ext cx="777240" cy="777240"/>
          </a:xfrm>
          <a:prstGeom prst="ellipse">
            <a:avLst/>
          </a:prstGeom>
          <a:solidFill>
            <a:srgbClr val="FFFFFF"/>
          </a:solidFill>
          <a:ln/>
        </p:spPr>
      </p:sp>
      <p:pic>
        <p:nvPicPr>
          <p:cNvPr id="18" name="Image 0" descr="/home/claude/medsev-ppt/icons/stethoscope_0B5FA4.png">    </p:cNvPr>
          <p:cNvPicPr>
            <a:picLocks noChangeAspect="1"/>
          </p:cNvPicPr>
          <p:nvPr/>
        </p:nvPicPr>
        <p:blipFill>
          <a:blip r:embed="rId1"/>
          <a:stretch>
            <a:fillRect/>
          </a:stretch>
        </p:blipFill>
        <p:spPr>
          <a:xfrm>
            <a:off x="5918454" y="2352294"/>
            <a:ext cx="388620" cy="388620"/>
          </a:xfrm>
          <a:prstGeom prst="rect">
            <a:avLst/>
          </a:prstGeom>
        </p:spPr>
      </p:pic>
      <p:sp>
        <p:nvSpPr>
          <p:cNvPr id="19" name="Text 16"/>
          <p:cNvSpPr/>
          <p:nvPr/>
        </p:nvSpPr>
        <p:spPr>
          <a:xfrm>
            <a:off x="676656" y="3438144"/>
            <a:ext cx="1524762" cy="292608"/>
          </a:xfrm>
          <a:prstGeom prst="rect">
            <a:avLst/>
          </a:prstGeom>
          <a:noFill/>
          <a:ln/>
        </p:spPr>
        <p:txBody>
          <a:bodyPr wrap="square" lIns="0" tIns="0" rIns="0" bIns="0" rtlCol="0" anchor="ctr"/>
          <a:lstStyle/>
          <a:p>
            <a:pPr algn="ctr" indent="0" marL="0">
              <a:buNone/>
            </a:pPr>
            <a:r>
              <a:rPr lang="en-US" sz="1500" b="1" dirty="0">
                <a:solidFill>
                  <a:srgbClr val="0B5FA4"/>
                </a:solidFill>
                <a:latin typeface="Cambria" pitchFamily="34" charset="0"/>
                <a:ea typeface="Cambria" pitchFamily="34" charset="-122"/>
                <a:cs typeface="Cambria" pitchFamily="34" charset="-120"/>
              </a:rPr>
              <a:t>00</a:t>
            </a:r>
            <a:endParaRPr lang="en-US" sz="1500" dirty="0"/>
          </a:p>
        </p:txBody>
      </p:sp>
      <p:sp>
        <p:nvSpPr>
          <p:cNvPr id="20" name="Text 17"/>
          <p:cNvSpPr/>
          <p:nvPr/>
        </p:nvSpPr>
        <p:spPr>
          <a:xfrm>
            <a:off x="676656" y="3730752"/>
            <a:ext cx="1524762" cy="219456"/>
          </a:xfrm>
          <a:prstGeom prst="rect">
            <a:avLst/>
          </a:prstGeom>
          <a:noFill/>
          <a:ln/>
        </p:spPr>
        <p:txBody>
          <a:bodyPr wrap="square" lIns="0" tIns="0" rIns="0" bIns="0" rtlCol="0" anchor="ctr"/>
          <a:lstStyle/>
          <a:p>
            <a:pPr algn="ctr" indent="0" marL="0">
              <a:buNone/>
            </a:pPr>
            <a:r>
              <a:rPr lang="en-US" sz="800" dirty="0">
                <a:solidFill>
                  <a:srgbClr val="55677E"/>
                </a:solidFill>
                <a:latin typeface="Calibri" pitchFamily="34" charset="0"/>
                <a:ea typeface="Calibri" pitchFamily="34" charset="-122"/>
                <a:cs typeface="Calibri" pitchFamily="34" charset="-120"/>
              </a:rPr>
              <a:t>Beds</a:t>
            </a:r>
            <a:endParaRPr lang="en-US" sz="800" dirty="0"/>
          </a:p>
        </p:txBody>
      </p:sp>
      <p:sp>
        <p:nvSpPr>
          <p:cNvPr id="21" name="Text 18"/>
          <p:cNvSpPr/>
          <p:nvPr/>
        </p:nvSpPr>
        <p:spPr>
          <a:xfrm>
            <a:off x="2247138" y="3438144"/>
            <a:ext cx="1524762" cy="292608"/>
          </a:xfrm>
          <a:prstGeom prst="rect">
            <a:avLst/>
          </a:prstGeom>
          <a:noFill/>
          <a:ln/>
        </p:spPr>
        <p:txBody>
          <a:bodyPr wrap="square" lIns="0" tIns="0" rIns="0" bIns="0" rtlCol="0" anchor="ctr"/>
          <a:lstStyle/>
          <a:p>
            <a:pPr algn="ctr" indent="0" marL="0">
              <a:buNone/>
            </a:pPr>
            <a:r>
              <a:rPr lang="en-US" sz="1500" b="1" dirty="0">
                <a:solidFill>
                  <a:srgbClr val="0B5FA4"/>
                </a:solidFill>
                <a:latin typeface="Cambria" pitchFamily="34" charset="0"/>
                <a:ea typeface="Cambria" pitchFamily="34" charset="-122"/>
                <a:cs typeface="Cambria" pitchFamily="34" charset="-120"/>
              </a:rPr>
              <a:t>00+</a:t>
            </a:r>
            <a:endParaRPr lang="en-US" sz="1500" dirty="0"/>
          </a:p>
        </p:txBody>
      </p:sp>
      <p:sp>
        <p:nvSpPr>
          <p:cNvPr id="22" name="Text 19"/>
          <p:cNvSpPr/>
          <p:nvPr/>
        </p:nvSpPr>
        <p:spPr>
          <a:xfrm>
            <a:off x="2247138" y="3730752"/>
            <a:ext cx="1524762" cy="219456"/>
          </a:xfrm>
          <a:prstGeom prst="rect">
            <a:avLst/>
          </a:prstGeom>
          <a:noFill/>
          <a:ln/>
        </p:spPr>
        <p:txBody>
          <a:bodyPr wrap="square" lIns="0" tIns="0" rIns="0" bIns="0" rtlCol="0" anchor="ctr"/>
          <a:lstStyle/>
          <a:p>
            <a:pPr algn="ctr" indent="0" marL="0">
              <a:buNone/>
            </a:pPr>
            <a:r>
              <a:rPr lang="en-US" sz="800" dirty="0">
                <a:solidFill>
                  <a:srgbClr val="55677E"/>
                </a:solidFill>
                <a:latin typeface="Calibri" pitchFamily="34" charset="0"/>
                <a:ea typeface="Calibri" pitchFamily="34" charset="-122"/>
                <a:cs typeface="Calibri" pitchFamily="34" charset="-120"/>
              </a:rPr>
              <a:t>Patients</a:t>
            </a:r>
            <a:endParaRPr lang="en-US" sz="800" dirty="0"/>
          </a:p>
        </p:txBody>
      </p:sp>
      <p:sp>
        <p:nvSpPr>
          <p:cNvPr id="23" name="Text 20"/>
          <p:cNvSpPr/>
          <p:nvPr/>
        </p:nvSpPr>
        <p:spPr>
          <a:xfrm>
            <a:off x="3817620" y="3438144"/>
            <a:ext cx="1524762" cy="292608"/>
          </a:xfrm>
          <a:prstGeom prst="rect">
            <a:avLst/>
          </a:prstGeom>
          <a:noFill/>
          <a:ln/>
        </p:spPr>
        <p:txBody>
          <a:bodyPr wrap="square" lIns="0" tIns="0" rIns="0" bIns="0" rtlCol="0" anchor="ctr"/>
          <a:lstStyle/>
          <a:p>
            <a:pPr algn="ctr" indent="0" marL="0">
              <a:buNone/>
            </a:pPr>
            <a:r>
              <a:rPr lang="en-US" sz="1500" b="1" dirty="0">
                <a:solidFill>
                  <a:srgbClr val="0B5FA4"/>
                </a:solidFill>
                <a:latin typeface="Cambria" pitchFamily="34" charset="0"/>
                <a:ea typeface="Cambria" pitchFamily="34" charset="-122"/>
                <a:cs typeface="Cambria" pitchFamily="34" charset="-120"/>
              </a:rPr>
              <a:t>00</a:t>
            </a:r>
            <a:endParaRPr lang="en-US" sz="1500" dirty="0"/>
          </a:p>
        </p:txBody>
      </p:sp>
      <p:sp>
        <p:nvSpPr>
          <p:cNvPr id="24" name="Text 21"/>
          <p:cNvSpPr/>
          <p:nvPr/>
        </p:nvSpPr>
        <p:spPr>
          <a:xfrm>
            <a:off x="3817620" y="3730752"/>
            <a:ext cx="1524762" cy="219456"/>
          </a:xfrm>
          <a:prstGeom prst="rect">
            <a:avLst/>
          </a:prstGeom>
          <a:noFill/>
          <a:ln/>
        </p:spPr>
        <p:txBody>
          <a:bodyPr wrap="square" lIns="0" tIns="0" rIns="0" bIns="0" rtlCol="0" anchor="ctr"/>
          <a:lstStyle/>
          <a:p>
            <a:pPr algn="ctr" indent="0" marL="0">
              <a:buNone/>
            </a:pPr>
            <a:r>
              <a:rPr lang="en-US" sz="800" dirty="0">
                <a:solidFill>
                  <a:srgbClr val="55677E"/>
                </a:solidFill>
                <a:latin typeface="Calibri" pitchFamily="34" charset="0"/>
                <a:ea typeface="Calibri" pitchFamily="34" charset="-122"/>
                <a:cs typeface="Calibri" pitchFamily="34" charset="-120"/>
              </a:rPr>
              <a:t>Doctors</a:t>
            </a:r>
            <a:endParaRPr lang="en-US" sz="800" dirty="0"/>
          </a:p>
        </p:txBody>
      </p:sp>
      <p:sp>
        <p:nvSpPr>
          <p:cNvPr id="25" name="Text 22"/>
          <p:cNvSpPr/>
          <p:nvPr/>
        </p:nvSpPr>
        <p:spPr>
          <a:xfrm>
            <a:off x="5388102" y="3438144"/>
            <a:ext cx="1524762" cy="292608"/>
          </a:xfrm>
          <a:prstGeom prst="rect">
            <a:avLst/>
          </a:prstGeom>
          <a:noFill/>
          <a:ln/>
        </p:spPr>
        <p:txBody>
          <a:bodyPr wrap="square" lIns="0" tIns="0" rIns="0" bIns="0" rtlCol="0" anchor="ctr"/>
          <a:lstStyle/>
          <a:p>
            <a:pPr algn="ctr" indent="0" marL="0">
              <a:buNone/>
            </a:pPr>
            <a:r>
              <a:rPr lang="en-US" sz="1500" b="1" dirty="0">
                <a:solidFill>
                  <a:srgbClr val="0B5FA4"/>
                </a:solidFill>
                <a:latin typeface="Cambria" pitchFamily="34" charset="0"/>
                <a:ea typeface="Cambria" pitchFamily="34" charset="-122"/>
                <a:cs typeface="Cambria" pitchFamily="34" charset="-120"/>
              </a:rPr>
              <a:t>00</a:t>
            </a:r>
            <a:endParaRPr lang="en-US" sz="1500" dirty="0"/>
          </a:p>
        </p:txBody>
      </p:sp>
      <p:sp>
        <p:nvSpPr>
          <p:cNvPr id="26" name="Text 23"/>
          <p:cNvSpPr/>
          <p:nvPr/>
        </p:nvSpPr>
        <p:spPr>
          <a:xfrm>
            <a:off x="5388102" y="3730752"/>
            <a:ext cx="1524762" cy="219456"/>
          </a:xfrm>
          <a:prstGeom prst="rect">
            <a:avLst/>
          </a:prstGeom>
          <a:noFill/>
          <a:ln/>
        </p:spPr>
        <p:txBody>
          <a:bodyPr wrap="square" lIns="0" tIns="0" rIns="0" bIns="0" rtlCol="0" anchor="ctr"/>
          <a:lstStyle/>
          <a:p>
            <a:pPr algn="ctr" indent="0" marL="0">
              <a:buNone/>
            </a:pPr>
            <a:r>
              <a:rPr lang="en-US" sz="800" dirty="0">
                <a:solidFill>
                  <a:srgbClr val="55677E"/>
                </a:solidFill>
                <a:latin typeface="Calibri" pitchFamily="34" charset="0"/>
                <a:ea typeface="Calibri" pitchFamily="34" charset="-122"/>
                <a:cs typeface="Calibri" pitchFamily="34" charset="-120"/>
              </a:rPr>
              <a:t>Experience</a:t>
            </a:r>
            <a:endParaRPr lang="en-US" sz="800" dirty="0"/>
          </a:p>
        </p:txBody>
      </p:sp>
      <p:sp>
        <p:nvSpPr>
          <p:cNvPr id="27" name="Shape 24"/>
          <p:cNvSpPr/>
          <p:nvPr/>
        </p:nvSpPr>
        <p:spPr>
          <a:xfrm>
            <a:off x="676656" y="4096512"/>
            <a:ext cx="1479042" cy="1051560"/>
          </a:xfrm>
          <a:prstGeom prst="roundRect">
            <a:avLst>
              <a:gd name="adj" fmla="val 5217"/>
            </a:avLst>
          </a:prstGeom>
          <a:solidFill>
            <a:srgbClr val="F6FAFD"/>
          </a:solidFill>
          <a:ln w="9525">
            <a:solidFill>
              <a:srgbClr val="D6E5F2"/>
            </a:solidFill>
            <a:prstDash val="solid"/>
          </a:ln>
        </p:spPr>
      </p:sp>
      <p:sp>
        <p:nvSpPr>
          <p:cNvPr id="28" name="Shape 25"/>
          <p:cNvSpPr/>
          <p:nvPr/>
        </p:nvSpPr>
        <p:spPr>
          <a:xfrm>
            <a:off x="1196721" y="4224528"/>
            <a:ext cx="438912" cy="438912"/>
          </a:xfrm>
          <a:prstGeom prst="ellipse">
            <a:avLst/>
          </a:prstGeom>
          <a:solidFill>
            <a:srgbClr val="FFFFFF"/>
          </a:solidFill>
          <a:ln/>
        </p:spPr>
      </p:sp>
      <p:pic>
        <p:nvPicPr>
          <p:cNvPr id="29" name="Image 1" descr="/home/claude/medsev-ppt/icons/heart_0B5FA4.png">    </p:cNvPr>
          <p:cNvPicPr>
            <a:picLocks noChangeAspect="1"/>
          </p:cNvPicPr>
          <p:nvPr/>
        </p:nvPicPr>
        <p:blipFill>
          <a:blip r:embed="rId2"/>
          <a:stretch>
            <a:fillRect/>
          </a:stretch>
        </p:blipFill>
        <p:spPr>
          <a:xfrm>
            <a:off x="1295476" y="4323283"/>
            <a:ext cx="241402" cy="241402"/>
          </a:xfrm>
          <a:prstGeom prst="rect">
            <a:avLst/>
          </a:prstGeom>
        </p:spPr>
      </p:pic>
      <p:sp>
        <p:nvSpPr>
          <p:cNvPr id="30" name="Shape 26"/>
          <p:cNvSpPr/>
          <p:nvPr/>
        </p:nvSpPr>
        <p:spPr>
          <a:xfrm>
            <a:off x="786384" y="4754880"/>
            <a:ext cx="1259586" cy="54864"/>
          </a:xfrm>
          <a:prstGeom prst="roundRect">
            <a:avLst>
              <a:gd name="adj" fmla="val 33333"/>
            </a:avLst>
          </a:prstGeom>
          <a:solidFill>
            <a:srgbClr val="D6E5F2"/>
          </a:solidFill>
          <a:ln/>
        </p:spPr>
      </p:sp>
      <p:sp>
        <p:nvSpPr>
          <p:cNvPr id="31" name="Shape 27"/>
          <p:cNvSpPr/>
          <p:nvPr/>
        </p:nvSpPr>
        <p:spPr>
          <a:xfrm>
            <a:off x="786384" y="4873752"/>
            <a:ext cx="818731" cy="43891"/>
          </a:xfrm>
          <a:prstGeom prst="roundRect">
            <a:avLst>
              <a:gd name="adj" fmla="val 41667"/>
            </a:avLst>
          </a:prstGeom>
          <a:solidFill>
            <a:srgbClr val="D6E5F2"/>
          </a:solidFill>
          <a:ln/>
        </p:spPr>
      </p:sp>
      <p:sp>
        <p:nvSpPr>
          <p:cNvPr id="32" name="Shape 28"/>
          <p:cNvSpPr/>
          <p:nvPr/>
        </p:nvSpPr>
        <p:spPr>
          <a:xfrm>
            <a:off x="2247138" y="4096512"/>
            <a:ext cx="1479042" cy="1051560"/>
          </a:xfrm>
          <a:prstGeom prst="roundRect">
            <a:avLst>
              <a:gd name="adj" fmla="val 5217"/>
            </a:avLst>
          </a:prstGeom>
          <a:solidFill>
            <a:srgbClr val="F6FAFD"/>
          </a:solidFill>
          <a:ln w="9525">
            <a:solidFill>
              <a:srgbClr val="D6E5F2"/>
            </a:solidFill>
            <a:prstDash val="solid"/>
          </a:ln>
        </p:spPr>
      </p:sp>
      <p:sp>
        <p:nvSpPr>
          <p:cNvPr id="33" name="Shape 29"/>
          <p:cNvSpPr/>
          <p:nvPr/>
        </p:nvSpPr>
        <p:spPr>
          <a:xfrm>
            <a:off x="2767203" y="4224528"/>
            <a:ext cx="438912" cy="438912"/>
          </a:xfrm>
          <a:prstGeom prst="ellipse">
            <a:avLst/>
          </a:prstGeom>
          <a:solidFill>
            <a:srgbClr val="FFFFFF"/>
          </a:solidFill>
          <a:ln/>
        </p:spPr>
      </p:sp>
      <p:pic>
        <p:nvPicPr>
          <p:cNvPr id="34" name="Image 2" descr="/home/claude/medsev-ppt/icons/tooth_0B5FA4.png">    </p:cNvPr>
          <p:cNvPicPr>
            <a:picLocks noChangeAspect="1"/>
          </p:cNvPicPr>
          <p:nvPr/>
        </p:nvPicPr>
        <p:blipFill>
          <a:blip r:embed="rId3"/>
          <a:stretch>
            <a:fillRect/>
          </a:stretch>
        </p:blipFill>
        <p:spPr>
          <a:xfrm>
            <a:off x="2865958" y="4323283"/>
            <a:ext cx="241402" cy="241402"/>
          </a:xfrm>
          <a:prstGeom prst="rect">
            <a:avLst/>
          </a:prstGeom>
        </p:spPr>
      </p:pic>
      <p:sp>
        <p:nvSpPr>
          <p:cNvPr id="35" name="Shape 30"/>
          <p:cNvSpPr/>
          <p:nvPr/>
        </p:nvSpPr>
        <p:spPr>
          <a:xfrm>
            <a:off x="2356866" y="4754880"/>
            <a:ext cx="1259586" cy="54864"/>
          </a:xfrm>
          <a:prstGeom prst="roundRect">
            <a:avLst>
              <a:gd name="adj" fmla="val 33333"/>
            </a:avLst>
          </a:prstGeom>
          <a:solidFill>
            <a:srgbClr val="D6E5F2"/>
          </a:solidFill>
          <a:ln/>
        </p:spPr>
      </p:sp>
      <p:sp>
        <p:nvSpPr>
          <p:cNvPr id="36" name="Shape 31"/>
          <p:cNvSpPr/>
          <p:nvPr/>
        </p:nvSpPr>
        <p:spPr>
          <a:xfrm>
            <a:off x="2356866" y="4873752"/>
            <a:ext cx="818731" cy="43891"/>
          </a:xfrm>
          <a:prstGeom prst="roundRect">
            <a:avLst>
              <a:gd name="adj" fmla="val 41667"/>
            </a:avLst>
          </a:prstGeom>
          <a:solidFill>
            <a:srgbClr val="D6E5F2"/>
          </a:solidFill>
          <a:ln/>
        </p:spPr>
      </p:sp>
      <p:sp>
        <p:nvSpPr>
          <p:cNvPr id="37" name="Shape 32"/>
          <p:cNvSpPr/>
          <p:nvPr/>
        </p:nvSpPr>
        <p:spPr>
          <a:xfrm>
            <a:off x="3817620" y="4096512"/>
            <a:ext cx="1479042" cy="1051560"/>
          </a:xfrm>
          <a:prstGeom prst="roundRect">
            <a:avLst>
              <a:gd name="adj" fmla="val 5217"/>
            </a:avLst>
          </a:prstGeom>
          <a:solidFill>
            <a:srgbClr val="F6FAFD"/>
          </a:solidFill>
          <a:ln w="9525">
            <a:solidFill>
              <a:srgbClr val="D6E5F2"/>
            </a:solidFill>
            <a:prstDash val="solid"/>
          </a:ln>
        </p:spPr>
      </p:sp>
      <p:sp>
        <p:nvSpPr>
          <p:cNvPr id="38" name="Shape 33"/>
          <p:cNvSpPr/>
          <p:nvPr/>
        </p:nvSpPr>
        <p:spPr>
          <a:xfrm>
            <a:off x="4337685" y="4224528"/>
            <a:ext cx="438912" cy="438912"/>
          </a:xfrm>
          <a:prstGeom prst="ellipse">
            <a:avLst/>
          </a:prstGeom>
          <a:solidFill>
            <a:srgbClr val="FFFFFF"/>
          </a:solidFill>
          <a:ln/>
        </p:spPr>
      </p:sp>
      <p:pic>
        <p:nvPicPr>
          <p:cNvPr id="39" name="Image 3" descr="/home/claude/medsev-ppt/icons/brain_0B5FA4.png">    </p:cNvPr>
          <p:cNvPicPr>
            <a:picLocks noChangeAspect="1"/>
          </p:cNvPicPr>
          <p:nvPr/>
        </p:nvPicPr>
        <p:blipFill>
          <a:blip r:embed="rId4"/>
          <a:stretch>
            <a:fillRect/>
          </a:stretch>
        </p:blipFill>
        <p:spPr>
          <a:xfrm>
            <a:off x="4436440" y="4323283"/>
            <a:ext cx="241402" cy="241402"/>
          </a:xfrm>
          <a:prstGeom prst="rect">
            <a:avLst/>
          </a:prstGeom>
        </p:spPr>
      </p:pic>
      <p:sp>
        <p:nvSpPr>
          <p:cNvPr id="40" name="Shape 34"/>
          <p:cNvSpPr/>
          <p:nvPr/>
        </p:nvSpPr>
        <p:spPr>
          <a:xfrm>
            <a:off x="3927348" y="4754880"/>
            <a:ext cx="1259586" cy="54864"/>
          </a:xfrm>
          <a:prstGeom prst="roundRect">
            <a:avLst>
              <a:gd name="adj" fmla="val 33333"/>
            </a:avLst>
          </a:prstGeom>
          <a:solidFill>
            <a:srgbClr val="D6E5F2"/>
          </a:solidFill>
          <a:ln/>
        </p:spPr>
      </p:sp>
      <p:sp>
        <p:nvSpPr>
          <p:cNvPr id="41" name="Shape 35"/>
          <p:cNvSpPr/>
          <p:nvPr/>
        </p:nvSpPr>
        <p:spPr>
          <a:xfrm>
            <a:off x="3927348" y="4873752"/>
            <a:ext cx="818731" cy="43891"/>
          </a:xfrm>
          <a:prstGeom prst="roundRect">
            <a:avLst>
              <a:gd name="adj" fmla="val 41667"/>
            </a:avLst>
          </a:prstGeom>
          <a:solidFill>
            <a:srgbClr val="D6E5F2"/>
          </a:solidFill>
          <a:ln/>
        </p:spPr>
      </p:sp>
      <p:sp>
        <p:nvSpPr>
          <p:cNvPr id="42" name="Shape 36"/>
          <p:cNvSpPr/>
          <p:nvPr/>
        </p:nvSpPr>
        <p:spPr>
          <a:xfrm>
            <a:off x="5388102" y="4096512"/>
            <a:ext cx="1479042" cy="1051560"/>
          </a:xfrm>
          <a:prstGeom prst="roundRect">
            <a:avLst>
              <a:gd name="adj" fmla="val 5217"/>
            </a:avLst>
          </a:prstGeom>
          <a:solidFill>
            <a:srgbClr val="F6FAFD"/>
          </a:solidFill>
          <a:ln w="9525">
            <a:solidFill>
              <a:srgbClr val="D6E5F2"/>
            </a:solidFill>
            <a:prstDash val="solid"/>
          </a:ln>
        </p:spPr>
      </p:sp>
      <p:sp>
        <p:nvSpPr>
          <p:cNvPr id="43" name="Shape 37"/>
          <p:cNvSpPr/>
          <p:nvPr/>
        </p:nvSpPr>
        <p:spPr>
          <a:xfrm>
            <a:off x="5908167" y="4224528"/>
            <a:ext cx="438912" cy="438912"/>
          </a:xfrm>
          <a:prstGeom prst="ellipse">
            <a:avLst/>
          </a:prstGeom>
          <a:solidFill>
            <a:srgbClr val="FFFFFF"/>
          </a:solidFill>
          <a:ln/>
        </p:spPr>
      </p:sp>
      <p:pic>
        <p:nvPicPr>
          <p:cNvPr id="44" name="Image 4" descr="/home/claude/medsev-ppt/icons/ambulance_0B5FA4.png">    </p:cNvPr>
          <p:cNvPicPr>
            <a:picLocks noChangeAspect="1"/>
          </p:cNvPicPr>
          <p:nvPr/>
        </p:nvPicPr>
        <p:blipFill>
          <a:blip r:embed="rId5"/>
          <a:stretch>
            <a:fillRect/>
          </a:stretch>
        </p:blipFill>
        <p:spPr>
          <a:xfrm>
            <a:off x="6006922" y="4323283"/>
            <a:ext cx="241402" cy="241402"/>
          </a:xfrm>
          <a:prstGeom prst="rect">
            <a:avLst/>
          </a:prstGeom>
        </p:spPr>
      </p:pic>
      <p:sp>
        <p:nvSpPr>
          <p:cNvPr id="45" name="Shape 38"/>
          <p:cNvSpPr/>
          <p:nvPr/>
        </p:nvSpPr>
        <p:spPr>
          <a:xfrm>
            <a:off x="5497830" y="4754880"/>
            <a:ext cx="1259586" cy="54864"/>
          </a:xfrm>
          <a:prstGeom prst="roundRect">
            <a:avLst>
              <a:gd name="adj" fmla="val 33333"/>
            </a:avLst>
          </a:prstGeom>
          <a:solidFill>
            <a:srgbClr val="D6E5F2"/>
          </a:solidFill>
          <a:ln/>
        </p:spPr>
      </p:sp>
      <p:sp>
        <p:nvSpPr>
          <p:cNvPr id="46" name="Shape 39"/>
          <p:cNvSpPr/>
          <p:nvPr/>
        </p:nvSpPr>
        <p:spPr>
          <a:xfrm>
            <a:off x="5497830" y="4873752"/>
            <a:ext cx="818731" cy="43891"/>
          </a:xfrm>
          <a:prstGeom prst="roundRect">
            <a:avLst>
              <a:gd name="adj" fmla="val 41667"/>
            </a:avLst>
          </a:prstGeom>
          <a:solidFill>
            <a:srgbClr val="D6E5F2"/>
          </a:solidFill>
          <a:ln/>
        </p:spPr>
      </p:sp>
      <p:sp>
        <p:nvSpPr>
          <p:cNvPr id="47" name="Text 40"/>
          <p:cNvSpPr/>
          <p:nvPr/>
        </p:nvSpPr>
        <p:spPr>
          <a:xfrm>
            <a:off x="7360920" y="1481328"/>
            <a:ext cx="4297680" cy="502920"/>
          </a:xfrm>
          <a:prstGeom prst="rect">
            <a:avLst/>
          </a:prstGeom>
          <a:noFill/>
          <a:ln/>
        </p:spPr>
        <p:txBody>
          <a:bodyPr wrap="square" lIns="0" tIns="0" rIns="0" bIns="0" rtlCol="0" anchor="ctr"/>
          <a:lstStyle/>
          <a:p>
            <a:pPr indent="0" marL="0">
              <a:buNone/>
            </a:pPr>
            <a:r>
              <a:rPr lang="en-US" sz="1550" b="1" dirty="0">
                <a:solidFill>
                  <a:srgbClr val="17263D"/>
                </a:solidFill>
                <a:latin typeface="Cambria" pitchFamily="34" charset="0"/>
                <a:ea typeface="Cambria" pitchFamily="34" charset="-122"/>
                <a:cs typeface="Cambria" pitchFamily="34" charset="-120"/>
              </a:rPr>
              <a:t>First impression that builds trust</a:t>
            </a:r>
            <a:endParaRPr lang="en-US" sz="1550" dirty="0"/>
          </a:p>
        </p:txBody>
      </p:sp>
      <p:sp>
        <p:nvSpPr>
          <p:cNvPr id="48" name="Text 41"/>
          <p:cNvSpPr/>
          <p:nvPr/>
        </p:nvSpPr>
        <p:spPr>
          <a:xfrm>
            <a:off x="7360920" y="2011680"/>
            <a:ext cx="4297680" cy="822960"/>
          </a:xfrm>
          <a:prstGeom prst="rect">
            <a:avLst/>
          </a:prstGeom>
          <a:noFill/>
          <a:ln/>
        </p:spPr>
        <p:txBody>
          <a:bodyPr wrap="square" lIns="0" tIns="0" rIns="0" bIns="0" rtlCol="0" anchor="ctr"/>
          <a:lstStyle/>
          <a:p>
            <a:pPr indent="0" marL="0">
              <a:lnSpc>
                <a:spcPct val="118000"/>
              </a:lnSpc>
              <a:buNone/>
            </a:pPr>
            <a:r>
              <a:rPr lang="en-US" sz="1160" dirty="0">
                <a:solidFill>
                  <a:srgbClr val="55677E"/>
                </a:solidFill>
                <a:latin typeface="Calibri" pitchFamily="34" charset="0"/>
                <a:ea typeface="Calibri" pitchFamily="34" charset="-122"/>
                <a:cs typeface="Calibri" pitchFamily="34" charset="-120"/>
              </a:rPr>
              <a:t>The homepage carries 5 interchangeable hero layouts, each pairing a bold headline with a direct "Get Appointment" call-to-action — putting the platform's core action above the fold.</a:t>
            </a:r>
            <a:endParaRPr lang="en-US" sz="1160" dirty="0"/>
          </a:p>
        </p:txBody>
      </p:sp>
      <p:sp>
        <p:nvSpPr>
          <p:cNvPr id="49" name="Shape 42"/>
          <p:cNvSpPr/>
          <p:nvPr/>
        </p:nvSpPr>
        <p:spPr>
          <a:xfrm>
            <a:off x="7360920" y="3017520"/>
            <a:ext cx="292608" cy="292608"/>
          </a:xfrm>
          <a:prstGeom prst="ellipse">
            <a:avLst/>
          </a:prstGeom>
          <a:solidFill>
            <a:srgbClr val="EAF3FB"/>
          </a:solidFill>
          <a:ln/>
        </p:spPr>
      </p:sp>
      <p:pic>
        <p:nvPicPr>
          <p:cNvPr id="50" name="Image 5" descr="/home/claude/medsev-ppt/icons/check_00B4A6.png">    </p:cNvPr>
          <p:cNvPicPr>
            <a:picLocks noChangeAspect="1"/>
          </p:cNvPicPr>
          <p:nvPr/>
        </p:nvPicPr>
        <p:blipFill>
          <a:blip r:embed="rId6"/>
          <a:stretch>
            <a:fillRect/>
          </a:stretch>
        </p:blipFill>
        <p:spPr>
          <a:xfrm>
            <a:off x="7419442" y="3076042"/>
            <a:ext cx="175565" cy="175565"/>
          </a:xfrm>
          <a:prstGeom prst="rect">
            <a:avLst/>
          </a:prstGeom>
        </p:spPr>
      </p:pic>
      <p:sp>
        <p:nvSpPr>
          <p:cNvPr id="51" name="Text 43"/>
          <p:cNvSpPr/>
          <p:nvPr/>
        </p:nvSpPr>
        <p:spPr>
          <a:xfrm>
            <a:off x="7763256" y="2999232"/>
            <a:ext cx="3886200" cy="457200"/>
          </a:xfrm>
          <a:prstGeom prst="rect">
            <a:avLst/>
          </a:prstGeom>
          <a:noFill/>
          <a:ln/>
        </p:spPr>
        <p:txBody>
          <a:bodyPr wrap="square" lIns="0" tIns="0" rIns="0" bIns="0" rtlCol="0" anchor="ctr"/>
          <a:lstStyle/>
          <a:p>
            <a:pPr indent="0" marL="0">
              <a:buNone/>
            </a:pPr>
            <a:r>
              <a:rPr lang="en-US" sz="1130" dirty="0">
                <a:solidFill>
                  <a:srgbClr val="17263D"/>
                </a:solidFill>
                <a:latin typeface="Calibri" pitchFamily="34" charset="0"/>
                <a:ea typeface="Calibri" pitchFamily="34" charset="-122"/>
                <a:cs typeface="Calibri" pitchFamily="34" charset="-120"/>
              </a:rPr>
              <a:t>Sticky navigation with emergency contact bar</a:t>
            </a:r>
            <a:endParaRPr lang="en-US" sz="1130" dirty="0"/>
          </a:p>
        </p:txBody>
      </p:sp>
      <p:sp>
        <p:nvSpPr>
          <p:cNvPr id="52" name="Shape 44"/>
          <p:cNvSpPr/>
          <p:nvPr/>
        </p:nvSpPr>
        <p:spPr>
          <a:xfrm>
            <a:off x="7360920" y="3520440"/>
            <a:ext cx="292608" cy="292608"/>
          </a:xfrm>
          <a:prstGeom prst="ellipse">
            <a:avLst/>
          </a:prstGeom>
          <a:solidFill>
            <a:srgbClr val="EAF3FB"/>
          </a:solidFill>
          <a:ln/>
        </p:spPr>
      </p:sp>
      <p:pic>
        <p:nvPicPr>
          <p:cNvPr id="53" name="Image 6" descr="/home/claude/medsev-ppt/icons/check_00B4A6.png">    </p:cNvPr>
          <p:cNvPicPr>
            <a:picLocks noChangeAspect="1"/>
          </p:cNvPicPr>
          <p:nvPr/>
        </p:nvPicPr>
        <p:blipFill>
          <a:blip r:embed="rId7"/>
          <a:stretch>
            <a:fillRect/>
          </a:stretch>
        </p:blipFill>
        <p:spPr>
          <a:xfrm>
            <a:off x="7419442" y="3578962"/>
            <a:ext cx="175565" cy="175565"/>
          </a:xfrm>
          <a:prstGeom prst="rect">
            <a:avLst/>
          </a:prstGeom>
        </p:spPr>
      </p:pic>
      <p:sp>
        <p:nvSpPr>
          <p:cNvPr id="54" name="Text 45"/>
          <p:cNvSpPr/>
          <p:nvPr/>
        </p:nvSpPr>
        <p:spPr>
          <a:xfrm>
            <a:off x="7763256" y="3502152"/>
            <a:ext cx="3886200" cy="457200"/>
          </a:xfrm>
          <a:prstGeom prst="rect">
            <a:avLst/>
          </a:prstGeom>
          <a:noFill/>
          <a:ln/>
        </p:spPr>
        <p:txBody>
          <a:bodyPr wrap="square" lIns="0" tIns="0" rIns="0" bIns="0" rtlCol="0" anchor="ctr"/>
          <a:lstStyle/>
          <a:p>
            <a:pPr indent="0" marL="0">
              <a:buNone/>
            </a:pPr>
            <a:r>
              <a:rPr lang="en-US" sz="1130" dirty="0">
                <a:solidFill>
                  <a:srgbClr val="17263D"/>
                </a:solidFill>
                <a:latin typeface="Calibri" pitchFamily="34" charset="0"/>
                <a:ea typeface="Calibri" pitchFamily="34" charset="-122"/>
                <a:cs typeface="Calibri" pitchFamily="34" charset="-120"/>
              </a:rPr>
              <a:t>Trust stats: beds, patients, doctors, experience</a:t>
            </a:r>
            <a:endParaRPr lang="en-US" sz="1130" dirty="0"/>
          </a:p>
        </p:txBody>
      </p:sp>
      <p:sp>
        <p:nvSpPr>
          <p:cNvPr id="55" name="Shape 46"/>
          <p:cNvSpPr/>
          <p:nvPr/>
        </p:nvSpPr>
        <p:spPr>
          <a:xfrm>
            <a:off x="7360920" y="4023360"/>
            <a:ext cx="292608" cy="292608"/>
          </a:xfrm>
          <a:prstGeom prst="ellipse">
            <a:avLst/>
          </a:prstGeom>
          <a:solidFill>
            <a:srgbClr val="EAF3FB"/>
          </a:solidFill>
          <a:ln/>
        </p:spPr>
      </p:sp>
      <p:pic>
        <p:nvPicPr>
          <p:cNvPr id="56" name="Image 7" descr="/home/claude/medsev-ppt/icons/check_00B4A6.png">    </p:cNvPr>
          <p:cNvPicPr>
            <a:picLocks noChangeAspect="1"/>
          </p:cNvPicPr>
          <p:nvPr/>
        </p:nvPicPr>
        <p:blipFill>
          <a:blip r:embed="rId8"/>
          <a:stretch>
            <a:fillRect/>
          </a:stretch>
        </p:blipFill>
        <p:spPr>
          <a:xfrm>
            <a:off x="7419442" y="4081882"/>
            <a:ext cx="175565" cy="175565"/>
          </a:xfrm>
          <a:prstGeom prst="rect">
            <a:avLst/>
          </a:prstGeom>
        </p:spPr>
      </p:pic>
      <p:sp>
        <p:nvSpPr>
          <p:cNvPr id="57" name="Text 47"/>
          <p:cNvSpPr/>
          <p:nvPr/>
        </p:nvSpPr>
        <p:spPr>
          <a:xfrm>
            <a:off x="7763256" y="4005072"/>
            <a:ext cx="3886200" cy="457200"/>
          </a:xfrm>
          <a:prstGeom prst="rect">
            <a:avLst/>
          </a:prstGeom>
          <a:noFill/>
          <a:ln/>
        </p:spPr>
        <p:txBody>
          <a:bodyPr wrap="square" lIns="0" tIns="0" rIns="0" bIns="0" rtlCol="0" anchor="ctr"/>
          <a:lstStyle/>
          <a:p>
            <a:pPr indent="0" marL="0">
              <a:buNone/>
            </a:pPr>
            <a:r>
              <a:rPr lang="en-US" sz="1130" dirty="0">
                <a:solidFill>
                  <a:srgbClr val="17263D"/>
                </a:solidFill>
                <a:latin typeface="Calibri" pitchFamily="34" charset="0"/>
                <a:ea typeface="Calibri" pitchFamily="34" charset="-122"/>
                <a:cs typeface="Calibri" pitchFamily="34" charset="-120"/>
              </a:rPr>
              <a:t>Service preview cards linking to full details</a:t>
            </a:r>
            <a:endParaRPr lang="en-US" sz="1130" dirty="0"/>
          </a:p>
        </p:txBody>
      </p:sp>
      <p:sp>
        <p:nvSpPr>
          <p:cNvPr id="58" name="Shape 48"/>
          <p:cNvSpPr/>
          <p:nvPr/>
        </p:nvSpPr>
        <p:spPr>
          <a:xfrm>
            <a:off x="7360920" y="4526280"/>
            <a:ext cx="292608" cy="292608"/>
          </a:xfrm>
          <a:prstGeom prst="ellipse">
            <a:avLst/>
          </a:prstGeom>
          <a:solidFill>
            <a:srgbClr val="EAF3FB"/>
          </a:solidFill>
          <a:ln/>
        </p:spPr>
      </p:sp>
      <p:pic>
        <p:nvPicPr>
          <p:cNvPr id="59" name="Image 8" descr="/home/claude/medsev-ppt/icons/check_00B4A6.png">    </p:cNvPr>
          <p:cNvPicPr>
            <a:picLocks noChangeAspect="1"/>
          </p:cNvPicPr>
          <p:nvPr/>
        </p:nvPicPr>
        <p:blipFill>
          <a:blip r:embed="rId9"/>
          <a:stretch>
            <a:fillRect/>
          </a:stretch>
        </p:blipFill>
        <p:spPr>
          <a:xfrm>
            <a:off x="7419442" y="4584802"/>
            <a:ext cx="175565" cy="175565"/>
          </a:xfrm>
          <a:prstGeom prst="rect">
            <a:avLst/>
          </a:prstGeom>
        </p:spPr>
      </p:pic>
      <p:sp>
        <p:nvSpPr>
          <p:cNvPr id="60" name="Text 49"/>
          <p:cNvSpPr/>
          <p:nvPr/>
        </p:nvSpPr>
        <p:spPr>
          <a:xfrm>
            <a:off x="7763256" y="4507992"/>
            <a:ext cx="3886200" cy="457200"/>
          </a:xfrm>
          <a:prstGeom prst="rect">
            <a:avLst/>
          </a:prstGeom>
          <a:noFill/>
          <a:ln/>
        </p:spPr>
        <p:txBody>
          <a:bodyPr wrap="square" lIns="0" tIns="0" rIns="0" bIns="0" rtlCol="0" anchor="ctr"/>
          <a:lstStyle/>
          <a:p>
            <a:pPr indent="0" marL="0">
              <a:buNone/>
            </a:pPr>
            <a:r>
              <a:rPr lang="en-US" sz="1130" dirty="0">
                <a:solidFill>
                  <a:srgbClr val="17263D"/>
                </a:solidFill>
                <a:latin typeface="Calibri" pitchFamily="34" charset="0"/>
                <a:ea typeface="Calibri" pitchFamily="34" charset="-122"/>
                <a:cs typeface="Calibri" pitchFamily="34" charset="-120"/>
              </a:rPr>
              <a:t>Embedded video introduction &amp; doctor teasers</a:t>
            </a:r>
            <a:endParaRPr lang="en-US" sz="1130" dirty="0"/>
          </a:p>
        </p:txBody>
      </p:sp>
      <p:sp>
        <p:nvSpPr>
          <p:cNvPr id="61" name="Text 50"/>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62" name="Text 51"/>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Home Page</a:t>
            </a:r>
            <a:endParaRPr lang="en-US" sz="900" dirty="0"/>
          </a:p>
        </p:txBody>
      </p:sp>
      <p:sp>
        <p:nvSpPr>
          <p:cNvPr id="63" name="Text 52"/>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4 / 23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PAGE WALKTHROUGH · 02</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About Us</a:t>
            </a:r>
            <a:endParaRPr lang="en-US" sz="3000" dirty="0"/>
          </a:p>
        </p:txBody>
      </p:sp>
      <p:sp>
        <p:nvSpPr>
          <p:cNvPr id="4" name="Text 2"/>
          <p:cNvSpPr/>
          <p:nvPr/>
        </p:nvSpPr>
        <p:spPr>
          <a:xfrm>
            <a:off x="548640" y="1463040"/>
            <a:ext cx="6035040" cy="457200"/>
          </a:xfrm>
          <a:prstGeom prst="rect">
            <a:avLst/>
          </a:prstGeom>
          <a:noFill/>
          <a:ln/>
        </p:spPr>
        <p:txBody>
          <a:bodyPr wrap="square" lIns="0" tIns="0" rIns="0" bIns="0" rtlCol="0" anchor="ctr"/>
          <a:lstStyle/>
          <a:p>
            <a:pPr indent="0" marL="0">
              <a:buNone/>
            </a:pPr>
            <a:r>
              <a:rPr lang="en-US" sz="1650" b="1" dirty="0">
                <a:solidFill>
                  <a:srgbClr val="17263D"/>
                </a:solidFill>
                <a:latin typeface="Cambria" pitchFamily="34" charset="0"/>
                <a:ea typeface="Cambria" pitchFamily="34" charset="-122"/>
                <a:cs typeface="Cambria" pitchFamily="34" charset="-120"/>
              </a:rPr>
              <a:t>Establishing credibility before the ask</a:t>
            </a:r>
            <a:endParaRPr lang="en-US" sz="1650" dirty="0"/>
          </a:p>
        </p:txBody>
      </p:sp>
      <p:sp>
        <p:nvSpPr>
          <p:cNvPr id="5" name="Text 3"/>
          <p:cNvSpPr/>
          <p:nvPr/>
        </p:nvSpPr>
        <p:spPr>
          <a:xfrm>
            <a:off x="548640" y="1965960"/>
            <a:ext cx="6035040" cy="685800"/>
          </a:xfrm>
          <a:prstGeom prst="rect">
            <a:avLst/>
          </a:prstGeom>
          <a:noFill/>
          <a:ln/>
        </p:spPr>
        <p:txBody>
          <a:bodyPr wrap="square" lIns="0" tIns="0" rIns="0" bIns="0" rtlCol="0" anchor="ctr"/>
          <a:lstStyle/>
          <a:p>
            <a:pPr indent="0" marL="0">
              <a:lnSpc>
                <a:spcPct val="118000"/>
              </a:lnSpc>
              <a:buNone/>
            </a:pPr>
            <a:r>
              <a:rPr lang="en-US" sz="1200" dirty="0">
                <a:solidFill>
                  <a:srgbClr val="55677E"/>
                </a:solidFill>
                <a:latin typeface="Calibri" pitchFamily="34" charset="0"/>
                <a:ea typeface="Calibri" pitchFamily="34" charset="-122"/>
                <a:cs typeface="Calibri" pitchFamily="34" charset="-120"/>
              </a:rPr>
              <a:t>The About page introduces the hospital’s story and positions it as a dependable, modern healthcare provider before ever mentioning booking.</a:t>
            </a:r>
            <a:endParaRPr lang="en-US" sz="1200" dirty="0"/>
          </a:p>
        </p:txBody>
      </p:sp>
      <p:sp>
        <p:nvSpPr>
          <p:cNvPr id="6" name="Shape 4"/>
          <p:cNvSpPr/>
          <p:nvPr/>
        </p:nvSpPr>
        <p:spPr>
          <a:xfrm>
            <a:off x="548640" y="2743200"/>
            <a:ext cx="457200" cy="457200"/>
          </a:xfrm>
          <a:prstGeom prst="ellipse">
            <a:avLst/>
          </a:prstGeom>
          <a:solidFill>
            <a:srgbClr val="EAF3FB"/>
          </a:solidFill>
          <a:ln/>
        </p:spPr>
      </p:sp>
      <p:pic>
        <p:nvPicPr>
          <p:cNvPr id="7" name="Image 0" descr="/home/claude/medsev-ppt/icons/award_0B5FA4.png">    </p:cNvPr>
          <p:cNvPicPr>
            <a:picLocks noChangeAspect="1"/>
          </p:cNvPicPr>
          <p:nvPr/>
        </p:nvPicPr>
        <p:blipFill>
          <a:blip r:embed="rId1"/>
          <a:stretch>
            <a:fillRect/>
          </a:stretch>
        </p:blipFill>
        <p:spPr>
          <a:xfrm>
            <a:off x="651510" y="2846070"/>
            <a:ext cx="251460" cy="251460"/>
          </a:xfrm>
          <a:prstGeom prst="rect">
            <a:avLst/>
          </a:prstGeom>
        </p:spPr>
      </p:pic>
      <p:sp>
        <p:nvSpPr>
          <p:cNvPr id="8" name="Text 5"/>
          <p:cNvSpPr/>
          <p:nvPr/>
        </p:nvSpPr>
        <p:spPr>
          <a:xfrm>
            <a:off x="1170432" y="2715768"/>
            <a:ext cx="5394960" cy="274320"/>
          </a:xfrm>
          <a:prstGeom prst="rect">
            <a:avLst/>
          </a:prstGeom>
          <a:noFill/>
          <a:ln/>
        </p:spPr>
        <p:txBody>
          <a:bodyPr wrap="square" lIns="0" tIns="0" rIns="0" bIns="0" rtlCol="0" anchor="ctr"/>
          <a:lstStyle/>
          <a:p>
            <a:pPr indent="0" marL="0">
              <a:buNone/>
            </a:pPr>
            <a:r>
              <a:rPr lang="en-US" sz="1350" b="1" dirty="0">
                <a:solidFill>
                  <a:srgbClr val="17263D"/>
                </a:solidFill>
                <a:latin typeface="Cambria" pitchFamily="34" charset="0"/>
                <a:ea typeface="Cambria" pitchFamily="34" charset="-122"/>
                <a:cs typeface="Cambria" pitchFamily="34" charset="-120"/>
              </a:rPr>
              <a:t>Company introduction</a:t>
            </a:r>
            <a:endParaRPr lang="en-US" sz="1350" dirty="0"/>
          </a:p>
        </p:txBody>
      </p:sp>
      <p:sp>
        <p:nvSpPr>
          <p:cNvPr id="9" name="Text 6"/>
          <p:cNvSpPr/>
          <p:nvPr/>
        </p:nvSpPr>
        <p:spPr>
          <a:xfrm>
            <a:off x="1170432" y="2990088"/>
            <a:ext cx="5440680" cy="502920"/>
          </a:xfrm>
          <a:prstGeom prst="rect">
            <a:avLst/>
          </a:prstGeom>
          <a:noFill/>
          <a:ln/>
        </p:spPr>
        <p:txBody>
          <a:bodyPr wrap="square" lIns="0" tIns="0" rIns="0" bIns="0" rtlCol="0" anchor="ctr"/>
          <a:lstStyle/>
          <a:p>
            <a:pPr indent="0" marL="0">
              <a:lnSpc>
                <a:spcPct val="110000"/>
              </a:lnSpc>
              <a:buNone/>
            </a:pPr>
            <a:r>
              <a:rPr lang="en-US" sz="1080" dirty="0">
                <a:solidFill>
                  <a:srgbClr val="55677E"/>
                </a:solidFill>
                <a:latin typeface="Calibri" pitchFamily="34" charset="0"/>
                <a:ea typeface="Calibri" pitchFamily="34" charset="-122"/>
                <a:cs typeface="Calibri" pitchFamily="34" charset="-120"/>
              </a:rPr>
              <a:t>A narrative section explains who the hospital is and the care philosophy behind it.</a:t>
            </a:r>
            <a:endParaRPr lang="en-US" sz="1080" dirty="0"/>
          </a:p>
        </p:txBody>
      </p:sp>
      <p:sp>
        <p:nvSpPr>
          <p:cNvPr id="10" name="Shape 7"/>
          <p:cNvSpPr/>
          <p:nvPr/>
        </p:nvSpPr>
        <p:spPr>
          <a:xfrm>
            <a:off x="548640" y="3584448"/>
            <a:ext cx="457200" cy="457200"/>
          </a:xfrm>
          <a:prstGeom prst="ellipse">
            <a:avLst/>
          </a:prstGeom>
          <a:solidFill>
            <a:srgbClr val="EAF3FB"/>
          </a:solidFill>
          <a:ln/>
        </p:spPr>
      </p:sp>
      <p:pic>
        <p:nvPicPr>
          <p:cNvPr id="11" name="Image 1" descr="/home/claude/medsev-ppt/icons/shield_0B5FA4.png">    </p:cNvPr>
          <p:cNvPicPr>
            <a:picLocks noChangeAspect="1"/>
          </p:cNvPicPr>
          <p:nvPr/>
        </p:nvPicPr>
        <p:blipFill>
          <a:blip r:embed="rId2"/>
          <a:stretch>
            <a:fillRect/>
          </a:stretch>
        </p:blipFill>
        <p:spPr>
          <a:xfrm>
            <a:off x="651510" y="3687318"/>
            <a:ext cx="251460" cy="251460"/>
          </a:xfrm>
          <a:prstGeom prst="rect">
            <a:avLst/>
          </a:prstGeom>
        </p:spPr>
      </p:pic>
      <p:sp>
        <p:nvSpPr>
          <p:cNvPr id="12" name="Text 8"/>
          <p:cNvSpPr/>
          <p:nvPr/>
        </p:nvSpPr>
        <p:spPr>
          <a:xfrm>
            <a:off x="1170432" y="3557016"/>
            <a:ext cx="5394960" cy="274320"/>
          </a:xfrm>
          <a:prstGeom prst="rect">
            <a:avLst/>
          </a:prstGeom>
          <a:noFill/>
          <a:ln/>
        </p:spPr>
        <p:txBody>
          <a:bodyPr wrap="square" lIns="0" tIns="0" rIns="0" bIns="0" rtlCol="0" anchor="ctr"/>
          <a:lstStyle/>
          <a:p>
            <a:pPr indent="0" marL="0">
              <a:buNone/>
            </a:pPr>
            <a:r>
              <a:rPr lang="en-US" sz="1350" b="1" dirty="0">
                <a:solidFill>
                  <a:srgbClr val="17263D"/>
                </a:solidFill>
                <a:latin typeface="Cambria" pitchFamily="34" charset="0"/>
                <a:ea typeface="Cambria" pitchFamily="34" charset="-122"/>
                <a:cs typeface="Cambria" pitchFamily="34" charset="-120"/>
              </a:rPr>
              <a:t>Why patients trust it</a:t>
            </a:r>
            <a:endParaRPr lang="en-US" sz="1350" dirty="0"/>
          </a:p>
        </p:txBody>
      </p:sp>
      <p:sp>
        <p:nvSpPr>
          <p:cNvPr id="13" name="Text 9"/>
          <p:cNvSpPr/>
          <p:nvPr/>
        </p:nvSpPr>
        <p:spPr>
          <a:xfrm>
            <a:off x="1170432" y="3831336"/>
            <a:ext cx="5440680" cy="502920"/>
          </a:xfrm>
          <a:prstGeom prst="rect">
            <a:avLst/>
          </a:prstGeom>
          <a:noFill/>
          <a:ln/>
        </p:spPr>
        <p:txBody>
          <a:bodyPr wrap="square" lIns="0" tIns="0" rIns="0" bIns="0" rtlCol="0" anchor="ctr"/>
          <a:lstStyle/>
          <a:p>
            <a:pPr indent="0" marL="0">
              <a:lnSpc>
                <a:spcPct val="110000"/>
              </a:lnSpc>
              <a:buNone/>
            </a:pPr>
            <a:r>
              <a:rPr lang="en-US" sz="1080" dirty="0">
                <a:solidFill>
                  <a:srgbClr val="55677E"/>
                </a:solidFill>
                <a:latin typeface="Calibri" pitchFamily="34" charset="0"/>
                <a:ea typeface="Calibri" pitchFamily="34" charset="-122"/>
                <a:cs typeface="Calibri" pitchFamily="34" charset="-120"/>
              </a:rPr>
              <a:t>Certified doctors, 24-hour emergency care, and modern technology are called out as three pillars of confidence.</a:t>
            </a:r>
            <a:endParaRPr lang="en-US" sz="1080" dirty="0"/>
          </a:p>
        </p:txBody>
      </p:sp>
      <p:sp>
        <p:nvSpPr>
          <p:cNvPr id="14" name="Shape 10"/>
          <p:cNvSpPr/>
          <p:nvPr/>
        </p:nvSpPr>
        <p:spPr>
          <a:xfrm>
            <a:off x="548640" y="4425696"/>
            <a:ext cx="457200" cy="457200"/>
          </a:xfrm>
          <a:prstGeom prst="ellipse">
            <a:avLst/>
          </a:prstGeom>
          <a:solidFill>
            <a:srgbClr val="EAF3FB"/>
          </a:solidFill>
          <a:ln/>
        </p:spPr>
      </p:sp>
      <p:pic>
        <p:nvPicPr>
          <p:cNvPr id="15" name="Image 2" descr="/home/claude/medsev-ppt/icons/target_0B5FA4.png">    </p:cNvPr>
          <p:cNvPicPr>
            <a:picLocks noChangeAspect="1"/>
          </p:cNvPicPr>
          <p:nvPr/>
        </p:nvPicPr>
        <p:blipFill>
          <a:blip r:embed="rId3"/>
          <a:stretch>
            <a:fillRect/>
          </a:stretch>
        </p:blipFill>
        <p:spPr>
          <a:xfrm>
            <a:off x="651510" y="4528566"/>
            <a:ext cx="251460" cy="251460"/>
          </a:xfrm>
          <a:prstGeom prst="rect">
            <a:avLst/>
          </a:prstGeom>
        </p:spPr>
      </p:pic>
      <p:sp>
        <p:nvSpPr>
          <p:cNvPr id="16" name="Text 11"/>
          <p:cNvSpPr/>
          <p:nvPr/>
        </p:nvSpPr>
        <p:spPr>
          <a:xfrm>
            <a:off x="1170432" y="4398264"/>
            <a:ext cx="5394960" cy="274320"/>
          </a:xfrm>
          <a:prstGeom prst="rect">
            <a:avLst/>
          </a:prstGeom>
          <a:noFill/>
          <a:ln/>
        </p:spPr>
        <p:txBody>
          <a:bodyPr wrap="square" lIns="0" tIns="0" rIns="0" bIns="0" rtlCol="0" anchor="ctr"/>
          <a:lstStyle/>
          <a:p>
            <a:pPr indent="0" marL="0">
              <a:buNone/>
            </a:pPr>
            <a:r>
              <a:rPr lang="en-US" sz="1350" b="1" dirty="0">
                <a:solidFill>
                  <a:srgbClr val="17263D"/>
                </a:solidFill>
                <a:latin typeface="Cambria" pitchFamily="34" charset="0"/>
                <a:ea typeface="Cambria" pitchFamily="34" charset="-122"/>
                <a:cs typeface="Cambria" pitchFamily="34" charset="-120"/>
              </a:rPr>
              <a:t>Vision &amp; mission</a:t>
            </a:r>
            <a:endParaRPr lang="en-US" sz="1350" dirty="0"/>
          </a:p>
        </p:txBody>
      </p:sp>
      <p:sp>
        <p:nvSpPr>
          <p:cNvPr id="17" name="Text 12"/>
          <p:cNvSpPr/>
          <p:nvPr/>
        </p:nvSpPr>
        <p:spPr>
          <a:xfrm>
            <a:off x="1170432" y="4672584"/>
            <a:ext cx="5440680" cy="502920"/>
          </a:xfrm>
          <a:prstGeom prst="rect">
            <a:avLst/>
          </a:prstGeom>
          <a:noFill/>
          <a:ln/>
        </p:spPr>
        <p:txBody>
          <a:bodyPr wrap="square" lIns="0" tIns="0" rIns="0" bIns="0" rtlCol="0" anchor="ctr"/>
          <a:lstStyle/>
          <a:p>
            <a:pPr indent="0" marL="0">
              <a:lnSpc>
                <a:spcPct val="110000"/>
              </a:lnSpc>
              <a:buNone/>
            </a:pPr>
            <a:r>
              <a:rPr lang="en-US" sz="1080" dirty="0">
                <a:solidFill>
                  <a:srgbClr val="55677E"/>
                </a:solidFill>
                <a:latin typeface="Calibri" pitchFamily="34" charset="0"/>
                <a:ea typeface="Calibri" pitchFamily="34" charset="-122"/>
                <a:cs typeface="Calibri" pitchFamily="34" charset="-120"/>
              </a:rPr>
              <a:t>Framed through an actionable 3-step path: browse the site, choose a service, send a message.</a:t>
            </a:r>
            <a:endParaRPr lang="en-US" sz="1080" dirty="0"/>
          </a:p>
        </p:txBody>
      </p:sp>
      <p:sp>
        <p:nvSpPr>
          <p:cNvPr id="18" name="Shape 13"/>
          <p:cNvSpPr/>
          <p:nvPr/>
        </p:nvSpPr>
        <p:spPr>
          <a:xfrm>
            <a:off x="548640" y="5266944"/>
            <a:ext cx="457200" cy="457200"/>
          </a:xfrm>
          <a:prstGeom prst="ellipse">
            <a:avLst/>
          </a:prstGeom>
          <a:solidFill>
            <a:srgbClr val="EAF3FB"/>
          </a:solidFill>
          <a:ln/>
        </p:spPr>
      </p:sp>
      <p:pic>
        <p:nvPicPr>
          <p:cNvPr id="19" name="Image 3" descr="/home/claude/medsev-ppt/icons/clock_0B5FA4.png">    </p:cNvPr>
          <p:cNvPicPr>
            <a:picLocks noChangeAspect="1"/>
          </p:cNvPicPr>
          <p:nvPr/>
        </p:nvPicPr>
        <p:blipFill>
          <a:blip r:embed="rId4"/>
          <a:stretch>
            <a:fillRect/>
          </a:stretch>
        </p:blipFill>
        <p:spPr>
          <a:xfrm>
            <a:off x="651510" y="5369814"/>
            <a:ext cx="251460" cy="251460"/>
          </a:xfrm>
          <a:prstGeom prst="rect">
            <a:avLst/>
          </a:prstGeom>
        </p:spPr>
      </p:pic>
      <p:sp>
        <p:nvSpPr>
          <p:cNvPr id="20" name="Text 14"/>
          <p:cNvSpPr/>
          <p:nvPr/>
        </p:nvSpPr>
        <p:spPr>
          <a:xfrm>
            <a:off x="1170432" y="5239512"/>
            <a:ext cx="5394960" cy="274320"/>
          </a:xfrm>
          <a:prstGeom prst="rect">
            <a:avLst/>
          </a:prstGeom>
          <a:noFill/>
          <a:ln/>
        </p:spPr>
        <p:txBody>
          <a:bodyPr wrap="square" lIns="0" tIns="0" rIns="0" bIns="0" rtlCol="0" anchor="ctr"/>
          <a:lstStyle/>
          <a:p>
            <a:pPr indent="0" marL="0">
              <a:buNone/>
            </a:pPr>
            <a:r>
              <a:rPr lang="en-US" sz="1350" b="1" dirty="0">
                <a:solidFill>
                  <a:srgbClr val="17263D"/>
                </a:solidFill>
                <a:latin typeface="Cambria" pitchFamily="34" charset="0"/>
                <a:ea typeface="Cambria" pitchFamily="34" charset="-122"/>
                <a:cs typeface="Cambria" pitchFamily="34" charset="-120"/>
              </a:rPr>
              <a:t>Experience, in numbers</a:t>
            </a:r>
            <a:endParaRPr lang="en-US" sz="1350" dirty="0"/>
          </a:p>
        </p:txBody>
      </p:sp>
      <p:sp>
        <p:nvSpPr>
          <p:cNvPr id="21" name="Text 15"/>
          <p:cNvSpPr/>
          <p:nvPr/>
        </p:nvSpPr>
        <p:spPr>
          <a:xfrm>
            <a:off x="1170432" y="5513832"/>
            <a:ext cx="5440680" cy="502920"/>
          </a:xfrm>
          <a:prstGeom prst="rect">
            <a:avLst/>
          </a:prstGeom>
          <a:noFill/>
          <a:ln/>
        </p:spPr>
        <p:txBody>
          <a:bodyPr wrap="square" lIns="0" tIns="0" rIns="0" bIns="0" rtlCol="0" anchor="ctr"/>
          <a:lstStyle/>
          <a:p>
            <a:pPr indent="0" marL="0">
              <a:lnSpc>
                <a:spcPct val="110000"/>
              </a:lnSpc>
              <a:buNone/>
            </a:pPr>
            <a:r>
              <a:rPr lang="en-US" sz="1080" dirty="0">
                <a:solidFill>
                  <a:srgbClr val="55677E"/>
                </a:solidFill>
                <a:latin typeface="Calibri" pitchFamily="34" charset="0"/>
                <a:ea typeface="Calibri" pitchFamily="34" charset="-122"/>
                <a:cs typeface="Calibri" pitchFamily="34" charset="-120"/>
              </a:rPr>
              <a:t>Bed count, patient volume, staff size, and years of operation are restated as social proof.</a:t>
            </a:r>
            <a:endParaRPr lang="en-US" sz="1080" dirty="0"/>
          </a:p>
        </p:txBody>
      </p:sp>
      <p:sp>
        <p:nvSpPr>
          <p:cNvPr id="22" name="Shape 16"/>
          <p:cNvSpPr/>
          <p:nvPr/>
        </p:nvSpPr>
        <p:spPr>
          <a:xfrm>
            <a:off x="7086600" y="1417320"/>
            <a:ext cx="4572000" cy="4663440"/>
          </a:xfrm>
          <a:prstGeom prst="roundRect">
            <a:avLst>
              <a:gd name="adj" fmla="val 1400"/>
            </a:avLst>
          </a:prstGeom>
          <a:solidFill>
            <a:srgbClr val="FFFFFF"/>
          </a:solidFill>
          <a:ln w="12700">
            <a:solidFill>
              <a:srgbClr val="D6E5F2"/>
            </a:solidFill>
            <a:prstDash val="solid"/>
          </a:ln>
          <a:effectLst>
            <a:outerShdw sx="100000" sy="100000" kx="0" ky="0" algn="bl" rotWithShape="0" blurRad="152400" dist="50800" dir="5400000">
              <a:srgbClr val="0A3B63">
                <a:alpha val="22000"/>
              </a:srgbClr>
            </a:outerShdw>
          </a:effectLst>
        </p:spPr>
      </p:sp>
      <p:sp>
        <p:nvSpPr>
          <p:cNvPr id="23" name="Shape 17"/>
          <p:cNvSpPr/>
          <p:nvPr/>
        </p:nvSpPr>
        <p:spPr>
          <a:xfrm>
            <a:off x="7086600" y="1417320"/>
            <a:ext cx="4572000" cy="310896"/>
          </a:xfrm>
          <a:prstGeom prst="rect">
            <a:avLst/>
          </a:prstGeom>
          <a:solidFill>
            <a:srgbClr val="F6FAFD"/>
          </a:solidFill>
          <a:ln/>
        </p:spPr>
      </p:sp>
      <p:sp>
        <p:nvSpPr>
          <p:cNvPr id="24" name="Shape 18"/>
          <p:cNvSpPr/>
          <p:nvPr/>
        </p:nvSpPr>
        <p:spPr>
          <a:xfrm>
            <a:off x="7214616" y="1527048"/>
            <a:ext cx="100584" cy="100584"/>
          </a:xfrm>
          <a:prstGeom prst="ellipse">
            <a:avLst/>
          </a:prstGeom>
          <a:solidFill>
            <a:srgbClr val="E27D60"/>
          </a:solidFill>
          <a:ln/>
        </p:spPr>
      </p:sp>
      <p:sp>
        <p:nvSpPr>
          <p:cNvPr id="25" name="Shape 19"/>
          <p:cNvSpPr/>
          <p:nvPr/>
        </p:nvSpPr>
        <p:spPr>
          <a:xfrm>
            <a:off x="7397496" y="1527048"/>
            <a:ext cx="100584" cy="100584"/>
          </a:xfrm>
          <a:prstGeom prst="ellipse">
            <a:avLst/>
          </a:prstGeom>
          <a:solidFill>
            <a:srgbClr val="E8C547"/>
          </a:solidFill>
          <a:ln/>
        </p:spPr>
      </p:sp>
      <p:sp>
        <p:nvSpPr>
          <p:cNvPr id="26" name="Shape 20"/>
          <p:cNvSpPr/>
          <p:nvPr/>
        </p:nvSpPr>
        <p:spPr>
          <a:xfrm>
            <a:off x="7580376" y="1527048"/>
            <a:ext cx="100584" cy="100584"/>
          </a:xfrm>
          <a:prstGeom prst="ellipse">
            <a:avLst/>
          </a:prstGeom>
          <a:solidFill>
            <a:srgbClr val="6FCF97"/>
          </a:solidFill>
          <a:ln/>
        </p:spPr>
      </p:sp>
      <p:sp>
        <p:nvSpPr>
          <p:cNvPr id="27" name="Shape 21"/>
          <p:cNvSpPr/>
          <p:nvPr/>
        </p:nvSpPr>
        <p:spPr>
          <a:xfrm>
            <a:off x="7863840" y="1490472"/>
            <a:ext cx="3566160" cy="164592"/>
          </a:xfrm>
          <a:prstGeom prst="roundRect">
            <a:avLst>
              <a:gd name="adj" fmla="val 50000"/>
            </a:avLst>
          </a:prstGeom>
          <a:solidFill>
            <a:srgbClr val="FFFFFF"/>
          </a:solidFill>
          <a:ln w="6350">
            <a:solidFill>
              <a:srgbClr val="D6E5F2"/>
            </a:solidFill>
            <a:prstDash val="solid"/>
          </a:ln>
        </p:spPr>
      </p:sp>
      <p:sp>
        <p:nvSpPr>
          <p:cNvPr id="28" name="Text 22"/>
          <p:cNvSpPr/>
          <p:nvPr/>
        </p:nvSpPr>
        <p:spPr>
          <a:xfrm>
            <a:off x="7955280" y="1485900"/>
            <a:ext cx="3474720" cy="173736"/>
          </a:xfrm>
          <a:prstGeom prst="rect">
            <a:avLst/>
          </a:prstGeom>
          <a:noFill/>
          <a:ln/>
        </p:spPr>
        <p:txBody>
          <a:bodyPr wrap="square" lIns="0" tIns="0" rIns="0" bIns="0" rtlCol="0" anchor="ctr"/>
          <a:lstStyle/>
          <a:p>
            <a:pPr indent="0" marL="0">
              <a:buNone/>
            </a:pPr>
            <a:r>
              <a:rPr lang="en-US" sz="800" dirty="0">
                <a:solidFill>
                  <a:srgbClr val="55677E"/>
                </a:solidFill>
                <a:latin typeface="Calibri" pitchFamily="34" charset="0"/>
                <a:ea typeface="Calibri" pitchFamily="34" charset="-122"/>
                <a:cs typeface="Calibri" pitchFamily="34" charset="-120"/>
              </a:rPr>
              <a:t>medsev/default/about.html</a:t>
            </a:r>
            <a:endParaRPr lang="en-US" sz="800" dirty="0"/>
          </a:p>
        </p:txBody>
      </p:sp>
      <p:sp>
        <p:nvSpPr>
          <p:cNvPr id="29" name="Shape 23"/>
          <p:cNvSpPr/>
          <p:nvPr/>
        </p:nvSpPr>
        <p:spPr>
          <a:xfrm>
            <a:off x="7214616" y="1837944"/>
            <a:ext cx="4315968" cy="1188720"/>
          </a:xfrm>
          <a:prstGeom prst="roundRect">
            <a:avLst>
              <a:gd name="adj" fmla="val 3846"/>
            </a:avLst>
          </a:prstGeom>
          <a:solidFill>
            <a:srgbClr val="EAF3FB"/>
          </a:solidFill>
          <a:ln/>
        </p:spPr>
      </p:sp>
      <p:sp>
        <p:nvSpPr>
          <p:cNvPr id="30" name="Shape 24"/>
          <p:cNvSpPr/>
          <p:nvPr/>
        </p:nvSpPr>
        <p:spPr>
          <a:xfrm>
            <a:off x="7443216" y="2112264"/>
            <a:ext cx="640080" cy="640080"/>
          </a:xfrm>
          <a:prstGeom prst="ellipse">
            <a:avLst/>
          </a:prstGeom>
          <a:solidFill>
            <a:srgbClr val="FFFFFF"/>
          </a:solidFill>
          <a:ln/>
        </p:spPr>
      </p:sp>
      <p:pic>
        <p:nvPicPr>
          <p:cNvPr id="31" name="Image 4" descr="/home/claude/medsev-ppt/icons/hospital_0B5FA4.png">    </p:cNvPr>
          <p:cNvPicPr>
            <a:picLocks noChangeAspect="1"/>
          </p:cNvPicPr>
          <p:nvPr/>
        </p:nvPicPr>
        <p:blipFill>
          <a:blip r:embed="rId5"/>
          <a:stretch>
            <a:fillRect/>
          </a:stretch>
        </p:blipFill>
        <p:spPr>
          <a:xfrm>
            <a:off x="7603236" y="2272284"/>
            <a:ext cx="320040" cy="320040"/>
          </a:xfrm>
          <a:prstGeom prst="rect">
            <a:avLst/>
          </a:prstGeom>
        </p:spPr>
      </p:pic>
      <p:sp>
        <p:nvSpPr>
          <p:cNvPr id="32" name="Shape 25"/>
          <p:cNvSpPr/>
          <p:nvPr/>
        </p:nvSpPr>
        <p:spPr>
          <a:xfrm>
            <a:off x="8266176" y="2130552"/>
            <a:ext cx="2944368" cy="91440"/>
          </a:xfrm>
          <a:prstGeom prst="roundRect">
            <a:avLst>
              <a:gd name="adj" fmla="val 20000"/>
            </a:avLst>
          </a:prstGeom>
          <a:solidFill>
            <a:srgbClr val="D6E5F2"/>
          </a:solidFill>
          <a:ln/>
        </p:spPr>
      </p:sp>
      <p:sp>
        <p:nvSpPr>
          <p:cNvPr id="33" name="Shape 26"/>
          <p:cNvSpPr/>
          <p:nvPr/>
        </p:nvSpPr>
        <p:spPr>
          <a:xfrm>
            <a:off x="8266176" y="2313432"/>
            <a:ext cx="1913839" cy="73152"/>
          </a:xfrm>
          <a:prstGeom prst="roundRect">
            <a:avLst>
              <a:gd name="adj" fmla="val 25000"/>
            </a:avLst>
          </a:prstGeom>
          <a:solidFill>
            <a:srgbClr val="D6E5F2"/>
          </a:solidFill>
          <a:ln/>
        </p:spPr>
      </p:sp>
      <p:sp>
        <p:nvSpPr>
          <p:cNvPr id="34" name="Shape 27"/>
          <p:cNvSpPr/>
          <p:nvPr/>
        </p:nvSpPr>
        <p:spPr>
          <a:xfrm>
            <a:off x="8266176" y="2523744"/>
            <a:ext cx="2578608" cy="73152"/>
          </a:xfrm>
          <a:prstGeom prst="roundRect">
            <a:avLst>
              <a:gd name="adj" fmla="val 25000"/>
            </a:avLst>
          </a:prstGeom>
          <a:solidFill>
            <a:srgbClr val="D6E5F2"/>
          </a:solidFill>
          <a:ln/>
        </p:spPr>
      </p:sp>
      <p:sp>
        <p:nvSpPr>
          <p:cNvPr id="35" name="Shape 28"/>
          <p:cNvSpPr/>
          <p:nvPr/>
        </p:nvSpPr>
        <p:spPr>
          <a:xfrm>
            <a:off x="8266176" y="2688336"/>
            <a:ext cx="1676095" cy="58522"/>
          </a:xfrm>
          <a:prstGeom prst="roundRect">
            <a:avLst>
              <a:gd name="adj" fmla="val 31250"/>
            </a:avLst>
          </a:prstGeom>
          <a:solidFill>
            <a:srgbClr val="D6E5F2"/>
          </a:solidFill>
          <a:ln/>
        </p:spPr>
      </p:sp>
      <p:sp>
        <p:nvSpPr>
          <p:cNvPr id="36" name="Shape 29"/>
          <p:cNvSpPr/>
          <p:nvPr/>
        </p:nvSpPr>
        <p:spPr>
          <a:xfrm>
            <a:off x="7214616" y="3209544"/>
            <a:ext cx="1005840" cy="777240"/>
          </a:xfrm>
          <a:prstGeom prst="roundRect">
            <a:avLst>
              <a:gd name="adj" fmla="val 7059"/>
            </a:avLst>
          </a:prstGeom>
          <a:solidFill>
            <a:srgbClr val="F6FAFD"/>
          </a:solidFill>
          <a:ln w="9525">
            <a:solidFill>
              <a:srgbClr val="D6E5F2"/>
            </a:solidFill>
            <a:prstDash val="solid"/>
          </a:ln>
        </p:spPr>
      </p:sp>
      <p:sp>
        <p:nvSpPr>
          <p:cNvPr id="37" name="Text 30"/>
          <p:cNvSpPr/>
          <p:nvPr/>
        </p:nvSpPr>
        <p:spPr>
          <a:xfrm>
            <a:off x="7214616" y="3319272"/>
            <a:ext cx="1005840" cy="320040"/>
          </a:xfrm>
          <a:prstGeom prst="rect">
            <a:avLst/>
          </a:prstGeom>
          <a:noFill/>
          <a:ln/>
        </p:spPr>
        <p:txBody>
          <a:bodyPr wrap="square" lIns="0" tIns="0" rIns="0" bIns="0" rtlCol="0" anchor="ctr"/>
          <a:lstStyle/>
          <a:p>
            <a:pPr algn="ctr" indent="0" marL="0">
              <a:buNone/>
            </a:pPr>
            <a:r>
              <a:rPr lang="en-US" sz="1600" b="1" dirty="0">
                <a:solidFill>
                  <a:srgbClr val="0B5FA4"/>
                </a:solidFill>
                <a:latin typeface="Cambria" pitchFamily="34" charset="0"/>
                <a:ea typeface="Cambria" pitchFamily="34" charset="-122"/>
                <a:cs typeface="Cambria" pitchFamily="34" charset="-120"/>
              </a:rPr>
              <a:t>00</a:t>
            </a:r>
            <a:endParaRPr lang="en-US" sz="1600" dirty="0"/>
          </a:p>
        </p:txBody>
      </p:sp>
      <p:sp>
        <p:nvSpPr>
          <p:cNvPr id="38" name="Text 31"/>
          <p:cNvSpPr/>
          <p:nvPr/>
        </p:nvSpPr>
        <p:spPr>
          <a:xfrm>
            <a:off x="7214616" y="3666744"/>
            <a:ext cx="1005840" cy="228600"/>
          </a:xfrm>
          <a:prstGeom prst="rect">
            <a:avLst/>
          </a:prstGeom>
          <a:noFill/>
          <a:ln/>
        </p:spPr>
        <p:txBody>
          <a:bodyPr wrap="square" lIns="0" tIns="0" rIns="0" bIns="0" rtlCol="0" anchor="ctr"/>
          <a:lstStyle/>
          <a:p>
            <a:pPr algn="ctr" indent="0" marL="0">
              <a:buNone/>
            </a:pPr>
            <a:r>
              <a:rPr lang="en-US" sz="800" dirty="0">
                <a:solidFill>
                  <a:srgbClr val="55677E"/>
                </a:solidFill>
                <a:latin typeface="Calibri" pitchFamily="34" charset="0"/>
                <a:ea typeface="Calibri" pitchFamily="34" charset="-122"/>
                <a:cs typeface="Calibri" pitchFamily="34" charset="-120"/>
              </a:rPr>
              <a:t>Beds</a:t>
            </a:r>
            <a:endParaRPr lang="en-US" sz="800" dirty="0"/>
          </a:p>
        </p:txBody>
      </p:sp>
      <p:sp>
        <p:nvSpPr>
          <p:cNvPr id="39" name="Shape 32"/>
          <p:cNvSpPr/>
          <p:nvPr/>
        </p:nvSpPr>
        <p:spPr>
          <a:xfrm>
            <a:off x="8293608" y="3209544"/>
            <a:ext cx="1005840" cy="777240"/>
          </a:xfrm>
          <a:prstGeom prst="roundRect">
            <a:avLst>
              <a:gd name="adj" fmla="val 7059"/>
            </a:avLst>
          </a:prstGeom>
          <a:solidFill>
            <a:srgbClr val="F6FAFD"/>
          </a:solidFill>
          <a:ln w="9525">
            <a:solidFill>
              <a:srgbClr val="D6E5F2"/>
            </a:solidFill>
            <a:prstDash val="solid"/>
          </a:ln>
        </p:spPr>
      </p:sp>
      <p:sp>
        <p:nvSpPr>
          <p:cNvPr id="40" name="Text 33"/>
          <p:cNvSpPr/>
          <p:nvPr/>
        </p:nvSpPr>
        <p:spPr>
          <a:xfrm>
            <a:off x="8293608" y="3319272"/>
            <a:ext cx="1005840" cy="320040"/>
          </a:xfrm>
          <a:prstGeom prst="rect">
            <a:avLst/>
          </a:prstGeom>
          <a:noFill/>
          <a:ln/>
        </p:spPr>
        <p:txBody>
          <a:bodyPr wrap="square" lIns="0" tIns="0" rIns="0" bIns="0" rtlCol="0" anchor="ctr"/>
          <a:lstStyle/>
          <a:p>
            <a:pPr algn="ctr" indent="0" marL="0">
              <a:buNone/>
            </a:pPr>
            <a:r>
              <a:rPr lang="en-US" sz="1600" b="1" dirty="0">
                <a:solidFill>
                  <a:srgbClr val="0B5FA4"/>
                </a:solidFill>
                <a:latin typeface="Cambria" pitchFamily="34" charset="0"/>
                <a:ea typeface="Cambria" pitchFamily="34" charset="-122"/>
                <a:cs typeface="Cambria" pitchFamily="34" charset="-120"/>
              </a:rPr>
              <a:t>00+</a:t>
            </a:r>
            <a:endParaRPr lang="en-US" sz="1600" dirty="0"/>
          </a:p>
        </p:txBody>
      </p:sp>
      <p:sp>
        <p:nvSpPr>
          <p:cNvPr id="41" name="Text 34"/>
          <p:cNvSpPr/>
          <p:nvPr/>
        </p:nvSpPr>
        <p:spPr>
          <a:xfrm>
            <a:off x="8293608" y="3666744"/>
            <a:ext cx="1005840" cy="228600"/>
          </a:xfrm>
          <a:prstGeom prst="rect">
            <a:avLst/>
          </a:prstGeom>
          <a:noFill/>
          <a:ln/>
        </p:spPr>
        <p:txBody>
          <a:bodyPr wrap="square" lIns="0" tIns="0" rIns="0" bIns="0" rtlCol="0" anchor="ctr"/>
          <a:lstStyle/>
          <a:p>
            <a:pPr algn="ctr" indent="0" marL="0">
              <a:buNone/>
            </a:pPr>
            <a:r>
              <a:rPr lang="en-US" sz="800" dirty="0">
                <a:solidFill>
                  <a:srgbClr val="55677E"/>
                </a:solidFill>
                <a:latin typeface="Calibri" pitchFamily="34" charset="0"/>
                <a:ea typeface="Calibri" pitchFamily="34" charset="-122"/>
                <a:cs typeface="Calibri" pitchFamily="34" charset="-120"/>
              </a:rPr>
              <a:t>Patients</a:t>
            </a:r>
            <a:endParaRPr lang="en-US" sz="800" dirty="0"/>
          </a:p>
        </p:txBody>
      </p:sp>
      <p:sp>
        <p:nvSpPr>
          <p:cNvPr id="42" name="Shape 35"/>
          <p:cNvSpPr/>
          <p:nvPr/>
        </p:nvSpPr>
        <p:spPr>
          <a:xfrm>
            <a:off x="9372600" y="3209544"/>
            <a:ext cx="1005840" cy="777240"/>
          </a:xfrm>
          <a:prstGeom prst="roundRect">
            <a:avLst>
              <a:gd name="adj" fmla="val 7059"/>
            </a:avLst>
          </a:prstGeom>
          <a:solidFill>
            <a:srgbClr val="F6FAFD"/>
          </a:solidFill>
          <a:ln w="9525">
            <a:solidFill>
              <a:srgbClr val="D6E5F2"/>
            </a:solidFill>
            <a:prstDash val="solid"/>
          </a:ln>
        </p:spPr>
      </p:sp>
      <p:sp>
        <p:nvSpPr>
          <p:cNvPr id="43" name="Text 36"/>
          <p:cNvSpPr/>
          <p:nvPr/>
        </p:nvSpPr>
        <p:spPr>
          <a:xfrm>
            <a:off x="9372600" y="3319272"/>
            <a:ext cx="1005840" cy="320040"/>
          </a:xfrm>
          <a:prstGeom prst="rect">
            <a:avLst/>
          </a:prstGeom>
          <a:noFill/>
          <a:ln/>
        </p:spPr>
        <p:txBody>
          <a:bodyPr wrap="square" lIns="0" tIns="0" rIns="0" bIns="0" rtlCol="0" anchor="ctr"/>
          <a:lstStyle/>
          <a:p>
            <a:pPr algn="ctr" indent="0" marL="0">
              <a:buNone/>
            </a:pPr>
            <a:r>
              <a:rPr lang="en-US" sz="1600" b="1" dirty="0">
                <a:solidFill>
                  <a:srgbClr val="0B5FA4"/>
                </a:solidFill>
                <a:latin typeface="Cambria" pitchFamily="34" charset="0"/>
                <a:ea typeface="Cambria" pitchFamily="34" charset="-122"/>
                <a:cs typeface="Cambria" pitchFamily="34" charset="-120"/>
              </a:rPr>
              <a:t>00</a:t>
            </a:r>
            <a:endParaRPr lang="en-US" sz="1600" dirty="0"/>
          </a:p>
        </p:txBody>
      </p:sp>
      <p:sp>
        <p:nvSpPr>
          <p:cNvPr id="44" name="Text 37"/>
          <p:cNvSpPr/>
          <p:nvPr/>
        </p:nvSpPr>
        <p:spPr>
          <a:xfrm>
            <a:off x="9372600" y="3666744"/>
            <a:ext cx="1005840" cy="228600"/>
          </a:xfrm>
          <a:prstGeom prst="rect">
            <a:avLst/>
          </a:prstGeom>
          <a:noFill/>
          <a:ln/>
        </p:spPr>
        <p:txBody>
          <a:bodyPr wrap="square" lIns="0" tIns="0" rIns="0" bIns="0" rtlCol="0" anchor="ctr"/>
          <a:lstStyle/>
          <a:p>
            <a:pPr algn="ctr" indent="0" marL="0">
              <a:buNone/>
            </a:pPr>
            <a:r>
              <a:rPr lang="en-US" sz="800" dirty="0">
                <a:solidFill>
                  <a:srgbClr val="55677E"/>
                </a:solidFill>
                <a:latin typeface="Calibri" pitchFamily="34" charset="0"/>
                <a:ea typeface="Calibri" pitchFamily="34" charset="-122"/>
                <a:cs typeface="Calibri" pitchFamily="34" charset="-120"/>
              </a:rPr>
              <a:t>Staff</a:t>
            </a:r>
            <a:endParaRPr lang="en-US" sz="800" dirty="0"/>
          </a:p>
        </p:txBody>
      </p:sp>
      <p:sp>
        <p:nvSpPr>
          <p:cNvPr id="45" name="Shape 38"/>
          <p:cNvSpPr/>
          <p:nvPr/>
        </p:nvSpPr>
        <p:spPr>
          <a:xfrm>
            <a:off x="10451592" y="3209544"/>
            <a:ext cx="1005840" cy="777240"/>
          </a:xfrm>
          <a:prstGeom prst="roundRect">
            <a:avLst>
              <a:gd name="adj" fmla="val 7059"/>
            </a:avLst>
          </a:prstGeom>
          <a:solidFill>
            <a:srgbClr val="F6FAFD"/>
          </a:solidFill>
          <a:ln w="9525">
            <a:solidFill>
              <a:srgbClr val="D6E5F2"/>
            </a:solidFill>
            <a:prstDash val="solid"/>
          </a:ln>
        </p:spPr>
      </p:sp>
      <p:sp>
        <p:nvSpPr>
          <p:cNvPr id="46" name="Text 39"/>
          <p:cNvSpPr/>
          <p:nvPr/>
        </p:nvSpPr>
        <p:spPr>
          <a:xfrm>
            <a:off x="10451592" y="3319272"/>
            <a:ext cx="1005840" cy="320040"/>
          </a:xfrm>
          <a:prstGeom prst="rect">
            <a:avLst/>
          </a:prstGeom>
          <a:noFill/>
          <a:ln/>
        </p:spPr>
        <p:txBody>
          <a:bodyPr wrap="square" lIns="0" tIns="0" rIns="0" bIns="0" rtlCol="0" anchor="ctr"/>
          <a:lstStyle/>
          <a:p>
            <a:pPr algn="ctr" indent="0" marL="0">
              <a:buNone/>
            </a:pPr>
            <a:r>
              <a:rPr lang="en-US" sz="1600" b="1" dirty="0">
                <a:solidFill>
                  <a:srgbClr val="0B5FA4"/>
                </a:solidFill>
                <a:latin typeface="Cambria" pitchFamily="34" charset="0"/>
                <a:ea typeface="Cambria" pitchFamily="34" charset="-122"/>
                <a:cs typeface="Cambria" pitchFamily="34" charset="-120"/>
              </a:rPr>
              <a:t>00</a:t>
            </a:r>
            <a:endParaRPr lang="en-US" sz="1600" dirty="0"/>
          </a:p>
        </p:txBody>
      </p:sp>
      <p:sp>
        <p:nvSpPr>
          <p:cNvPr id="47" name="Text 40"/>
          <p:cNvSpPr/>
          <p:nvPr/>
        </p:nvSpPr>
        <p:spPr>
          <a:xfrm>
            <a:off x="10451592" y="3666744"/>
            <a:ext cx="1005840" cy="228600"/>
          </a:xfrm>
          <a:prstGeom prst="rect">
            <a:avLst/>
          </a:prstGeom>
          <a:noFill/>
          <a:ln/>
        </p:spPr>
        <p:txBody>
          <a:bodyPr wrap="square" lIns="0" tIns="0" rIns="0" bIns="0" rtlCol="0" anchor="ctr"/>
          <a:lstStyle/>
          <a:p>
            <a:pPr algn="ctr" indent="0" marL="0">
              <a:buNone/>
            </a:pPr>
            <a:r>
              <a:rPr lang="en-US" sz="800" dirty="0">
                <a:solidFill>
                  <a:srgbClr val="55677E"/>
                </a:solidFill>
                <a:latin typeface="Calibri" pitchFamily="34" charset="0"/>
                <a:ea typeface="Calibri" pitchFamily="34" charset="-122"/>
                <a:cs typeface="Calibri" pitchFamily="34" charset="-120"/>
              </a:rPr>
              <a:t>Years</a:t>
            </a:r>
            <a:endParaRPr lang="en-US" sz="800" dirty="0"/>
          </a:p>
        </p:txBody>
      </p:sp>
      <p:sp>
        <p:nvSpPr>
          <p:cNvPr id="48" name="Text 41"/>
          <p:cNvSpPr/>
          <p:nvPr/>
        </p:nvSpPr>
        <p:spPr>
          <a:xfrm>
            <a:off x="7214616" y="4169664"/>
            <a:ext cx="2743200" cy="228600"/>
          </a:xfrm>
          <a:prstGeom prst="rect">
            <a:avLst/>
          </a:prstGeom>
          <a:noFill/>
          <a:ln/>
        </p:spPr>
        <p:txBody>
          <a:bodyPr wrap="square" lIns="0" tIns="0" rIns="0" bIns="0" rtlCol="0" anchor="ctr"/>
          <a:lstStyle/>
          <a:p>
            <a:pPr indent="0" marL="0">
              <a:buNone/>
            </a:pPr>
            <a:r>
              <a:rPr lang="en-US" sz="850" b="1" spc="100" kern="0" dirty="0">
                <a:solidFill>
                  <a:srgbClr val="0B5FA4"/>
                </a:solidFill>
                <a:latin typeface="Calibri" pitchFamily="34" charset="0"/>
                <a:ea typeface="Calibri" pitchFamily="34" charset="-122"/>
                <a:cs typeface="Calibri" pitchFamily="34" charset="-120"/>
              </a:rPr>
              <a:t>WHAT PATIENTS SAY</a:t>
            </a:r>
            <a:endParaRPr lang="en-US" sz="850" dirty="0"/>
          </a:p>
        </p:txBody>
      </p:sp>
      <p:sp>
        <p:nvSpPr>
          <p:cNvPr id="49" name="Shape 42"/>
          <p:cNvSpPr/>
          <p:nvPr/>
        </p:nvSpPr>
        <p:spPr>
          <a:xfrm>
            <a:off x="7214616" y="4443984"/>
            <a:ext cx="1347216" cy="914400"/>
          </a:xfrm>
          <a:prstGeom prst="roundRect">
            <a:avLst>
              <a:gd name="adj" fmla="val 6000"/>
            </a:avLst>
          </a:prstGeom>
          <a:solidFill>
            <a:srgbClr val="F6FAFD"/>
          </a:solidFill>
          <a:ln w="9525">
            <a:solidFill>
              <a:srgbClr val="D6E5F2"/>
            </a:solidFill>
            <a:prstDash val="solid"/>
          </a:ln>
        </p:spPr>
      </p:sp>
      <p:sp>
        <p:nvSpPr>
          <p:cNvPr id="50" name="Shape 43"/>
          <p:cNvSpPr/>
          <p:nvPr/>
        </p:nvSpPr>
        <p:spPr>
          <a:xfrm>
            <a:off x="7324344" y="4553712"/>
            <a:ext cx="292608" cy="292608"/>
          </a:xfrm>
          <a:prstGeom prst="ellipse">
            <a:avLst/>
          </a:prstGeom>
          <a:solidFill>
            <a:srgbClr val="FFFFFF"/>
          </a:solidFill>
          <a:ln/>
        </p:spPr>
      </p:sp>
      <p:pic>
        <p:nvPicPr>
          <p:cNvPr id="51" name="Image 5" descr="/home/claude/medsev-ppt/icons/quote_00B4A6.png">    </p:cNvPr>
          <p:cNvPicPr>
            <a:picLocks noChangeAspect="1"/>
          </p:cNvPicPr>
          <p:nvPr/>
        </p:nvPicPr>
        <p:blipFill>
          <a:blip r:embed="rId6"/>
          <a:stretch>
            <a:fillRect/>
          </a:stretch>
        </p:blipFill>
        <p:spPr>
          <a:xfrm>
            <a:off x="7390181" y="4619549"/>
            <a:ext cx="160934" cy="160934"/>
          </a:xfrm>
          <a:prstGeom prst="rect">
            <a:avLst/>
          </a:prstGeom>
        </p:spPr>
      </p:pic>
      <p:sp>
        <p:nvSpPr>
          <p:cNvPr id="52" name="Shape 44"/>
          <p:cNvSpPr/>
          <p:nvPr/>
        </p:nvSpPr>
        <p:spPr>
          <a:xfrm>
            <a:off x="7324344" y="4946904"/>
            <a:ext cx="1127760" cy="45720"/>
          </a:xfrm>
          <a:prstGeom prst="roundRect">
            <a:avLst>
              <a:gd name="adj" fmla="val 40000"/>
            </a:avLst>
          </a:prstGeom>
          <a:solidFill>
            <a:srgbClr val="D6E5F2"/>
          </a:solidFill>
          <a:ln/>
        </p:spPr>
      </p:sp>
      <p:sp>
        <p:nvSpPr>
          <p:cNvPr id="53" name="Shape 45"/>
          <p:cNvSpPr/>
          <p:nvPr/>
        </p:nvSpPr>
        <p:spPr>
          <a:xfrm>
            <a:off x="7324344" y="5056632"/>
            <a:ext cx="733044" cy="36576"/>
          </a:xfrm>
          <a:prstGeom prst="roundRect">
            <a:avLst>
              <a:gd name="adj" fmla="val 50000"/>
            </a:avLst>
          </a:prstGeom>
          <a:solidFill>
            <a:srgbClr val="D6E5F2"/>
          </a:solidFill>
          <a:ln/>
        </p:spPr>
      </p:sp>
      <p:sp>
        <p:nvSpPr>
          <p:cNvPr id="54" name="Shape 46"/>
          <p:cNvSpPr/>
          <p:nvPr/>
        </p:nvSpPr>
        <p:spPr>
          <a:xfrm>
            <a:off x="8653272" y="4443984"/>
            <a:ext cx="1347216" cy="914400"/>
          </a:xfrm>
          <a:prstGeom prst="roundRect">
            <a:avLst>
              <a:gd name="adj" fmla="val 6000"/>
            </a:avLst>
          </a:prstGeom>
          <a:solidFill>
            <a:srgbClr val="F6FAFD"/>
          </a:solidFill>
          <a:ln w="9525">
            <a:solidFill>
              <a:srgbClr val="D6E5F2"/>
            </a:solidFill>
            <a:prstDash val="solid"/>
          </a:ln>
        </p:spPr>
      </p:sp>
      <p:sp>
        <p:nvSpPr>
          <p:cNvPr id="55" name="Shape 47"/>
          <p:cNvSpPr/>
          <p:nvPr/>
        </p:nvSpPr>
        <p:spPr>
          <a:xfrm>
            <a:off x="8763000" y="4553712"/>
            <a:ext cx="292608" cy="292608"/>
          </a:xfrm>
          <a:prstGeom prst="ellipse">
            <a:avLst/>
          </a:prstGeom>
          <a:solidFill>
            <a:srgbClr val="FFFFFF"/>
          </a:solidFill>
          <a:ln/>
        </p:spPr>
      </p:sp>
      <p:pic>
        <p:nvPicPr>
          <p:cNvPr id="56" name="Image 6" descr="/home/claude/medsev-ppt/icons/quote_00B4A6.png">    </p:cNvPr>
          <p:cNvPicPr>
            <a:picLocks noChangeAspect="1"/>
          </p:cNvPicPr>
          <p:nvPr/>
        </p:nvPicPr>
        <p:blipFill>
          <a:blip r:embed="rId7"/>
          <a:stretch>
            <a:fillRect/>
          </a:stretch>
        </p:blipFill>
        <p:spPr>
          <a:xfrm>
            <a:off x="8828837" y="4619549"/>
            <a:ext cx="160934" cy="160934"/>
          </a:xfrm>
          <a:prstGeom prst="rect">
            <a:avLst/>
          </a:prstGeom>
        </p:spPr>
      </p:pic>
      <p:sp>
        <p:nvSpPr>
          <p:cNvPr id="57" name="Shape 48"/>
          <p:cNvSpPr/>
          <p:nvPr/>
        </p:nvSpPr>
        <p:spPr>
          <a:xfrm>
            <a:off x="8763000" y="4946904"/>
            <a:ext cx="1127760" cy="45720"/>
          </a:xfrm>
          <a:prstGeom prst="roundRect">
            <a:avLst>
              <a:gd name="adj" fmla="val 40000"/>
            </a:avLst>
          </a:prstGeom>
          <a:solidFill>
            <a:srgbClr val="D6E5F2"/>
          </a:solidFill>
          <a:ln/>
        </p:spPr>
      </p:sp>
      <p:sp>
        <p:nvSpPr>
          <p:cNvPr id="58" name="Shape 49"/>
          <p:cNvSpPr/>
          <p:nvPr/>
        </p:nvSpPr>
        <p:spPr>
          <a:xfrm>
            <a:off x="8763000" y="5056632"/>
            <a:ext cx="733044" cy="36576"/>
          </a:xfrm>
          <a:prstGeom prst="roundRect">
            <a:avLst>
              <a:gd name="adj" fmla="val 50000"/>
            </a:avLst>
          </a:prstGeom>
          <a:solidFill>
            <a:srgbClr val="D6E5F2"/>
          </a:solidFill>
          <a:ln/>
        </p:spPr>
      </p:sp>
      <p:sp>
        <p:nvSpPr>
          <p:cNvPr id="59" name="Shape 50"/>
          <p:cNvSpPr/>
          <p:nvPr/>
        </p:nvSpPr>
        <p:spPr>
          <a:xfrm>
            <a:off x="10091928" y="4443984"/>
            <a:ext cx="1347216" cy="914400"/>
          </a:xfrm>
          <a:prstGeom prst="roundRect">
            <a:avLst>
              <a:gd name="adj" fmla="val 6000"/>
            </a:avLst>
          </a:prstGeom>
          <a:solidFill>
            <a:srgbClr val="F6FAFD"/>
          </a:solidFill>
          <a:ln w="9525">
            <a:solidFill>
              <a:srgbClr val="D6E5F2"/>
            </a:solidFill>
            <a:prstDash val="solid"/>
          </a:ln>
        </p:spPr>
      </p:sp>
      <p:sp>
        <p:nvSpPr>
          <p:cNvPr id="60" name="Shape 51"/>
          <p:cNvSpPr/>
          <p:nvPr/>
        </p:nvSpPr>
        <p:spPr>
          <a:xfrm>
            <a:off x="10201656" y="4553712"/>
            <a:ext cx="292608" cy="292608"/>
          </a:xfrm>
          <a:prstGeom prst="ellipse">
            <a:avLst/>
          </a:prstGeom>
          <a:solidFill>
            <a:srgbClr val="FFFFFF"/>
          </a:solidFill>
          <a:ln/>
        </p:spPr>
      </p:sp>
      <p:pic>
        <p:nvPicPr>
          <p:cNvPr id="61" name="Image 7" descr="/home/claude/medsev-ppt/icons/quote_00B4A6.png">    </p:cNvPr>
          <p:cNvPicPr>
            <a:picLocks noChangeAspect="1"/>
          </p:cNvPicPr>
          <p:nvPr/>
        </p:nvPicPr>
        <p:blipFill>
          <a:blip r:embed="rId8"/>
          <a:stretch>
            <a:fillRect/>
          </a:stretch>
        </p:blipFill>
        <p:spPr>
          <a:xfrm>
            <a:off x="10267493" y="4619549"/>
            <a:ext cx="160934" cy="160934"/>
          </a:xfrm>
          <a:prstGeom prst="rect">
            <a:avLst/>
          </a:prstGeom>
        </p:spPr>
      </p:pic>
      <p:sp>
        <p:nvSpPr>
          <p:cNvPr id="62" name="Shape 52"/>
          <p:cNvSpPr/>
          <p:nvPr/>
        </p:nvSpPr>
        <p:spPr>
          <a:xfrm>
            <a:off x="10201656" y="4946904"/>
            <a:ext cx="1127760" cy="45720"/>
          </a:xfrm>
          <a:prstGeom prst="roundRect">
            <a:avLst>
              <a:gd name="adj" fmla="val 40000"/>
            </a:avLst>
          </a:prstGeom>
          <a:solidFill>
            <a:srgbClr val="D6E5F2"/>
          </a:solidFill>
          <a:ln/>
        </p:spPr>
      </p:sp>
      <p:sp>
        <p:nvSpPr>
          <p:cNvPr id="63" name="Shape 53"/>
          <p:cNvSpPr/>
          <p:nvPr/>
        </p:nvSpPr>
        <p:spPr>
          <a:xfrm>
            <a:off x="10201656" y="5056632"/>
            <a:ext cx="733044" cy="36576"/>
          </a:xfrm>
          <a:prstGeom prst="roundRect">
            <a:avLst>
              <a:gd name="adj" fmla="val 50000"/>
            </a:avLst>
          </a:prstGeom>
          <a:solidFill>
            <a:srgbClr val="D6E5F2"/>
          </a:solidFill>
          <a:ln/>
        </p:spPr>
      </p:sp>
      <p:sp>
        <p:nvSpPr>
          <p:cNvPr id="64" name="Text 54"/>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65" name="Text 55"/>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About Us</a:t>
            </a:r>
            <a:endParaRPr lang="en-US" sz="900" dirty="0"/>
          </a:p>
        </p:txBody>
      </p:sp>
      <p:sp>
        <p:nvSpPr>
          <p:cNvPr id="66" name="Text 56"/>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5 / 23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PAGE WALKTHROUGH · 03</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Services</a:t>
            </a:r>
            <a:endParaRPr lang="en-US" sz="3000" dirty="0"/>
          </a:p>
        </p:txBody>
      </p:sp>
      <p:sp>
        <p:nvSpPr>
          <p:cNvPr id="4" name="Text 2"/>
          <p:cNvSpPr/>
          <p:nvPr/>
        </p:nvSpPr>
        <p:spPr>
          <a:xfrm>
            <a:off x="548640" y="1371600"/>
            <a:ext cx="10789920" cy="365760"/>
          </a:xfrm>
          <a:prstGeom prst="rect">
            <a:avLst/>
          </a:prstGeom>
          <a:noFill/>
          <a:ln/>
        </p:spPr>
        <p:txBody>
          <a:bodyPr wrap="square" lIns="0" tIns="0" rIns="0" bIns="0" rtlCol="0" anchor="ctr"/>
          <a:lstStyle/>
          <a:p>
            <a:pPr indent="0" marL="0">
              <a:buNone/>
            </a:pPr>
            <a:r>
              <a:rPr lang="en-US" sz="1300" dirty="0">
                <a:solidFill>
                  <a:srgbClr val="55677E"/>
                </a:solidFill>
                <a:latin typeface="Calibri" pitchFamily="34" charset="0"/>
                <a:ea typeface="Calibri" pitchFamily="34" charset="-122"/>
                <a:cs typeface="Calibri" pitchFamily="34" charset="-120"/>
              </a:rPr>
              <a:t>Eight service categories, one consistent card pattern</a:t>
            </a:r>
            <a:endParaRPr lang="en-US" sz="1300" dirty="0"/>
          </a:p>
        </p:txBody>
      </p:sp>
      <p:sp>
        <p:nvSpPr>
          <p:cNvPr id="5" name="Shape 3"/>
          <p:cNvSpPr/>
          <p:nvPr/>
        </p:nvSpPr>
        <p:spPr>
          <a:xfrm>
            <a:off x="548640" y="1874520"/>
            <a:ext cx="2670048" cy="1920240"/>
          </a:xfrm>
          <a:prstGeom prst="roundRect">
            <a:avLst>
              <a:gd name="adj" fmla="val 4762"/>
            </a:avLst>
          </a:prstGeom>
          <a:solidFill>
            <a:srgbClr val="F6FAFD"/>
          </a:solidFill>
          <a:ln w="12700">
            <a:solidFill>
              <a:srgbClr val="D6E5F2"/>
            </a:solidFill>
            <a:prstDash val="solid"/>
          </a:ln>
        </p:spPr>
      </p:sp>
      <p:sp>
        <p:nvSpPr>
          <p:cNvPr id="6" name="Shape 4"/>
          <p:cNvSpPr/>
          <p:nvPr/>
        </p:nvSpPr>
        <p:spPr>
          <a:xfrm>
            <a:off x="1517904" y="2130552"/>
            <a:ext cx="731520" cy="731520"/>
          </a:xfrm>
          <a:prstGeom prst="ellipse">
            <a:avLst/>
          </a:prstGeom>
          <a:solidFill>
            <a:srgbClr val="FFFFFF"/>
          </a:solidFill>
          <a:ln/>
        </p:spPr>
      </p:sp>
      <p:pic>
        <p:nvPicPr>
          <p:cNvPr id="7" name="Image 0" descr="/home/claude/medsev-ppt/icons/doctor_0B5FA4.png">    </p:cNvPr>
          <p:cNvPicPr>
            <a:picLocks noChangeAspect="1"/>
          </p:cNvPicPr>
          <p:nvPr/>
        </p:nvPicPr>
        <p:blipFill>
          <a:blip r:embed="rId1"/>
          <a:stretch>
            <a:fillRect/>
          </a:stretch>
        </p:blipFill>
        <p:spPr>
          <a:xfrm>
            <a:off x="1682496" y="2295144"/>
            <a:ext cx="402336" cy="402336"/>
          </a:xfrm>
          <a:prstGeom prst="rect">
            <a:avLst/>
          </a:prstGeom>
        </p:spPr>
      </p:pic>
      <p:sp>
        <p:nvSpPr>
          <p:cNvPr id="8" name="Text 5"/>
          <p:cNvSpPr/>
          <p:nvPr/>
        </p:nvSpPr>
        <p:spPr>
          <a:xfrm>
            <a:off x="640080" y="2953512"/>
            <a:ext cx="2487168" cy="292608"/>
          </a:xfrm>
          <a:prstGeom prst="rect">
            <a:avLst/>
          </a:prstGeom>
          <a:noFill/>
          <a:ln/>
        </p:spPr>
        <p:txBody>
          <a:bodyPr wrap="square" lIns="0" tIns="0" rIns="0" bIns="0" rtlCol="0" anchor="ctr"/>
          <a:lstStyle/>
          <a:p>
            <a:pPr algn="ctr" indent="0" marL="0">
              <a:buNone/>
            </a:pPr>
            <a:r>
              <a:rPr lang="en-US" sz="1350" b="1" dirty="0">
                <a:solidFill>
                  <a:srgbClr val="17263D"/>
                </a:solidFill>
                <a:latin typeface="Cambria" pitchFamily="34" charset="0"/>
                <a:ea typeface="Cambria" pitchFamily="34" charset="-122"/>
                <a:cs typeface="Cambria" pitchFamily="34" charset="-120"/>
              </a:rPr>
              <a:t>Expert Doctor</a:t>
            </a:r>
            <a:endParaRPr lang="en-US" sz="1350" dirty="0"/>
          </a:p>
        </p:txBody>
      </p:sp>
      <p:sp>
        <p:nvSpPr>
          <p:cNvPr id="9" name="Text 6"/>
          <p:cNvSpPr/>
          <p:nvPr/>
        </p:nvSpPr>
        <p:spPr>
          <a:xfrm>
            <a:off x="713232" y="3264408"/>
            <a:ext cx="2340864" cy="457200"/>
          </a:xfrm>
          <a:prstGeom prst="rect">
            <a:avLst/>
          </a:prstGeom>
          <a:noFill/>
          <a:ln/>
        </p:spPr>
        <p:txBody>
          <a:bodyPr wrap="square" lIns="0" tIns="0" rIns="0" bIns="0" rtlCol="0" anchor="ctr"/>
          <a:lstStyle/>
          <a:p>
            <a:pPr algn="ctr" indent="0" marL="0">
              <a:lnSpc>
                <a:spcPct val="110000"/>
              </a:lnSpc>
              <a:buNone/>
            </a:pPr>
            <a:r>
              <a:rPr lang="en-US" sz="900" dirty="0">
                <a:solidFill>
                  <a:srgbClr val="55677E"/>
                </a:solidFill>
                <a:latin typeface="Calibri" pitchFamily="34" charset="0"/>
                <a:ea typeface="Calibri" pitchFamily="34" charset="-122"/>
                <a:cs typeface="Calibri" pitchFamily="34" charset="-120"/>
              </a:rPr>
              <a:t>Service overview, key benefits, and a direct link to full details.</a:t>
            </a:r>
            <a:endParaRPr lang="en-US" sz="900" dirty="0"/>
          </a:p>
        </p:txBody>
      </p:sp>
      <p:sp>
        <p:nvSpPr>
          <p:cNvPr id="10" name="Shape 7"/>
          <p:cNvSpPr/>
          <p:nvPr/>
        </p:nvSpPr>
        <p:spPr>
          <a:xfrm>
            <a:off x="3355848" y="1874520"/>
            <a:ext cx="2670048" cy="1920240"/>
          </a:xfrm>
          <a:prstGeom prst="roundRect">
            <a:avLst>
              <a:gd name="adj" fmla="val 4762"/>
            </a:avLst>
          </a:prstGeom>
          <a:solidFill>
            <a:srgbClr val="F6FAFD"/>
          </a:solidFill>
          <a:ln w="12700">
            <a:solidFill>
              <a:srgbClr val="D6E5F2"/>
            </a:solidFill>
            <a:prstDash val="solid"/>
          </a:ln>
        </p:spPr>
      </p:sp>
      <p:sp>
        <p:nvSpPr>
          <p:cNvPr id="11" name="Shape 8"/>
          <p:cNvSpPr/>
          <p:nvPr/>
        </p:nvSpPr>
        <p:spPr>
          <a:xfrm>
            <a:off x="4325112" y="2130552"/>
            <a:ext cx="731520" cy="731520"/>
          </a:xfrm>
          <a:prstGeom prst="ellipse">
            <a:avLst/>
          </a:prstGeom>
          <a:solidFill>
            <a:srgbClr val="FFFFFF"/>
          </a:solidFill>
          <a:ln/>
        </p:spPr>
      </p:sp>
      <p:pic>
        <p:nvPicPr>
          <p:cNvPr id="12" name="Image 1" descr="/home/claude/medsev-ppt/icons/search_0B5FA4.png">    </p:cNvPr>
          <p:cNvPicPr>
            <a:picLocks noChangeAspect="1"/>
          </p:cNvPicPr>
          <p:nvPr/>
        </p:nvPicPr>
        <p:blipFill>
          <a:blip r:embed="rId2"/>
          <a:stretch>
            <a:fillRect/>
          </a:stretch>
        </p:blipFill>
        <p:spPr>
          <a:xfrm>
            <a:off x="4489704" y="2295144"/>
            <a:ext cx="402336" cy="402336"/>
          </a:xfrm>
          <a:prstGeom prst="rect">
            <a:avLst/>
          </a:prstGeom>
        </p:spPr>
      </p:pic>
      <p:sp>
        <p:nvSpPr>
          <p:cNvPr id="13" name="Text 9"/>
          <p:cNvSpPr/>
          <p:nvPr/>
        </p:nvSpPr>
        <p:spPr>
          <a:xfrm>
            <a:off x="3447288" y="2953512"/>
            <a:ext cx="2487168" cy="292608"/>
          </a:xfrm>
          <a:prstGeom prst="rect">
            <a:avLst/>
          </a:prstGeom>
          <a:noFill/>
          <a:ln/>
        </p:spPr>
        <p:txBody>
          <a:bodyPr wrap="square" lIns="0" tIns="0" rIns="0" bIns="0" rtlCol="0" anchor="ctr"/>
          <a:lstStyle/>
          <a:p>
            <a:pPr algn="ctr" indent="0" marL="0">
              <a:buNone/>
            </a:pPr>
            <a:r>
              <a:rPr lang="en-US" sz="1350" b="1" dirty="0">
                <a:solidFill>
                  <a:srgbClr val="17263D"/>
                </a:solidFill>
                <a:latin typeface="Cambria" pitchFamily="34" charset="0"/>
                <a:ea typeface="Cambria" pitchFamily="34" charset="-122"/>
                <a:cs typeface="Cambria" pitchFamily="34" charset="-120"/>
              </a:rPr>
              <a:t>Diagnosis</a:t>
            </a:r>
            <a:endParaRPr lang="en-US" sz="1350" dirty="0"/>
          </a:p>
        </p:txBody>
      </p:sp>
      <p:sp>
        <p:nvSpPr>
          <p:cNvPr id="14" name="Text 10"/>
          <p:cNvSpPr/>
          <p:nvPr/>
        </p:nvSpPr>
        <p:spPr>
          <a:xfrm>
            <a:off x="3520440" y="3264408"/>
            <a:ext cx="2340864" cy="457200"/>
          </a:xfrm>
          <a:prstGeom prst="rect">
            <a:avLst/>
          </a:prstGeom>
          <a:noFill/>
          <a:ln/>
        </p:spPr>
        <p:txBody>
          <a:bodyPr wrap="square" lIns="0" tIns="0" rIns="0" bIns="0" rtlCol="0" anchor="ctr"/>
          <a:lstStyle/>
          <a:p>
            <a:pPr algn="ctr" indent="0" marL="0">
              <a:lnSpc>
                <a:spcPct val="110000"/>
              </a:lnSpc>
              <a:buNone/>
            </a:pPr>
            <a:r>
              <a:rPr lang="en-US" sz="900" dirty="0">
                <a:solidFill>
                  <a:srgbClr val="55677E"/>
                </a:solidFill>
                <a:latin typeface="Calibri" pitchFamily="34" charset="0"/>
                <a:ea typeface="Calibri" pitchFamily="34" charset="-122"/>
                <a:cs typeface="Calibri" pitchFamily="34" charset="-120"/>
              </a:rPr>
              <a:t>Service overview, key benefits, and a direct link to full details.</a:t>
            </a:r>
            <a:endParaRPr lang="en-US" sz="900" dirty="0"/>
          </a:p>
        </p:txBody>
      </p:sp>
      <p:sp>
        <p:nvSpPr>
          <p:cNvPr id="15" name="Shape 11"/>
          <p:cNvSpPr/>
          <p:nvPr/>
        </p:nvSpPr>
        <p:spPr>
          <a:xfrm>
            <a:off x="6163056" y="1874520"/>
            <a:ext cx="2670048" cy="1920240"/>
          </a:xfrm>
          <a:prstGeom prst="roundRect">
            <a:avLst>
              <a:gd name="adj" fmla="val 4762"/>
            </a:avLst>
          </a:prstGeom>
          <a:solidFill>
            <a:srgbClr val="F6FAFD"/>
          </a:solidFill>
          <a:ln w="12700">
            <a:solidFill>
              <a:srgbClr val="D6E5F2"/>
            </a:solidFill>
            <a:prstDash val="solid"/>
          </a:ln>
        </p:spPr>
      </p:sp>
      <p:sp>
        <p:nvSpPr>
          <p:cNvPr id="16" name="Shape 12"/>
          <p:cNvSpPr/>
          <p:nvPr/>
        </p:nvSpPr>
        <p:spPr>
          <a:xfrm>
            <a:off x="7132320" y="2130552"/>
            <a:ext cx="731520" cy="731520"/>
          </a:xfrm>
          <a:prstGeom prst="ellipse">
            <a:avLst/>
          </a:prstGeom>
          <a:solidFill>
            <a:srgbClr val="FFFFFF"/>
          </a:solidFill>
          <a:ln/>
        </p:spPr>
      </p:sp>
      <p:pic>
        <p:nvPicPr>
          <p:cNvPr id="17" name="Image 2" descr="/home/claude/medsev-ppt/icons/lab_0B5FA4.png">    </p:cNvPr>
          <p:cNvPicPr>
            <a:picLocks noChangeAspect="1"/>
          </p:cNvPicPr>
          <p:nvPr/>
        </p:nvPicPr>
        <p:blipFill>
          <a:blip r:embed="rId3"/>
          <a:stretch>
            <a:fillRect/>
          </a:stretch>
        </p:blipFill>
        <p:spPr>
          <a:xfrm>
            <a:off x="7296912" y="2295144"/>
            <a:ext cx="402336" cy="402336"/>
          </a:xfrm>
          <a:prstGeom prst="rect">
            <a:avLst/>
          </a:prstGeom>
        </p:spPr>
      </p:pic>
      <p:sp>
        <p:nvSpPr>
          <p:cNvPr id="18" name="Text 13"/>
          <p:cNvSpPr/>
          <p:nvPr/>
        </p:nvSpPr>
        <p:spPr>
          <a:xfrm>
            <a:off x="6254496" y="2953512"/>
            <a:ext cx="2487168" cy="292608"/>
          </a:xfrm>
          <a:prstGeom prst="rect">
            <a:avLst/>
          </a:prstGeom>
          <a:noFill/>
          <a:ln/>
        </p:spPr>
        <p:txBody>
          <a:bodyPr wrap="square" lIns="0" tIns="0" rIns="0" bIns="0" rtlCol="0" anchor="ctr"/>
          <a:lstStyle/>
          <a:p>
            <a:pPr algn="ctr" indent="0" marL="0">
              <a:buNone/>
            </a:pPr>
            <a:r>
              <a:rPr lang="en-US" sz="1350" b="1" dirty="0">
                <a:solidFill>
                  <a:srgbClr val="17263D"/>
                </a:solidFill>
                <a:latin typeface="Cambria" pitchFamily="34" charset="0"/>
                <a:ea typeface="Cambria" pitchFamily="34" charset="-122"/>
                <a:cs typeface="Cambria" pitchFamily="34" charset="-120"/>
              </a:rPr>
              <a:t>Pathology</a:t>
            </a:r>
            <a:endParaRPr lang="en-US" sz="1350" dirty="0"/>
          </a:p>
        </p:txBody>
      </p:sp>
      <p:sp>
        <p:nvSpPr>
          <p:cNvPr id="19" name="Text 14"/>
          <p:cNvSpPr/>
          <p:nvPr/>
        </p:nvSpPr>
        <p:spPr>
          <a:xfrm>
            <a:off x="6327648" y="3264408"/>
            <a:ext cx="2340864" cy="457200"/>
          </a:xfrm>
          <a:prstGeom prst="rect">
            <a:avLst/>
          </a:prstGeom>
          <a:noFill/>
          <a:ln/>
        </p:spPr>
        <p:txBody>
          <a:bodyPr wrap="square" lIns="0" tIns="0" rIns="0" bIns="0" rtlCol="0" anchor="ctr"/>
          <a:lstStyle/>
          <a:p>
            <a:pPr algn="ctr" indent="0" marL="0">
              <a:lnSpc>
                <a:spcPct val="110000"/>
              </a:lnSpc>
              <a:buNone/>
            </a:pPr>
            <a:r>
              <a:rPr lang="en-US" sz="900" dirty="0">
                <a:solidFill>
                  <a:srgbClr val="55677E"/>
                </a:solidFill>
                <a:latin typeface="Calibri" pitchFamily="34" charset="0"/>
                <a:ea typeface="Calibri" pitchFamily="34" charset="-122"/>
                <a:cs typeface="Calibri" pitchFamily="34" charset="-120"/>
              </a:rPr>
              <a:t>Service overview, key benefits, and a direct link to full details.</a:t>
            </a:r>
            <a:endParaRPr lang="en-US" sz="900" dirty="0"/>
          </a:p>
        </p:txBody>
      </p:sp>
      <p:sp>
        <p:nvSpPr>
          <p:cNvPr id="20" name="Shape 15"/>
          <p:cNvSpPr/>
          <p:nvPr/>
        </p:nvSpPr>
        <p:spPr>
          <a:xfrm>
            <a:off x="8970264" y="1874520"/>
            <a:ext cx="2670048" cy="1920240"/>
          </a:xfrm>
          <a:prstGeom prst="roundRect">
            <a:avLst>
              <a:gd name="adj" fmla="val 4762"/>
            </a:avLst>
          </a:prstGeom>
          <a:solidFill>
            <a:srgbClr val="F6FAFD"/>
          </a:solidFill>
          <a:ln w="12700">
            <a:solidFill>
              <a:srgbClr val="D6E5F2"/>
            </a:solidFill>
            <a:prstDash val="solid"/>
          </a:ln>
        </p:spPr>
      </p:sp>
      <p:sp>
        <p:nvSpPr>
          <p:cNvPr id="21" name="Shape 16"/>
          <p:cNvSpPr/>
          <p:nvPr/>
        </p:nvSpPr>
        <p:spPr>
          <a:xfrm>
            <a:off x="9939528" y="2130552"/>
            <a:ext cx="731520" cy="731520"/>
          </a:xfrm>
          <a:prstGeom prst="ellipse">
            <a:avLst/>
          </a:prstGeom>
          <a:solidFill>
            <a:srgbClr val="FFFFFF"/>
          </a:solidFill>
          <a:ln/>
        </p:spPr>
      </p:sp>
      <p:pic>
        <p:nvPicPr>
          <p:cNvPr id="22" name="Image 3" descr="/home/claude/medsev-ppt/icons/tooth_0B5FA4.png">    </p:cNvPr>
          <p:cNvPicPr>
            <a:picLocks noChangeAspect="1"/>
          </p:cNvPicPr>
          <p:nvPr/>
        </p:nvPicPr>
        <p:blipFill>
          <a:blip r:embed="rId4"/>
          <a:stretch>
            <a:fillRect/>
          </a:stretch>
        </p:blipFill>
        <p:spPr>
          <a:xfrm>
            <a:off x="10104120" y="2295144"/>
            <a:ext cx="402336" cy="402336"/>
          </a:xfrm>
          <a:prstGeom prst="rect">
            <a:avLst/>
          </a:prstGeom>
        </p:spPr>
      </p:pic>
      <p:sp>
        <p:nvSpPr>
          <p:cNvPr id="23" name="Text 17"/>
          <p:cNvSpPr/>
          <p:nvPr/>
        </p:nvSpPr>
        <p:spPr>
          <a:xfrm>
            <a:off x="9061704" y="2953512"/>
            <a:ext cx="2487168" cy="292608"/>
          </a:xfrm>
          <a:prstGeom prst="rect">
            <a:avLst/>
          </a:prstGeom>
          <a:noFill/>
          <a:ln/>
        </p:spPr>
        <p:txBody>
          <a:bodyPr wrap="square" lIns="0" tIns="0" rIns="0" bIns="0" rtlCol="0" anchor="ctr"/>
          <a:lstStyle/>
          <a:p>
            <a:pPr algn="ctr" indent="0" marL="0">
              <a:buNone/>
            </a:pPr>
            <a:r>
              <a:rPr lang="en-US" sz="1350" b="1" dirty="0">
                <a:solidFill>
                  <a:srgbClr val="17263D"/>
                </a:solidFill>
                <a:latin typeface="Cambria" pitchFamily="34" charset="0"/>
                <a:ea typeface="Cambria" pitchFamily="34" charset="-122"/>
                <a:cs typeface="Cambria" pitchFamily="34" charset="-120"/>
              </a:rPr>
              <a:t>Dental Care</a:t>
            </a:r>
            <a:endParaRPr lang="en-US" sz="1350" dirty="0"/>
          </a:p>
        </p:txBody>
      </p:sp>
      <p:sp>
        <p:nvSpPr>
          <p:cNvPr id="24" name="Text 18"/>
          <p:cNvSpPr/>
          <p:nvPr/>
        </p:nvSpPr>
        <p:spPr>
          <a:xfrm>
            <a:off x="9134856" y="3264408"/>
            <a:ext cx="2340864" cy="457200"/>
          </a:xfrm>
          <a:prstGeom prst="rect">
            <a:avLst/>
          </a:prstGeom>
          <a:noFill/>
          <a:ln/>
        </p:spPr>
        <p:txBody>
          <a:bodyPr wrap="square" lIns="0" tIns="0" rIns="0" bIns="0" rtlCol="0" anchor="ctr"/>
          <a:lstStyle/>
          <a:p>
            <a:pPr algn="ctr" indent="0" marL="0">
              <a:lnSpc>
                <a:spcPct val="110000"/>
              </a:lnSpc>
              <a:buNone/>
            </a:pPr>
            <a:r>
              <a:rPr lang="en-US" sz="900" dirty="0">
                <a:solidFill>
                  <a:srgbClr val="55677E"/>
                </a:solidFill>
                <a:latin typeface="Calibri" pitchFamily="34" charset="0"/>
                <a:ea typeface="Calibri" pitchFamily="34" charset="-122"/>
                <a:cs typeface="Calibri" pitchFamily="34" charset="-120"/>
              </a:rPr>
              <a:t>Service overview, key benefits, and a direct link to full details.</a:t>
            </a:r>
            <a:endParaRPr lang="en-US" sz="900" dirty="0"/>
          </a:p>
        </p:txBody>
      </p:sp>
      <p:sp>
        <p:nvSpPr>
          <p:cNvPr id="25" name="Shape 19"/>
          <p:cNvSpPr/>
          <p:nvPr/>
        </p:nvSpPr>
        <p:spPr>
          <a:xfrm>
            <a:off x="548640" y="3931920"/>
            <a:ext cx="2670048" cy="1920240"/>
          </a:xfrm>
          <a:prstGeom prst="roundRect">
            <a:avLst>
              <a:gd name="adj" fmla="val 4762"/>
            </a:avLst>
          </a:prstGeom>
          <a:solidFill>
            <a:srgbClr val="F6FAFD"/>
          </a:solidFill>
          <a:ln w="12700">
            <a:solidFill>
              <a:srgbClr val="D6E5F2"/>
            </a:solidFill>
            <a:prstDash val="solid"/>
          </a:ln>
        </p:spPr>
      </p:sp>
      <p:sp>
        <p:nvSpPr>
          <p:cNvPr id="26" name="Shape 20"/>
          <p:cNvSpPr/>
          <p:nvPr/>
        </p:nvSpPr>
        <p:spPr>
          <a:xfrm>
            <a:off x="1517904" y="4187952"/>
            <a:ext cx="731520" cy="731520"/>
          </a:xfrm>
          <a:prstGeom prst="ellipse">
            <a:avLst/>
          </a:prstGeom>
          <a:solidFill>
            <a:srgbClr val="FFFFFF"/>
          </a:solidFill>
          <a:ln/>
        </p:spPr>
      </p:sp>
      <p:pic>
        <p:nvPicPr>
          <p:cNvPr id="27" name="Image 4" descr="/home/claude/medsev-ppt/icons/heart_0B5FA4.png">    </p:cNvPr>
          <p:cNvPicPr>
            <a:picLocks noChangeAspect="1"/>
          </p:cNvPicPr>
          <p:nvPr/>
        </p:nvPicPr>
        <p:blipFill>
          <a:blip r:embed="rId5"/>
          <a:stretch>
            <a:fillRect/>
          </a:stretch>
        </p:blipFill>
        <p:spPr>
          <a:xfrm>
            <a:off x="1682496" y="4352544"/>
            <a:ext cx="402336" cy="402336"/>
          </a:xfrm>
          <a:prstGeom prst="rect">
            <a:avLst/>
          </a:prstGeom>
        </p:spPr>
      </p:pic>
      <p:sp>
        <p:nvSpPr>
          <p:cNvPr id="28" name="Text 21"/>
          <p:cNvSpPr/>
          <p:nvPr/>
        </p:nvSpPr>
        <p:spPr>
          <a:xfrm>
            <a:off x="640080" y="5010912"/>
            <a:ext cx="2487168" cy="292608"/>
          </a:xfrm>
          <a:prstGeom prst="rect">
            <a:avLst/>
          </a:prstGeom>
          <a:noFill/>
          <a:ln/>
        </p:spPr>
        <p:txBody>
          <a:bodyPr wrap="square" lIns="0" tIns="0" rIns="0" bIns="0" rtlCol="0" anchor="ctr"/>
          <a:lstStyle/>
          <a:p>
            <a:pPr algn="ctr" indent="0" marL="0">
              <a:buNone/>
            </a:pPr>
            <a:r>
              <a:rPr lang="en-US" sz="1350" b="1" dirty="0">
                <a:solidFill>
                  <a:srgbClr val="17263D"/>
                </a:solidFill>
                <a:latin typeface="Cambria" pitchFamily="34" charset="0"/>
                <a:ea typeface="Cambria" pitchFamily="34" charset="-122"/>
                <a:cs typeface="Cambria" pitchFamily="34" charset="-120"/>
              </a:rPr>
              <a:t>Cardiology</a:t>
            </a:r>
            <a:endParaRPr lang="en-US" sz="1350" dirty="0"/>
          </a:p>
        </p:txBody>
      </p:sp>
      <p:sp>
        <p:nvSpPr>
          <p:cNvPr id="29" name="Text 22"/>
          <p:cNvSpPr/>
          <p:nvPr/>
        </p:nvSpPr>
        <p:spPr>
          <a:xfrm>
            <a:off x="713232" y="5321808"/>
            <a:ext cx="2340864" cy="457200"/>
          </a:xfrm>
          <a:prstGeom prst="rect">
            <a:avLst/>
          </a:prstGeom>
          <a:noFill/>
          <a:ln/>
        </p:spPr>
        <p:txBody>
          <a:bodyPr wrap="square" lIns="0" tIns="0" rIns="0" bIns="0" rtlCol="0" anchor="ctr"/>
          <a:lstStyle/>
          <a:p>
            <a:pPr algn="ctr" indent="0" marL="0">
              <a:lnSpc>
                <a:spcPct val="110000"/>
              </a:lnSpc>
              <a:buNone/>
            </a:pPr>
            <a:r>
              <a:rPr lang="en-US" sz="900" dirty="0">
                <a:solidFill>
                  <a:srgbClr val="55677E"/>
                </a:solidFill>
                <a:latin typeface="Calibri" pitchFamily="34" charset="0"/>
                <a:ea typeface="Calibri" pitchFamily="34" charset="-122"/>
                <a:cs typeface="Calibri" pitchFamily="34" charset="-120"/>
              </a:rPr>
              <a:t>Service overview, key benefits, and a direct link to full details.</a:t>
            </a:r>
            <a:endParaRPr lang="en-US" sz="900" dirty="0"/>
          </a:p>
        </p:txBody>
      </p:sp>
      <p:sp>
        <p:nvSpPr>
          <p:cNvPr id="30" name="Shape 23"/>
          <p:cNvSpPr/>
          <p:nvPr/>
        </p:nvSpPr>
        <p:spPr>
          <a:xfrm>
            <a:off x="3355848" y="3931920"/>
            <a:ext cx="2670048" cy="1920240"/>
          </a:xfrm>
          <a:prstGeom prst="roundRect">
            <a:avLst>
              <a:gd name="adj" fmla="val 4762"/>
            </a:avLst>
          </a:prstGeom>
          <a:solidFill>
            <a:srgbClr val="F6FAFD"/>
          </a:solidFill>
          <a:ln w="12700">
            <a:solidFill>
              <a:srgbClr val="D6E5F2"/>
            </a:solidFill>
            <a:prstDash val="solid"/>
          </a:ln>
        </p:spPr>
      </p:sp>
      <p:sp>
        <p:nvSpPr>
          <p:cNvPr id="31" name="Shape 24"/>
          <p:cNvSpPr/>
          <p:nvPr/>
        </p:nvSpPr>
        <p:spPr>
          <a:xfrm>
            <a:off x="4325112" y="4187952"/>
            <a:ext cx="731520" cy="731520"/>
          </a:xfrm>
          <a:prstGeom prst="ellipse">
            <a:avLst/>
          </a:prstGeom>
          <a:solidFill>
            <a:srgbClr val="FFFFFF"/>
          </a:solidFill>
          <a:ln/>
        </p:spPr>
      </p:sp>
      <p:pic>
        <p:nvPicPr>
          <p:cNvPr id="32" name="Image 5" descr="/home/claude/medsev-ppt/icons/pills_0B5FA4.png">    </p:cNvPr>
          <p:cNvPicPr>
            <a:picLocks noChangeAspect="1"/>
          </p:cNvPicPr>
          <p:nvPr/>
        </p:nvPicPr>
        <p:blipFill>
          <a:blip r:embed="rId6"/>
          <a:stretch>
            <a:fillRect/>
          </a:stretch>
        </p:blipFill>
        <p:spPr>
          <a:xfrm>
            <a:off x="4489704" y="4352544"/>
            <a:ext cx="402336" cy="402336"/>
          </a:xfrm>
          <a:prstGeom prst="rect">
            <a:avLst/>
          </a:prstGeom>
        </p:spPr>
      </p:pic>
      <p:sp>
        <p:nvSpPr>
          <p:cNvPr id="33" name="Text 25"/>
          <p:cNvSpPr/>
          <p:nvPr/>
        </p:nvSpPr>
        <p:spPr>
          <a:xfrm>
            <a:off x="3447288" y="5010912"/>
            <a:ext cx="2487168" cy="292608"/>
          </a:xfrm>
          <a:prstGeom prst="rect">
            <a:avLst/>
          </a:prstGeom>
          <a:noFill/>
          <a:ln/>
        </p:spPr>
        <p:txBody>
          <a:bodyPr wrap="square" lIns="0" tIns="0" rIns="0" bIns="0" rtlCol="0" anchor="ctr"/>
          <a:lstStyle/>
          <a:p>
            <a:pPr algn="ctr" indent="0" marL="0">
              <a:buNone/>
            </a:pPr>
            <a:r>
              <a:rPr lang="en-US" sz="1350" b="1" dirty="0">
                <a:solidFill>
                  <a:srgbClr val="17263D"/>
                </a:solidFill>
                <a:latin typeface="Cambria" pitchFamily="34" charset="0"/>
                <a:ea typeface="Cambria" pitchFamily="34" charset="-122"/>
                <a:cs typeface="Cambria" pitchFamily="34" charset="-120"/>
              </a:rPr>
              <a:t>Medicine</a:t>
            </a:r>
            <a:endParaRPr lang="en-US" sz="1350" dirty="0"/>
          </a:p>
        </p:txBody>
      </p:sp>
      <p:sp>
        <p:nvSpPr>
          <p:cNvPr id="34" name="Text 26"/>
          <p:cNvSpPr/>
          <p:nvPr/>
        </p:nvSpPr>
        <p:spPr>
          <a:xfrm>
            <a:off x="3520440" y="5321808"/>
            <a:ext cx="2340864" cy="457200"/>
          </a:xfrm>
          <a:prstGeom prst="rect">
            <a:avLst/>
          </a:prstGeom>
          <a:noFill/>
          <a:ln/>
        </p:spPr>
        <p:txBody>
          <a:bodyPr wrap="square" lIns="0" tIns="0" rIns="0" bIns="0" rtlCol="0" anchor="ctr"/>
          <a:lstStyle/>
          <a:p>
            <a:pPr algn="ctr" indent="0" marL="0">
              <a:lnSpc>
                <a:spcPct val="110000"/>
              </a:lnSpc>
              <a:buNone/>
            </a:pPr>
            <a:r>
              <a:rPr lang="en-US" sz="900" dirty="0">
                <a:solidFill>
                  <a:srgbClr val="55677E"/>
                </a:solidFill>
                <a:latin typeface="Calibri" pitchFamily="34" charset="0"/>
                <a:ea typeface="Calibri" pitchFamily="34" charset="-122"/>
                <a:cs typeface="Calibri" pitchFamily="34" charset="-120"/>
              </a:rPr>
              <a:t>Service overview, key benefits, and a direct link to full details.</a:t>
            </a:r>
            <a:endParaRPr lang="en-US" sz="900" dirty="0"/>
          </a:p>
        </p:txBody>
      </p:sp>
      <p:sp>
        <p:nvSpPr>
          <p:cNvPr id="35" name="Shape 27"/>
          <p:cNvSpPr/>
          <p:nvPr/>
        </p:nvSpPr>
        <p:spPr>
          <a:xfrm>
            <a:off x="6163056" y="3931920"/>
            <a:ext cx="2670048" cy="1920240"/>
          </a:xfrm>
          <a:prstGeom prst="roundRect">
            <a:avLst>
              <a:gd name="adj" fmla="val 4762"/>
            </a:avLst>
          </a:prstGeom>
          <a:solidFill>
            <a:srgbClr val="F6FAFD"/>
          </a:solidFill>
          <a:ln w="12700">
            <a:solidFill>
              <a:srgbClr val="D6E5F2"/>
            </a:solidFill>
            <a:prstDash val="solid"/>
          </a:ln>
        </p:spPr>
      </p:sp>
      <p:sp>
        <p:nvSpPr>
          <p:cNvPr id="36" name="Shape 28"/>
          <p:cNvSpPr/>
          <p:nvPr/>
        </p:nvSpPr>
        <p:spPr>
          <a:xfrm>
            <a:off x="7132320" y="4187952"/>
            <a:ext cx="731520" cy="731520"/>
          </a:xfrm>
          <a:prstGeom prst="ellipse">
            <a:avLst/>
          </a:prstGeom>
          <a:solidFill>
            <a:srgbClr val="FFFFFF"/>
          </a:solidFill>
          <a:ln/>
        </p:spPr>
      </p:sp>
      <p:pic>
        <p:nvPicPr>
          <p:cNvPr id="37" name="Image 6" descr="/home/claude/medsev-ppt/icons/brain_0B5FA4.png">    </p:cNvPr>
          <p:cNvPicPr>
            <a:picLocks noChangeAspect="1"/>
          </p:cNvPicPr>
          <p:nvPr/>
        </p:nvPicPr>
        <p:blipFill>
          <a:blip r:embed="rId7"/>
          <a:stretch>
            <a:fillRect/>
          </a:stretch>
        </p:blipFill>
        <p:spPr>
          <a:xfrm>
            <a:off x="7296912" y="4352544"/>
            <a:ext cx="402336" cy="402336"/>
          </a:xfrm>
          <a:prstGeom prst="rect">
            <a:avLst/>
          </a:prstGeom>
        </p:spPr>
      </p:pic>
      <p:sp>
        <p:nvSpPr>
          <p:cNvPr id="38" name="Text 29"/>
          <p:cNvSpPr/>
          <p:nvPr/>
        </p:nvSpPr>
        <p:spPr>
          <a:xfrm>
            <a:off x="6254496" y="5010912"/>
            <a:ext cx="2487168" cy="292608"/>
          </a:xfrm>
          <a:prstGeom prst="rect">
            <a:avLst/>
          </a:prstGeom>
          <a:noFill/>
          <a:ln/>
        </p:spPr>
        <p:txBody>
          <a:bodyPr wrap="square" lIns="0" tIns="0" rIns="0" bIns="0" rtlCol="0" anchor="ctr"/>
          <a:lstStyle/>
          <a:p>
            <a:pPr algn="ctr" indent="0" marL="0">
              <a:buNone/>
            </a:pPr>
            <a:r>
              <a:rPr lang="en-US" sz="1350" b="1" dirty="0">
                <a:solidFill>
                  <a:srgbClr val="17263D"/>
                </a:solidFill>
                <a:latin typeface="Cambria" pitchFamily="34" charset="0"/>
                <a:ea typeface="Cambria" pitchFamily="34" charset="-122"/>
                <a:cs typeface="Cambria" pitchFamily="34" charset="-120"/>
              </a:rPr>
              <a:t>Neurology</a:t>
            </a:r>
            <a:endParaRPr lang="en-US" sz="1350" dirty="0"/>
          </a:p>
        </p:txBody>
      </p:sp>
      <p:sp>
        <p:nvSpPr>
          <p:cNvPr id="39" name="Text 30"/>
          <p:cNvSpPr/>
          <p:nvPr/>
        </p:nvSpPr>
        <p:spPr>
          <a:xfrm>
            <a:off x="6327648" y="5321808"/>
            <a:ext cx="2340864" cy="457200"/>
          </a:xfrm>
          <a:prstGeom prst="rect">
            <a:avLst/>
          </a:prstGeom>
          <a:noFill/>
          <a:ln/>
        </p:spPr>
        <p:txBody>
          <a:bodyPr wrap="square" lIns="0" tIns="0" rIns="0" bIns="0" rtlCol="0" anchor="ctr"/>
          <a:lstStyle/>
          <a:p>
            <a:pPr algn="ctr" indent="0" marL="0">
              <a:lnSpc>
                <a:spcPct val="110000"/>
              </a:lnSpc>
              <a:buNone/>
            </a:pPr>
            <a:r>
              <a:rPr lang="en-US" sz="900" dirty="0">
                <a:solidFill>
                  <a:srgbClr val="55677E"/>
                </a:solidFill>
                <a:latin typeface="Calibri" pitchFamily="34" charset="0"/>
                <a:ea typeface="Calibri" pitchFamily="34" charset="-122"/>
                <a:cs typeface="Calibri" pitchFamily="34" charset="-120"/>
              </a:rPr>
              <a:t>Service overview, key benefits, and a direct link to full details.</a:t>
            </a:r>
            <a:endParaRPr lang="en-US" sz="900" dirty="0"/>
          </a:p>
        </p:txBody>
      </p:sp>
      <p:sp>
        <p:nvSpPr>
          <p:cNvPr id="40" name="Shape 31"/>
          <p:cNvSpPr/>
          <p:nvPr/>
        </p:nvSpPr>
        <p:spPr>
          <a:xfrm>
            <a:off x="8970264" y="3931920"/>
            <a:ext cx="2670048" cy="1920240"/>
          </a:xfrm>
          <a:prstGeom prst="roundRect">
            <a:avLst>
              <a:gd name="adj" fmla="val 4762"/>
            </a:avLst>
          </a:prstGeom>
          <a:solidFill>
            <a:srgbClr val="F6FAFD"/>
          </a:solidFill>
          <a:ln w="12700">
            <a:solidFill>
              <a:srgbClr val="D6E5F2"/>
            </a:solidFill>
            <a:prstDash val="solid"/>
          </a:ln>
        </p:spPr>
      </p:sp>
      <p:sp>
        <p:nvSpPr>
          <p:cNvPr id="41" name="Shape 32"/>
          <p:cNvSpPr/>
          <p:nvPr/>
        </p:nvSpPr>
        <p:spPr>
          <a:xfrm>
            <a:off x="9939528" y="4187952"/>
            <a:ext cx="731520" cy="731520"/>
          </a:xfrm>
          <a:prstGeom prst="ellipse">
            <a:avLst/>
          </a:prstGeom>
          <a:solidFill>
            <a:srgbClr val="FFFFFF"/>
          </a:solidFill>
          <a:ln/>
        </p:spPr>
      </p:sp>
      <p:pic>
        <p:nvPicPr>
          <p:cNvPr id="42" name="Image 7" descr="/home/claude/medsev-ppt/icons/ambulance_0B5FA4.png">    </p:cNvPr>
          <p:cNvPicPr>
            <a:picLocks noChangeAspect="1"/>
          </p:cNvPicPr>
          <p:nvPr/>
        </p:nvPicPr>
        <p:blipFill>
          <a:blip r:embed="rId8"/>
          <a:stretch>
            <a:fillRect/>
          </a:stretch>
        </p:blipFill>
        <p:spPr>
          <a:xfrm>
            <a:off x="10104120" y="4352544"/>
            <a:ext cx="402336" cy="402336"/>
          </a:xfrm>
          <a:prstGeom prst="rect">
            <a:avLst/>
          </a:prstGeom>
        </p:spPr>
      </p:pic>
      <p:sp>
        <p:nvSpPr>
          <p:cNvPr id="43" name="Text 33"/>
          <p:cNvSpPr/>
          <p:nvPr/>
        </p:nvSpPr>
        <p:spPr>
          <a:xfrm>
            <a:off x="9061704" y="5010912"/>
            <a:ext cx="2487168" cy="292608"/>
          </a:xfrm>
          <a:prstGeom prst="rect">
            <a:avLst/>
          </a:prstGeom>
          <a:noFill/>
          <a:ln/>
        </p:spPr>
        <p:txBody>
          <a:bodyPr wrap="square" lIns="0" tIns="0" rIns="0" bIns="0" rtlCol="0" anchor="ctr"/>
          <a:lstStyle/>
          <a:p>
            <a:pPr algn="ctr" indent="0" marL="0">
              <a:buNone/>
            </a:pPr>
            <a:r>
              <a:rPr lang="en-US" sz="1350" b="1" dirty="0">
                <a:solidFill>
                  <a:srgbClr val="17263D"/>
                </a:solidFill>
                <a:latin typeface="Cambria" pitchFamily="34" charset="0"/>
                <a:ea typeface="Cambria" pitchFamily="34" charset="-122"/>
                <a:cs typeface="Cambria" pitchFamily="34" charset="-120"/>
              </a:rPr>
              <a:t>Ambulance</a:t>
            </a:r>
            <a:endParaRPr lang="en-US" sz="1350" dirty="0"/>
          </a:p>
        </p:txBody>
      </p:sp>
      <p:sp>
        <p:nvSpPr>
          <p:cNvPr id="44" name="Text 34"/>
          <p:cNvSpPr/>
          <p:nvPr/>
        </p:nvSpPr>
        <p:spPr>
          <a:xfrm>
            <a:off x="9134856" y="5321808"/>
            <a:ext cx="2340864" cy="457200"/>
          </a:xfrm>
          <a:prstGeom prst="rect">
            <a:avLst/>
          </a:prstGeom>
          <a:noFill/>
          <a:ln/>
        </p:spPr>
        <p:txBody>
          <a:bodyPr wrap="square" lIns="0" tIns="0" rIns="0" bIns="0" rtlCol="0" anchor="ctr"/>
          <a:lstStyle/>
          <a:p>
            <a:pPr algn="ctr" indent="0" marL="0">
              <a:lnSpc>
                <a:spcPct val="110000"/>
              </a:lnSpc>
              <a:buNone/>
            </a:pPr>
            <a:r>
              <a:rPr lang="en-US" sz="900" dirty="0">
                <a:solidFill>
                  <a:srgbClr val="55677E"/>
                </a:solidFill>
                <a:latin typeface="Calibri" pitchFamily="34" charset="0"/>
                <a:ea typeface="Calibri" pitchFamily="34" charset="-122"/>
                <a:cs typeface="Calibri" pitchFamily="34" charset="-120"/>
              </a:rPr>
              <a:t>Service overview, key benefits, and a direct link to full details.</a:t>
            </a:r>
            <a:endParaRPr lang="en-US" sz="900" dirty="0"/>
          </a:p>
        </p:txBody>
      </p:sp>
      <p:sp>
        <p:nvSpPr>
          <p:cNvPr id="45" name="Text 35"/>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46" name="Text 36"/>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Services</a:t>
            </a:r>
            <a:endParaRPr lang="en-US" sz="900" dirty="0"/>
          </a:p>
        </p:txBody>
      </p:sp>
      <p:sp>
        <p:nvSpPr>
          <p:cNvPr id="47" name="Text 37"/>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6 / 23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PAGE WALKTHROUGH · 04</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Service Details</a:t>
            </a:r>
            <a:endParaRPr lang="en-US" sz="3000" dirty="0"/>
          </a:p>
        </p:txBody>
      </p:sp>
      <p:sp>
        <p:nvSpPr>
          <p:cNvPr id="4" name="Shape 2"/>
          <p:cNvSpPr/>
          <p:nvPr/>
        </p:nvSpPr>
        <p:spPr>
          <a:xfrm>
            <a:off x="548640" y="1417320"/>
            <a:ext cx="6309360" cy="4663440"/>
          </a:xfrm>
          <a:prstGeom prst="roundRect">
            <a:avLst>
              <a:gd name="adj" fmla="val 1373"/>
            </a:avLst>
          </a:prstGeom>
          <a:solidFill>
            <a:srgbClr val="FFFFFF"/>
          </a:solidFill>
          <a:ln w="12700">
            <a:solidFill>
              <a:srgbClr val="D6E5F2"/>
            </a:solidFill>
            <a:prstDash val="solid"/>
          </a:ln>
          <a:effectLst>
            <a:outerShdw sx="100000" sy="100000" kx="0" ky="0" algn="bl" rotWithShape="0" blurRad="152400" dist="50800" dir="5400000">
              <a:srgbClr val="0A3B63">
                <a:alpha val="22000"/>
              </a:srgbClr>
            </a:outerShdw>
          </a:effectLst>
        </p:spPr>
      </p:sp>
      <p:sp>
        <p:nvSpPr>
          <p:cNvPr id="5" name="Shape 3"/>
          <p:cNvSpPr/>
          <p:nvPr/>
        </p:nvSpPr>
        <p:spPr>
          <a:xfrm>
            <a:off x="548640" y="1417320"/>
            <a:ext cx="6309360" cy="310896"/>
          </a:xfrm>
          <a:prstGeom prst="rect">
            <a:avLst/>
          </a:prstGeom>
          <a:solidFill>
            <a:srgbClr val="F6FAFD"/>
          </a:solidFill>
          <a:ln/>
        </p:spPr>
      </p:sp>
      <p:sp>
        <p:nvSpPr>
          <p:cNvPr id="6" name="Shape 4"/>
          <p:cNvSpPr/>
          <p:nvPr/>
        </p:nvSpPr>
        <p:spPr>
          <a:xfrm>
            <a:off x="676656" y="1527048"/>
            <a:ext cx="100584" cy="100584"/>
          </a:xfrm>
          <a:prstGeom prst="ellipse">
            <a:avLst/>
          </a:prstGeom>
          <a:solidFill>
            <a:srgbClr val="E27D60"/>
          </a:solidFill>
          <a:ln/>
        </p:spPr>
      </p:sp>
      <p:sp>
        <p:nvSpPr>
          <p:cNvPr id="7" name="Shape 5"/>
          <p:cNvSpPr/>
          <p:nvPr/>
        </p:nvSpPr>
        <p:spPr>
          <a:xfrm>
            <a:off x="859536" y="1527048"/>
            <a:ext cx="100584" cy="100584"/>
          </a:xfrm>
          <a:prstGeom prst="ellipse">
            <a:avLst/>
          </a:prstGeom>
          <a:solidFill>
            <a:srgbClr val="E8C547"/>
          </a:solidFill>
          <a:ln/>
        </p:spPr>
      </p:sp>
      <p:sp>
        <p:nvSpPr>
          <p:cNvPr id="8" name="Shape 6"/>
          <p:cNvSpPr/>
          <p:nvPr/>
        </p:nvSpPr>
        <p:spPr>
          <a:xfrm>
            <a:off x="1042416" y="1527048"/>
            <a:ext cx="100584" cy="100584"/>
          </a:xfrm>
          <a:prstGeom prst="ellipse">
            <a:avLst/>
          </a:prstGeom>
          <a:solidFill>
            <a:srgbClr val="6FCF97"/>
          </a:solidFill>
          <a:ln/>
        </p:spPr>
      </p:sp>
      <p:sp>
        <p:nvSpPr>
          <p:cNvPr id="9" name="Shape 7"/>
          <p:cNvSpPr/>
          <p:nvPr/>
        </p:nvSpPr>
        <p:spPr>
          <a:xfrm>
            <a:off x="1325880" y="1490472"/>
            <a:ext cx="5303520" cy="164592"/>
          </a:xfrm>
          <a:prstGeom prst="roundRect">
            <a:avLst>
              <a:gd name="adj" fmla="val 50000"/>
            </a:avLst>
          </a:prstGeom>
          <a:solidFill>
            <a:srgbClr val="FFFFFF"/>
          </a:solidFill>
          <a:ln w="6350">
            <a:solidFill>
              <a:srgbClr val="D6E5F2"/>
            </a:solidFill>
            <a:prstDash val="solid"/>
          </a:ln>
        </p:spPr>
      </p:sp>
      <p:sp>
        <p:nvSpPr>
          <p:cNvPr id="10" name="Text 8"/>
          <p:cNvSpPr/>
          <p:nvPr/>
        </p:nvSpPr>
        <p:spPr>
          <a:xfrm>
            <a:off x="1417320" y="1485900"/>
            <a:ext cx="5212080" cy="173736"/>
          </a:xfrm>
          <a:prstGeom prst="rect">
            <a:avLst/>
          </a:prstGeom>
          <a:noFill/>
          <a:ln/>
        </p:spPr>
        <p:txBody>
          <a:bodyPr wrap="square" lIns="0" tIns="0" rIns="0" bIns="0" rtlCol="0" anchor="ctr"/>
          <a:lstStyle/>
          <a:p>
            <a:pPr indent="0" marL="0">
              <a:buNone/>
            </a:pPr>
            <a:r>
              <a:rPr lang="en-US" sz="800" dirty="0">
                <a:solidFill>
                  <a:srgbClr val="55677E"/>
                </a:solidFill>
                <a:latin typeface="Calibri" pitchFamily="34" charset="0"/>
                <a:ea typeface="Calibri" pitchFamily="34" charset="-122"/>
                <a:cs typeface="Calibri" pitchFamily="34" charset="-120"/>
              </a:rPr>
              <a:t>medsev/default/service-details.html</a:t>
            </a:r>
            <a:endParaRPr lang="en-US" sz="800" dirty="0"/>
          </a:p>
        </p:txBody>
      </p:sp>
      <p:sp>
        <p:nvSpPr>
          <p:cNvPr id="11" name="Shape 9"/>
          <p:cNvSpPr/>
          <p:nvPr/>
        </p:nvSpPr>
        <p:spPr>
          <a:xfrm>
            <a:off x="676656" y="1837944"/>
            <a:ext cx="6053328" cy="1417320"/>
          </a:xfrm>
          <a:prstGeom prst="roundRect">
            <a:avLst>
              <a:gd name="adj" fmla="val 3871"/>
            </a:avLst>
          </a:prstGeom>
          <a:solidFill>
            <a:srgbClr val="EAF3FB"/>
          </a:solidFill>
          <a:ln/>
        </p:spPr>
      </p:sp>
      <p:sp>
        <p:nvSpPr>
          <p:cNvPr id="12" name="Shape 10"/>
          <p:cNvSpPr/>
          <p:nvPr/>
        </p:nvSpPr>
        <p:spPr>
          <a:xfrm>
            <a:off x="950976" y="2157984"/>
            <a:ext cx="777240" cy="777240"/>
          </a:xfrm>
          <a:prstGeom prst="ellipse">
            <a:avLst/>
          </a:prstGeom>
          <a:solidFill>
            <a:srgbClr val="FFFFFF"/>
          </a:solidFill>
          <a:ln/>
        </p:spPr>
      </p:sp>
      <p:pic>
        <p:nvPicPr>
          <p:cNvPr id="13" name="Image 0" descr="/home/claude/medsev-ppt/icons/heart_0B5FA4.png">    </p:cNvPr>
          <p:cNvPicPr>
            <a:picLocks noChangeAspect="1"/>
          </p:cNvPicPr>
          <p:nvPr/>
        </p:nvPicPr>
        <p:blipFill>
          <a:blip r:embed="rId1"/>
          <a:stretch>
            <a:fillRect/>
          </a:stretch>
        </p:blipFill>
        <p:spPr>
          <a:xfrm>
            <a:off x="1145286" y="2352294"/>
            <a:ext cx="388620" cy="388620"/>
          </a:xfrm>
          <a:prstGeom prst="rect">
            <a:avLst/>
          </a:prstGeom>
        </p:spPr>
      </p:pic>
      <p:sp>
        <p:nvSpPr>
          <p:cNvPr id="14" name="Text 11"/>
          <p:cNvSpPr/>
          <p:nvPr/>
        </p:nvSpPr>
        <p:spPr>
          <a:xfrm>
            <a:off x="1911096" y="2203704"/>
            <a:ext cx="4590288" cy="292608"/>
          </a:xfrm>
          <a:prstGeom prst="rect">
            <a:avLst/>
          </a:prstGeom>
          <a:noFill/>
          <a:ln/>
        </p:spPr>
        <p:txBody>
          <a:bodyPr wrap="square" lIns="0" tIns="0" rIns="0" bIns="0" rtlCol="0" anchor="ctr"/>
          <a:lstStyle/>
          <a:p>
            <a:pPr indent="0" marL="0">
              <a:buNone/>
            </a:pPr>
            <a:r>
              <a:rPr lang="en-US" sz="1500" b="1" dirty="0">
                <a:solidFill>
                  <a:srgbClr val="17263D"/>
                </a:solidFill>
                <a:latin typeface="Cambria" pitchFamily="34" charset="0"/>
                <a:ea typeface="Cambria" pitchFamily="34" charset="-122"/>
                <a:cs typeface="Cambria" pitchFamily="34" charset="-120"/>
              </a:rPr>
              <a:t>Cardiology</a:t>
            </a:r>
            <a:endParaRPr lang="en-US" sz="1500" dirty="0"/>
          </a:p>
        </p:txBody>
      </p:sp>
      <p:sp>
        <p:nvSpPr>
          <p:cNvPr id="15" name="Shape 12"/>
          <p:cNvSpPr/>
          <p:nvPr/>
        </p:nvSpPr>
        <p:spPr>
          <a:xfrm>
            <a:off x="1911096" y="2615184"/>
            <a:ext cx="4590288" cy="64008"/>
          </a:xfrm>
          <a:prstGeom prst="roundRect">
            <a:avLst>
              <a:gd name="adj" fmla="val 28571"/>
            </a:avLst>
          </a:prstGeom>
          <a:solidFill>
            <a:srgbClr val="D6E5F2"/>
          </a:solidFill>
          <a:ln/>
        </p:spPr>
      </p:sp>
      <p:sp>
        <p:nvSpPr>
          <p:cNvPr id="16" name="Shape 13"/>
          <p:cNvSpPr/>
          <p:nvPr/>
        </p:nvSpPr>
        <p:spPr>
          <a:xfrm>
            <a:off x="1911096" y="2761488"/>
            <a:ext cx="2983687" cy="51206"/>
          </a:xfrm>
          <a:prstGeom prst="roundRect">
            <a:avLst>
              <a:gd name="adj" fmla="val 35715"/>
            </a:avLst>
          </a:prstGeom>
          <a:solidFill>
            <a:srgbClr val="D6E5F2"/>
          </a:solidFill>
          <a:ln/>
        </p:spPr>
      </p:sp>
      <p:sp>
        <p:nvSpPr>
          <p:cNvPr id="17" name="Shape 14"/>
          <p:cNvSpPr/>
          <p:nvPr/>
        </p:nvSpPr>
        <p:spPr>
          <a:xfrm>
            <a:off x="1911096" y="2889504"/>
            <a:ext cx="2754173" cy="64008"/>
          </a:xfrm>
          <a:prstGeom prst="roundRect">
            <a:avLst>
              <a:gd name="adj" fmla="val 28571"/>
            </a:avLst>
          </a:prstGeom>
          <a:solidFill>
            <a:srgbClr val="D6E5F2"/>
          </a:solidFill>
          <a:ln/>
        </p:spPr>
      </p:sp>
      <p:sp>
        <p:nvSpPr>
          <p:cNvPr id="18" name="Shape 15"/>
          <p:cNvSpPr/>
          <p:nvPr/>
        </p:nvSpPr>
        <p:spPr>
          <a:xfrm>
            <a:off x="1911096" y="3035808"/>
            <a:ext cx="1790212" cy="51206"/>
          </a:xfrm>
          <a:prstGeom prst="roundRect">
            <a:avLst>
              <a:gd name="adj" fmla="val 35715"/>
            </a:avLst>
          </a:prstGeom>
          <a:solidFill>
            <a:srgbClr val="D6E5F2"/>
          </a:solidFill>
          <a:ln/>
        </p:spPr>
      </p:sp>
      <p:sp>
        <p:nvSpPr>
          <p:cNvPr id="19" name="Text 16"/>
          <p:cNvSpPr/>
          <p:nvPr/>
        </p:nvSpPr>
        <p:spPr>
          <a:xfrm>
            <a:off x="676656" y="3529584"/>
            <a:ext cx="6053328" cy="219456"/>
          </a:xfrm>
          <a:prstGeom prst="rect">
            <a:avLst/>
          </a:prstGeom>
          <a:noFill/>
          <a:ln/>
        </p:spPr>
        <p:txBody>
          <a:bodyPr wrap="square" lIns="0" tIns="0" rIns="0" bIns="0" rtlCol="0" anchor="ctr"/>
          <a:lstStyle/>
          <a:p>
            <a:pPr indent="0" marL="0">
              <a:buNone/>
            </a:pPr>
            <a:r>
              <a:rPr lang="en-US" sz="900" b="1" spc="100" kern="0" dirty="0">
                <a:solidFill>
                  <a:srgbClr val="0B5FA4"/>
                </a:solidFill>
                <a:latin typeface="Calibri" pitchFamily="34" charset="0"/>
                <a:ea typeface="Calibri" pitchFamily="34" charset="-122"/>
                <a:cs typeface="Calibri" pitchFamily="34" charset="-120"/>
              </a:rPr>
              <a:t>WHAT THIS SERVICE COVERS</a:t>
            </a:r>
            <a:endParaRPr lang="en-US" sz="900" dirty="0"/>
          </a:p>
        </p:txBody>
      </p:sp>
      <p:sp>
        <p:nvSpPr>
          <p:cNvPr id="20" name="Shape 17"/>
          <p:cNvSpPr/>
          <p:nvPr/>
        </p:nvSpPr>
        <p:spPr>
          <a:xfrm>
            <a:off x="676656" y="3849624"/>
            <a:ext cx="219456" cy="219456"/>
          </a:xfrm>
          <a:prstGeom prst="ellipse">
            <a:avLst/>
          </a:prstGeom>
          <a:solidFill>
            <a:srgbClr val="FFFFFF"/>
          </a:solidFill>
          <a:ln/>
        </p:spPr>
      </p:sp>
      <p:pic>
        <p:nvPicPr>
          <p:cNvPr id="21" name="Image 1" descr="/home/claude/medsev-ppt/icons/check_00B4A6.png">    </p:cNvPr>
          <p:cNvPicPr>
            <a:picLocks noChangeAspect="1"/>
          </p:cNvPicPr>
          <p:nvPr/>
        </p:nvPicPr>
        <p:blipFill>
          <a:blip r:embed="rId2"/>
          <a:stretch>
            <a:fillRect/>
          </a:stretch>
        </p:blipFill>
        <p:spPr>
          <a:xfrm>
            <a:off x="715061" y="3888029"/>
            <a:ext cx="142646" cy="142646"/>
          </a:xfrm>
          <a:prstGeom prst="rect">
            <a:avLst/>
          </a:prstGeom>
        </p:spPr>
      </p:pic>
      <p:sp>
        <p:nvSpPr>
          <p:cNvPr id="22" name="Shape 18"/>
          <p:cNvSpPr/>
          <p:nvPr/>
        </p:nvSpPr>
        <p:spPr>
          <a:xfrm>
            <a:off x="1005840" y="3904488"/>
            <a:ext cx="5596128" cy="64008"/>
          </a:xfrm>
          <a:prstGeom prst="roundRect">
            <a:avLst>
              <a:gd name="adj" fmla="val 28571"/>
            </a:avLst>
          </a:prstGeom>
          <a:solidFill>
            <a:srgbClr val="D6E5F2"/>
          </a:solidFill>
          <a:ln/>
        </p:spPr>
      </p:sp>
      <p:sp>
        <p:nvSpPr>
          <p:cNvPr id="23" name="Shape 19"/>
          <p:cNvSpPr/>
          <p:nvPr/>
        </p:nvSpPr>
        <p:spPr>
          <a:xfrm>
            <a:off x="1005840" y="4050792"/>
            <a:ext cx="3637483" cy="51206"/>
          </a:xfrm>
          <a:prstGeom prst="roundRect">
            <a:avLst>
              <a:gd name="adj" fmla="val 35715"/>
            </a:avLst>
          </a:prstGeom>
          <a:solidFill>
            <a:srgbClr val="D6E5F2"/>
          </a:solidFill>
          <a:ln/>
        </p:spPr>
      </p:sp>
      <p:sp>
        <p:nvSpPr>
          <p:cNvPr id="24" name="Shape 20"/>
          <p:cNvSpPr/>
          <p:nvPr/>
        </p:nvSpPr>
        <p:spPr>
          <a:xfrm>
            <a:off x="676656" y="4233672"/>
            <a:ext cx="219456" cy="219456"/>
          </a:xfrm>
          <a:prstGeom prst="ellipse">
            <a:avLst/>
          </a:prstGeom>
          <a:solidFill>
            <a:srgbClr val="FFFFFF"/>
          </a:solidFill>
          <a:ln/>
        </p:spPr>
      </p:sp>
      <p:pic>
        <p:nvPicPr>
          <p:cNvPr id="25" name="Image 2" descr="/home/claude/medsev-ppt/icons/check_00B4A6.png">    </p:cNvPr>
          <p:cNvPicPr>
            <a:picLocks noChangeAspect="1"/>
          </p:cNvPicPr>
          <p:nvPr/>
        </p:nvPicPr>
        <p:blipFill>
          <a:blip r:embed="rId3"/>
          <a:stretch>
            <a:fillRect/>
          </a:stretch>
        </p:blipFill>
        <p:spPr>
          <a:xfrm>
            <a:off x="715061" y="4272077"/>
            <a:ext cx="142646" cy="142646"/>
          </a:xfrm>
          <a:prstGeom prst="rect">
            <a:avLst/>
          </a:prstGeom>
        </p:spPr>
      </p:pic>
      <p:sp>
        <p:nvSpPr>
          <p:cNvPr id="26" name="Shape 21"/>
          <p:cNvSpPr/>
          <p:nvPr/>
        </p:nvSpPr>
        <p:spPr>
          <a:xfrm>
            <a:off x="1005840" y="4288536"/>
            <a:ext cx="5596128" cy="64008"/>
          </a:xfrm>
          <a:prstGeom prst="roundRect">
            <a:avLst>
              <a:gd name="adj" fmla="val 28571"/>
            </a:avLst>
          </a:prstGeom>
          <a:solidFill>
            <a:srgbClr val="D6E5F2"/>
          </a:solidFill>
          <a:ln/>
        </p:spPr>
      </p:sp>
      <p:sp>
        <p:nvSpPr>
          <p:cNvPr id="27" name="Shape 22"/>
          <p:cNvSpPr/>
          <p:nvPr/>
        </p:nvSpPr>
        <p:spPr>
          <a:xfrm>
            <a:off x="1005840" y="4434840"/>
            <a:ext cx="3637483" cy="51206"/>
          </a:xfrm>
          <a:prstGeom prst="roundRect">
            <a:avLst>
              <a:gd name="adj" fmla="val 35715"/>
            </a:avLst>
          </a:prstGeom>
          <a:solidFill>
            <a:srgbClr val="D6E5F2"/>
          </a:solidFill>
          <a:ln/>
        </p:spPr>
      </p:sp>
      <p:sp>
        <p:nvSpPr>
          <p:cNvPr id="28" name="Shape 23"/>
          <p:cNvSpPr/>
          <p:nvPr/>
        </p:nvSpPr>
        <p:spPr>
          <a:xfrm>
            <a:off x="676656" y="4617720"/>
            <a:ext cx="219456" cy="219456"/>
          </a:xfrm>
          <a:prstGeom prst="ellipse">
            <a:avLst/>
          </a:prstGeom>
          <a:solidFill>
            <a:srgbClr val="FFFFFF"/>
          </a:solidFill>
          <a:ln/>
        </p:spPr>
      </p:sp>
      <p:pic>
        <p:nvPicPr>
          <p:cNvPr id="29" name="Image 3" descr="/home/claude/medsev-ppt/icons/check_00B4A6.png">    </p:cNvPr>
          <p:cNvPicPr>
            <a:picLocks noChangeAspect="1"/>
          </p:cNvPicPr>
          <p:nvPr/>
        </p:nvPicPr>
        <p:blipFill>
          <a:blip r:embed="rId4"/>
          <a:stretch>
            <a:fillRect/>
          </a:stretch>
        </p:blipFill>
        <p:spPr>
          <a:xfrm>
            <a:off x="715061" y="4656125"/>
            <a:ext cx="142646" cy="142646"/>
          </a:xfrm>
          <a:prstGeom prst="rect">
            <a:avLst/>
          </a:prstGeom>
        </p:spPr>
      </p:pic>
      <p:sp>
        <p:nvSpPr>
          <p:cNvPr id="30" name="Shape 24"/>
          <p:cNvSpPr/>
          <p:nvPr/>
        </p:nvSpPr>
        <p:spPr>
          <a:xfrm>
            <a:off x="1005840" y="4672584"/>
            <a:ext cx="5596128" cy="64008"/>
          </a:xfrm>
          <a:prstGeom prst="roundRect">
            <a:avLst>
              <a:gd name="adj" fmla="val 28571"/>
            </a:avLst>
          </a:prstGeom>
          <a:solidFill>
            <a:srgbClr val="D6E5F2"/>
          </a:solidFill>
          <a:ln/>
        </p:spPr>
      </p:sp>
      <p:sp>
        <p:nvSpPr>
          <p:cNvPr id="31" name="Shape 25"/>
          <p:cNvSpPr/>
          <p:nvPr/>
        </p:nvSpPr>
        <p:spPr>
          <a:xfrm>
            <a:off x="1005840" y="4818888"/>
            <a:ext cx="3637483" cy="51206"/>
          </a:xfrm>
          <a:prstGeom prst="roundRect">
            <a:avLst>
              <a:gd name="adj" fmla="val 35715"/>
            </a:avLst>
          </a:prstGeom>
          <a:solidFill>
            <a:srgbClr val="D6E5F2"/>
          </a:solidFill>
          <a:ln/>
        </p:spPr>
      </p:sp>
      <p:sp>
        <p:nvSpPr>
          <p:cNvPr id="32" name="Shape 26"/>
          <p:cNvSpPr/>
          <p:nvPr/>
        </p:nvSpPr>
        <p:spPr>
          <a:xfrm>
            <a:off x="676656" y="5001768"/>
            <a:ext cx="219456" cy="219456"/>
          </a:xfrm>
          <a:prstGeom prst="ellipse">
            <a:avLst/>
          </a:prstGeom>
          <a:solidFill>
            <a:srgbClr val="FFFFFF"/>
          </a:solidFill>
          <a:ln/>
        </p:spPr>
      </p:sp>
      <p:pic>
        <p:nvPicPr>
          <p:cNvPr id="33" name="Image 4" descr="/home/claude/medsev-ppt/icons/check_00B4A6.png">    </p:cNvPr>
          <p:cNvPicPr>
            <a:picLocks noChangeAspect="1"/>
          </p:cNvPicPr>
          <p:nvPr/>
        </p:nvPicPr>
        <p:blipFill>
          <a:blip r:embed="rId5"/>
          <a:stretch>
            <a:fillRect/>
          </a:stretch>
        </p:blipFill>
        <p:spPr>
          <a:xfrm>
            <a:off x="715061" y="5040173"/>
            <a:ext cx="142646" cy="142646"/>
          </a:xfrm>
          <a:prstGeom prst="rect">
            <a:avLst/>
          </a:prstGeom>
        </p:spPr>
      </p:pic>
      <p:sp>
        <p:nvSpPr>
          <p:cNvPr id="34" name="Shape 27"/>
          <p:cNvSpPr/>
          <p:nvPr/>
        </p:nvSpPr>
        <p:spPr>
          <a:xfrm>
            <a:off x="1005840" y="5056632"/>
            <a:ext cx="5596128" cy="64008"/>
          </a:xfrm>
          <a:prstGeom prst="roundRect">
            <a:avLst>
              <a:gd name="adj" fmla="val 28571"/>
            </a:avLst>
          </a:prstGeom>
          <a:solidFill>
            <a:srgbClr val="D6E5F2"/>
          </a:solidFill>
          <a:ln/>
        </p:spPr>
      </p:sp>
      <p:sp>
        <p:nvSpPr>
          <p:cNvPr id="35" name="Shape 28"/>
          <p:cNvSpPr/>
          <p:nvPr/>
        </p:nvSpPr>
        <p:spPr>
          <a:xfrm>
            <a:off x="1005840" y="5202936"/>
            <a:ext cx="3637483" cy="51206"/>
          </a:xfrm>
          <a:prstGeom prst="roundRect">
            <a:avLst>
              <a:gd name="adj" fmla="val 35715"/>
            </a:avLst>
          </a:prstGeom>
          <a:solidFill>
            <a:srgbClr val="D6E5F2"/>
          </a:solidFill>
          <a:ln/>
        </p:spPr>
      </p:sp>
      <p:sp>
        <p:nvSpPr>
          <p:cNvPr id="36" name="Shape 29"/>
          <p:cNvSpPr/>
          <p:nvPr/>
        </p:nvSpPr>
        <p:spPr>
          <a:xfrm>
            <a:off x="676656" y="5522976"/>
            <a:ext cx="1691640" cy="292608"/>
          </a:xfrm>
          <a:prstGeom prst="roundRect">
            <a:avLst>
              <a:gd name="adj" fmla="val 50000"/>
            </a:avLst>
          </a:prstGeom>
          <a:solidFill>
            <a:srgbClr val="00B4A6"/>
          </a:solidFill>
          <a:ln/>
        </p:spPr>
      </p:sp>
      <p:sp>
        <p:nvSpPr>
          <p:cNvPr id="37" name="Text 30"/>
          <p:cNvSpPr/>
          <p:nvPr/>
        </p:nvSpPr>
        <p:spPr>
          <a:xfrm>
            <a:off x="676656" y="5522976"/>
            <a:ext cx="16916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Book This Service</a:t>
            </a:r>
            <a:endParaRPr lang="en-US" sz="900" dirty="0"/>
          </a:p>
        </p:txBody>
      </p:sp>
      <p:sp>
        <p:nvSpPr>
          <p:cNvPr id="38" name="Text 31"/>
          <p:cNvSpPr/>
          <p:nvPr/>
        </p:nvSpPr>
        <p:spPr>
          <a:xfrm>
            <a:off x="7223760" y="1481328"/>
            <a:ext cx="4434840" cy="502920"/>
          </a:xfrm>
          <a:prstGeom prst="rect">
            <a:avLst/>
          </a:prstGeom>
          <a:noFill/>
          <a:ln/>
        </p:spPr>
        <p:txBody>
          <a:bodyPr wrap="square" lIns="0" tIns="0" rIns="0" bIns="0" rtlCol="0" anchor="ctr"/>
          <a:lstStyle/>
          <a:p>
            <a:pPr indent="0" marL="0">
              <a:buNone/>
            </a:pPr>
            <a:r>
              <a:rPr lang="en-US" sz="1550" b="1" dirty="0">
                <a:solidFill>
                  <a:srgbClr val="17263D"/>
                </a:solidFill>
                <a:latin typeface="Cambria" pitchFamily="34" charset="0"/>
                <a:ea typeface="Cambria" pitchFamily="34" charset="-122"/>
                <a:cs typeface="Cambria" pitchFamily="34" charset="-120"/>
              </a:rPr>
              <a:t>Depth that turns interest into a booking</a:t>
            </a:r>
            <a:endParaRPr lang="en-US" sz="1550" dirty="0"/>
          </a:p>
        </p:txBody>
      </p:sp>
      <p:sp>
        <p:nvSpPr>
          <p:cNvPr id="39" name="Shape 32"/>
          <p:cNvSpPr/>
          <p:nvPr/>
        </p:nvSpPr>
        <p:spPr>
          <a:xfrm>
            <a:off x="7223760" y="2148840"/>
            <a:ext cx="292608" cy="292608"/>
          </a:xfrm>
          <a:prstGeom prst="ellipse">
            <a:avLst/>
          </a:prstGeom>
          <a:solidFill>
            <a:srgbClr val="EAF3FB"/>
          </a:solidFill>
          <a:ln/>
        </p:spPr>
      </p:sp>
      <p:pic>
        <p:nvPicPr>
          <p:cNvPr id="40" name="Image 5" descr="/home/claude/medsev-ppt/icons/check_00B4A6.png">    </p:cNvPr>
          <p:cNvPicPr>
            <a:picLocks noChangeAspect="1"/>
          </p:cNvPicPr>
          <p:nvPr/>
        </p:nvPicPr>
        <p:blipFill>
          <a:blip r:embed="rId6"/>
          <a:stretch>
            <a:fillRect/>
          </a:stretch>
        </p:blipFill>
        <p:spPr>
          <a:xfrm>
            <a:off x="7282282" y="2207362"/>
            <a:ext cx="175565" cy="175565"/>
          </a:xfrm>
          <a:prstGeom prst="rect">
            <a:avLst/>
          </a:prstGeom>
        </p:spPr>
      </p:pic>
      <p:sp>
        <p:nvSpPr>
          <p:cNvPr id="41" name="Text 33"/>
          <p:cNvSpPr/>
          <p:nvPr/>
        </p:nvSpPr>
        <p:spPr>
          <a:xfrm>
            <a:off x="7626096" y="2103120"/>
            <a:ext cx="3931920" cy="502920"/>
          </a:xfrm>
          <a:prstGeom prst="rect">
            <a:avLst/>
          </a:prstGeom>
          <a:noFill/>
          <a:ln/>
        </p:spPr>
        <p:txBody>
          <a:bodyPr wrap="square" lIns="0" tIns="0" rIns="0" bIns="0" rtlCol="0" anchor="ctr"/>
          <a:lstStyle/>
          <a:p>
            <a:pPr indent="0" marL="0">
              <a:buNone/>
            </a:pPr>
            <a:r>
              <a:rPr lang="en-US" sz="1120" dirty="0">
                <a:solidFill>
                  <a:srgbClr val="17263D"/>
                </a:solidFill>
                <a:latin typeface="Calibri" pitchFamily="34" charset="0"/>
                <a:ea typeface="Calibri" pitchFamily="34" charset="-122"/>
                <a:cs typeface="Calibri" pitchFamily="34" charset="-120"/>
              </a:rPr>
              <a:t>Full description beyond the summary card</a:t>
            </a:r>
            <a:endParaRPr lang="en-US" sz="1120" dirty="0"/>
          </a:p>
        </p:txBody>
      </p:sp>
      <p:sp>
        <p:nvSpPr>
          <p:cNvPr id="42" name="Shape 34"/>
          <p:cNvSpPr/>
          <p:nvPr/>
        </p:nvSpPr>
        <p:spPr>
          <a:xfrm>
            <a:off x="7223760" y="2807208"/>
            <a:ext cx="292608" cy="292608"/>
          </a:xfrm>
          <a:prstGeom prst="ellipse">
            <a:avLst/>
          </a:prstGeom>
          <a:solidFill>
            <a:srgbClr val="EAF3FB"/>
          </a:solidFill>
          <a:ln/>
        </p:spPr>
      </p:sp>
      <p:pic>
        <p:nvPicPr>
          <p:cNvPr id="43" name="Image 6" descr="/home/claude/medsev-ppt/icons/check_00B4A6.png">    </p:cNvPr>
          <p:cNvPicPr>
            <a:picLocks noChangeAspect="1"/>
          </p:cNvPicPr>
          <p:nvPr/>
        </p:nvPicPr>
        <p:blipFill>
          <a:blip r:embed="rId7"/>
          <a:stretch>
            <a:fillRect/>
          </a:stretch>
        </p:blipFill>
        <p:spPr>
          <a:xfrm>
            <a:off x="7282282" y="2865730"/>
            <a:ext cx="175565" cy="175565"/>
          </a:xfrm>
          <a:prstGeom prst="rect">
            <a:avLst/>
          </a:prstGeom>
        </p:spPr>
      </p:pic>
      <p:sp>
        <p:nvSpPr>
          <p:cNvPr id="44" name="Text 35"/>
          <p:cNvSpPr/>
          <p:nvPr/>
        </p:nvSpPr>
        <p:spPr>
          <a:xfrm>
            <a:off x="7626096" y="2761488"/>
            <a:ext cx="3931920" cy="502920"/>
          </a:xfrm>
          <a:prstGeom prst="rect">
            <a:avLst/>
          </a:prstGeom>
          <a:noFill/>
          <a:ln/>
        </p:spPr>
        <p:txBody>
          <a:bodyPr wrap="square" lIns="0" tIns="0" rIns="0" bIns="0" rtlCol="0" anchor="ctr"/>
          <a:lstStyle/>
          <a:p>
            <a:pPr indent="0" marL="0">
              <a:buNone/>
            </a:pPr>
            <a:r>
              <a:rPr lang="en-US" sz="1120" dirty="0">
                <a:solidFill>
                  <a:srgbClr val="17263D"/>
                </a:solidFill>
                <a:latin typeface="Calibri" pitchFamily="34" charset="0"/>
                <a:ea typeface="Calibri" pitchFamily="34" charset="-122"/>
                <a:cs typeface="Calibri" pitchFamily="34" charset="-120"/>
              </a:rPr>
              <a:t>A "what’s covered" checklist sets expectations</a:t>
            </a:r>
            <a:endParaRPr lang="en-US" sz="1120" dirty="0"/>
          </a:p>
        </p:txBody>
      </p:sp>
      <p:sp>
        <p:nvSpPr>
          <p:cNvPr id="45" name="Shape 36"/>
          <p:cNvSpPr/>
          <p:nvPr/>
        </p:nvSpPr>
        <p:spPr>
          <a:xfrm>
            <a:off x="7223760" y="3465576"/>
            <a:ext cx="292608" cy="292608"/>
          </a:xfrm>
          <a:prstGeom prst="ellipse">
            <a:avLst/>
          </a:prstGeom>
          <a:solidFill>
            <a:srgbClr val="EAF3FB"/>
          </a:solidFill>
          <a:ln/>
        </p:spPr>
      </p:sp>
      <p:pic>
        <p:nvPicPr>
          <p:cNvPr id="46" name="Image 7" descr="/home/claude/medsev-ppt/icons/check_00B4A6.png">    </p:cNvPr>
          <p:cNvPicPr>
            <a:picLocks noChangeAspect="1"/>
          </p:cNvPicPr>
          <p:nvPr/>
        </p:nvPicPr>
        <p:blipFill>
          <a:blip r:embed="rId8"/>
          <a:stretch>
            <a:fillRect/>
          </a:stretch>
        </p:blipFill>
        <p:spPr>
          <a:xfrm>
            <a:off x="7282282" y="3524098"/>
            <a:ext cx="175565" cy="175565"/>
          </a:xfrm>
          <a:prstGeom prst="rect">
            <a:avLst/>
          </a:prstGeom>
        </p:spPr>
      </p:pic>
      <p:sp>
        <p:nvSpPr>
          <p:cNvPr id="47" name="Text 37"/>
          <p:cNvSpPr/>
          <p:nvPr/>
        </p:nvSpPr>
        <p:spPr>
          <a:xfrm>
            <a:off x="7626096" y="3419856"/>
            <a:ext cx="3931920" cy="502920"/>
          </a:xfrm>
          <a:prstGeom prst="rect">
            <a:avLst/>
          </a:prstGeom>
          <a:noFill/>
          <a:ln/>
        </p:spPr>
        <p:txBody>
          <a:bodyPr wrap="square" lIns="0" tIns="0" rIns="0" bIns="0" rtlCol="0" anchor="ctr"/>
          <a:lstStyle/>
          <a:p>
            <a:pPr indent="0" marL="0">
              <a:buNone/>
            </a:pPr>
            <a:r>
              <a:rPr lang="en-US" sz="1120" dirty="0">
                <a:solidFill>
                  <a:srgbClr val="17263D"/>
                </a:solidFill>
                <a:latin typeface="Calibri" pitchFamily="34" charset="0"/>
                <a:ea typeface="Calibri" pitchFamily="34" charset="-122"/>
                <a:cs typeface="Calibri" pitchFamily="34" charset="-120"/>
              </a:rPr>
              <a:t>Related doctors for that specialty are surfaced</a:t>
            </a:r>
            <a:endParaRPr lang="en-US" sz="1120" dirty="0"/>
          </a:p>
        </p:txBody>
      </p:sp>
      <p:sp>
        <p:nvSpPr>
          <p:cNvPr id="48" name="Shape 38"/>
          <p:cNvSpPr/>
          <p:nvPr/>
        </p:nvSpPr>
        <p:spPr>
          <a:xfrm>
            <a:off x="7223760" y="4123944"/>
            <a:ext cx="292608" cy="292608"/>
          </a:xfrm>
          <a:prstGeom prst="ellipse">
            <a:avLst/>
          </a:prstGeom>
          <a:solidFill>
            <a:srgbClr val="EAF3FB"/>
          </a:solidFill>
          <a:ln/>
        </p:spPr>
      </p:sp>
      <p:pic>
        <p:nvPicPr>
          <p:cNvPr id="49" name="Image 8" descr="/home/claude/medsev-ppt/icons/check_00B4A6.png">    </p:cNvPr>
          <p:cNvPicPr>
            <a:picLocks noChangeAspect="1"/>
          </p:cNvPicPr>
          <p:nvPr/>
        </p:nvPicPr>
        <p:blipFill>
          <a:blip r:embed="rId9"/>
          <a:stretch>
            <a:fillRect/>
          </a:stretch>
        </p:blipFill>
        <p:spPr>
          <a:xfrm>
            <a:off x="7282282" y="4182466"/>
            <a:ext cx="175565" cy="175565"/>
          </a:xfrm>
          <a:prstGeom prst="rect">
            <a:avLst/>
          </a:prstGeom>
        </p:spPr>
      </p:pic>
      <p:sp>
        <p:nvSpPr>
          <p:cNvPr id="50" name="Text 39"/>
          <p:cNvSpPr/>
          <p:nvPr/>
        </p:nvSpPr>
        <p:spPr>
          <a:xfrm>
            <a:off x="7626096" y="4078224"/>
            <a:ext cx="3931920" cy="502920"/>
          </a:xfrm>
          <a:prstGeom prst="rect">
            <a:avLst/>
          </a:prstGeom>
          <a:noFill/>
          <a:ln/>
        </p:spPr>
        <p:txBody>
          <a:bodyPr wrap="square" lIns="0" tIns="0" rIns="0" bIns="0" rtlCol="0" anchor="ctr"/>
          <a:lstStyle/>
          <a:p>
            <a:pPr indent="0" marL="0">
              <a:buNone/>
            </a:pPr>
            <a:r>
              <a:rPr lang="en-US" sz="1120" dirty="0">
                <a:solidFill>
                  <a:srgbClr val="17263D"/>
                </a:solidFill>
                <a:latin typeface="Calibri" pitchFamily="34" charset="0"/>
                <a:ea typeface="Calibri" pitchFamily="34" charset="-122"/>
                <a:cs typeface="Calibri" pitchFamily="34" charset="-120"/>
              </a:rPr>
              <a:t>A dedicated booking button tied to this service</a:t>
            </a:r>
            <a:endParaRPr lang="en-US" sz="1120" dirty="0"/>
          </a:p>
        </p:txBody>
      </p:sp>
      <p:sp>
        <p:nvSpPr>
          <p:cNvPr id="51" name="Text 40"/>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52" name="Text 41"/>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Service Details</a:t>
            </a:r>
            <a:endParaRPr lang="en-US" sz="900" dirty="0"/>
          </a:p>
        </p:txBody>
      </p:sp>
      <p:sp>
        <p:nvSpPr>
          <p:cNvPr id="53" name="Text 42"/>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7 / 23</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PAGE WALKTHROUGH · 05</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Doctors</a:t>
            </a:r>
            <a:endParaRPr lang="en-US" sz="3000" dirty="0"/>
          </a:p>
        </p:txBody>
      </p:sp>
      <p:sp>
        <p:nvSpPr>
          <p:cNvPr id="4" name="Text 2"/>
          <p:cNvSpPr/>
          <p:nvPr/>
        </p:nvSpPr>
        <p:spPr>
          <a:xfrm>
            <a:off x="548640" y="1371600"/>
            <a:ext cx="10789920" cy="365760"/>
          </a:xfrm>
          <a:prstGeom prst="rect">
            <a:avLst/>
          </a:prstGeom>
          <a:noFill/>
          <a:ln/>
        </p:spPr>
        <p:txBody>
          <a:bodyPr wrap="square" lIns="0" tIns="0" rIns="0" bIns="0" rtlCol="0" anchor="ctr"/>
          <a:lstStyle/>
          <a:p>
            <a:pPr indent="0" marL="0">
              <a:buNone/>
            </a:pPr>
            <a:r>
              <a:rPr lang="en-US" sz="1300" dirty="0">
                <a:solidFill>
                  <a:srgbClr val="55677E"/>
                </a:solidFill>
                <a:latin typeface="Calibri" pitchFamily="34" charset="0"/>
                <a:ea typeface="Calibri" pitchFamily="34" charset="-122"/>
                <a:cs typeface="Calibri" pitchFamily="34" charset="-120"/>
              </a:rPr>
              <a:t>Meet Our Doctors — a directory built for quick trust decisions</a:t>
            </a:r>
            <a:endParaRPr lang="en-US" sz="1300" dirty="0"/>
          </a:p>
        </p:txBody>
      </p:sp>
      <p:sp>
        <p:nvSpPr>
          <p:cNvPr id="5" name="Shape 3"/>
          <p:cNvSpPr/>
          <p:nvPr/>
        </p:nvSpPr>
        <p:spPr>
          <a:xfrm>
            <a:off x="548640" y="1920240"/>
            <a:ext cx="3429000" cy="3200400"/>
          </a:xfrm>
          <a:prstGeom prst="roundRect">
            <a:avLst>
              <a:gd name="adj" fmla="val 2857"/>
            </a:avLst>
          </a:prstGeom>
          <a:solidFill>
            <a:srgbClr val="F6FAFD"/>
          </a:solidFill>
          <a:ln w="12700">
            <a:solidFill>
              <a:srgbClr val="D6E5F2"/>
            </a:solidFill>
            <a:prstDash val="solid"/>
          </a:ln>
          <a:effectLst>
            <a:outerShdw sx="100000" sy="100000" kx="0" ky="0" algn="bl" rotWithShape="0" blurRad="101600" dist="38100" dir="5400000">
              <a:srgbClr val="0A3B63">
                <a:alpha val="12000"/>
              </a:srgbClr>
            </a:outerShdw>
          </a:effectLst>
        </p:spPr>
      </p:sp>
      <p:sp>
        <p:nvSpPr>
          <p:cNvPr id="6" name="Shape 4"/>
          <p:cNvSpPr/>
          <p:nvPr/>
        </p:nvSpPr>
        <p:spPr>
          <a:xfrm>
            <a:off x="777240" y="2148840"/>
            <a:ext cx="2971800" cy="1737360"/>
          </a:xfrm>
          <a:prstGeom prst="roundRect">
            <a:avLst>
              <a:gd name="adj" fmla="val 4211"/>
            </a:avLst>
          </a:prstGeom>
          <a:solidFill>
            <a:srgbClr val="EAF3FB"/>
          </a:solidFill>
          <a:ln/>
        </p:spPr>
      </p:sp>
      <p:sp>
        <p:nvSpPr>
          <p:cNvPr id="7" name="Shape 5"/>
          <p:cNvSpPr/>
          <p:nvPr/>
        </p:nvSpPr>
        <p:spPr>
          <a:xfrm>
            <a:off x="1805940" y="2514600"/>
            <a:ext cx="914400" cy="914400"/>
          </a:xfrm>
          <a:prstGeom prst="ellipse">
            <a:avLst/>
          </a:prstGeom>
          <a:solidFill>
            <a:srgbClr val="FFFFFF"/>
          </a:solidFill>
          <a:ln/>
        </p:spPr>
      </p:sp>
      <p:pic>
        <p:nvPicPr>
          <p:cNvPr id="8" name="Image 0" descr="/home/claude/medsev-ppt/icons/doctor_0B5FA4.png">    </p:cNvPr>
          <p:cNvPicPr>
            <a:picLocks noChangeAspect="1"/>
          </p:cNvPicPr>
          <p:nvPr/>
        </p:nvPicPr>
        <p:blipFill>
          <a:blip r:embed="rId1"/>
          <a:stretch>
            <a:fillRect/>
          </a:stretch>
        </p:blipFill>
        <p:spPr>
          <a:xfrm>
            <a:off x="2011680" y="2720340"/>
            <a:ext cx="502920" cy="502920"/>
          </a:xfrm>
          <a:prstGeom prst="rect">
            <a:avLst/>
          </a:prstGeom>
        </p:spPr>
      </p:pic>
      <p:sp>
        <p:nvSpPr>
          <p:cNvPr id="9" name="Text 6"/>
          <p:cNvSpPr/>
          <p:nvPr/>
        </p:nvSpPr>
        <p:spPr>
          <a:xfrm>
            <a:off x="777240" y="4005072"/>
            <a:ext cx="2971800" cy="292608"/>
          </a:xfrm>
          <a:prstGeom prst="rect">
            <a:avLst/>
          </a:prstGeom>
          <a:noFill/>
          <a:ln/>
        </p:spPr>
        <p:txBody>
          <a:bodyPr wrap="square" lIns="0" tIns="0" rIns="0" bIns="0" rtlCol="0" anchor="ctr"/>
          <a:lstStyle/>
          <a:p>
            <a:pPr algn="ctr" indent="0" marL="0">
              <a:buNone/>
            </a:pPr>
            <a:r>
              <a:rPr lang="en-US" sz="1550" b="1" dirty="0">
                <a:solidFill>
                  <a:srgbClr val="17263D"/>
                </a:solidFill>
                <a:latin typeface="Cambria" pitchFamily="34" charset="0"/>
                <a:ea typeface="Cambria" pitchFamily="34" charset="-122"/>
                <a:cs typeface="Cambria" pitchFamily="34" charset="-120"/>
              </a:rPr>
              <a:t>Dr. Babatunde</a:t>
            </a:r>
            <a:endParaRPr lang="en-US" sz="1550" dirty="0"/>
          </a:p>
        </p:txBody>
      </p:sp>
      <p:sp>
        <p:nvSpPr>
          <p:cNvPr id="10" name="Text 7"/>
          <p:cNvSpPr/>
          <p:nvPr/>
        </p:nvSpPr>
        <p:spPr>
          <a:xfrm>
            <a:off x="777240" y="4315968"/>
            <a:ext cx="2971800" cy="256032"/>
          </a:xfrm>
          <a:prstGeom prst="rect">
            <a:avLst/>
          </a:prstGeom>
          <a:noFill/>
          <a:ln/>
        </p:spPr>
        <p:txBody>
          <a:bodyPr wrap="square" lIns="0" tIns="0" rIns="0" bIns="0" rtlCol="0" anchor="ctr"/>
          <a:lstStyle/>
          <a:p>
            <a:pPr algn="ctr" indent="0" marL="0">
              <a:buNone/>
            </a:pPr>
            <a:r>
              <a:rPr lang="en-US" sz="1100" b="1" dirty="0">
                <a:solidFill>
                  <a:srgbClr val="00B4A6"/>
                </a:solidFill>
                <a:latin typeface="Calibri" pitchFamily="34" charset="0"/>
                <a:ea typeface="Calibri" pitchFamily="34" charset="-122"/>
                <a:cs typeface="Calibri" pitchFamily="34" charset="-120"/>
              </a:rPr>
              <a:t>Neurosurgeon</a:t>
            </a:r>
            <a:endParaRPr lang="en-US" sz="1100" dirty="0"/>
          </a:p>
        </p:txBody>
      </p:sp>
      <p:sp>
        <p:nvSpPr>
          <p:cNvPr id="11" name="Shape 8"/>
          <p:cNvSpPr/>
          <p:nvPr/>
        </p:nvSpPr>
        <p:spPr>
          <a:xfrm>
            <a:off x="1394460" y="4681728"/>
            <a:ext cx="1737360" cy="292608"/>
          </a:xfrm>
          <a:prstGeom prst="roundRect">
            <a:avLst>
              <a:gd name="adj" fmla="val 50000"/>
            </a:avLst>
          </a:prstGeom>
          <a:solidFill>
            <a:srgbClr val="0B5FA4"/>
          </a:solidFill>
          <a:ln/>
        </p:spPr>
      </p:sp>
      <p:sp>
        <p:nvSpPr>
          <p:cNvPr id="12" name="Text 9"/>
          <p:cNvSpPr/>
          <p:nvPr/>
        </p:nvSpPr>
        <p:spPr>
          <a:xfrm>
            <a:off x="1394460" y="4681728"/>
            <a:ext cx="17373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Get Appointment</a:t>
            </a:r>
            <a:endParaRPr lang="en-US" sz="900" dirty="0"/>
          </a:p>
        </p:txBody>
      </p:sp>
      <p:sp>
        <p:nvSpPr>
          <p:cNvPr id="13" name="Shape 10"/>
          <p:cNvSpPr/>
          <p:nvPr/>
        </p:nvSpPr>
        <p:spPr>
          <a:xfrm>
            <a:off x="4233672" y="1920240"/>
            <a:ext cx="3429000" cy="3200400"/>
          </a:xfrm>
          <a:prstGeom prst="roundRect">
            <a:avLst>
              <a:gd name="adj" fmla="val 2857"/>
            </a:avLst>
          </a:prstGeom>
          <a:solidFill>
            <a:srgbClr val="F6FAFD"/>
          </a:solidFill>
          <a:ln w="12700">
            <a:solidFill>
              <a:srgbClr val="D6E5F2"/>
            </a:solidFill>
            <a:prstDash val="solid"/>
          </a:ln>
          <a:effectLst>
            <a:outerShdw sx="100000" sy="100000" kx="0" ky="0" algn="bl" rotWithShape="0" blurRad="101600" dist="38100" dir="5400000">
              <a:srgbClr val="0A3B63">
                <a:alpha val="12000"/>
              </a:srgbClr>
            </a:outerShdw>
          </a:effectLst>
        </p:spPr>
      </p:sp>
      <p:sp>
        <p:nvSpPr>
          <p:cNvPr id="14" name="Shape 11"/>
          <p:cNvSpPr/>
          <p:nvPr/>
        </p:nvSpPr>
        <p:spPr>
          <a:xfrm>
            <a:off x="4462272" y="2148840"/>
            <a:ext cx="2971800" cy="1737360"/>
          </a:xfrm>
          <a:prstGeom prst="roundRect">
            <a:avLst>
              <a:gd name="adj" fmla="val 4211"/>
            </a:avLst>
          </a:prstGeom>
          <a:solidFill>
            <a:srgbClr val="EAF3FB"/>
          </a:solidFill>
          <a:ln/>
        </p:spPr>
      </p:sp>
      <p:sp>
        <p:nvSpPr>
          <p:cNvPr id="15" name="Shape 12"/>
          <p:cNvSpPr/>
          <p:nvPr/>
        </p:nvSpPr>
        <p:spPr>
          <a:xfrm>
            <a:off x="5490972" y="2514600"/>
            <a:ext cx="914400" cy="914400"/>
          </a:xfrm>
          <a:prstGeom prst="ellipse">
            <a:avLst/>
          </a:prstGeom>
          <a:solidFill>
            <a:srgbClr val="FFFFFF"/>
          </a:solidFill>
          <a:ln/>
        </p:spPr>
      </p:sp>
      <p:pic>
        <p:nvPicPr>
          <p:cNvPr id="16" name="Image 1" descr="/home/claude/medsev-ppt/icons/doctor_0B5FA4.png">    </p:cNvPr>
          <p:cNvPicPr>
            <a:picLocks noChangeAspect="1"/>
          </p:cNvPicPr>
          <p:nvPr/>
        </p:nvPicPr>
        <p:blipFill>
          <a:blip r:embed="rId2"/>
          <a:stretch>
            <a:fillRect/>
          </a:stretch>
        </p:blipFill>
        <p:spPr>
          <a:xfrm>
            <a:off x="5696712" y="2720340"/>
            <a:ext cx="502920" cy="502920"/>
          </a:xfrm>
          <a:prstGeom prst="rect">
            <a:avLst/>
          </a:prstGeom>
        </p:spPr>
      </p:pic>
      <p:sp>
        <p:nvSpPr>
          <p:cNvPr id="17" name="Text 13"/>
          <p:cNvSpPr/>
          <p:nvPr/>
        </p:nvSpPr>
        <p:spPr>
          <a:xfrm>
            <a:off x="4462272" y="4005072"/>
            <a:ext cx="2971800" cy="292608"/>
          </a:xfrm>
          <a:prstGeom prst="rect">
            <a:avLst/>
          </a:prstGeom>
          <a:noFill/>
          <a:ln/>
        </p:spPr>
        <p:txBody>
          <a:bodyPr wrap="square" lIns="0" tIns="0" rIns="0" bIns="0" rtlCol="0" anchor="ctr"/>
          <a:lstStyle/>
          <a:p>
            <a:pPr algn="ctr" indent="0" marL="0">
              <a:buNone/>
            </a:pPr>
            <a:r>
              <a:rPr lang="en-US" sz="1550" b="1" dirty="0">
                <a:solidFill>
                  <a:srgbClr val="17263D"/>
                </a:solidFill>
                <a:latin typeface="Cambria" pitchFamily="34" charset="0"/>
                <a:ea typeface="Cambria" pitchFamily="34" charset="-122"/>
                <a:cs typeface="Cambria" pitchFamily="34" charset="-120"/>
              </a:rPr>
              <a:t>Dr. Addison Smith</a:t>
            </a:r>
            <a:endParaRPr lang="en-US" sz="1550" dirty="0"/>
          </a:p>
        </p:txBody>
      </p:sp>
      <p:sp>
        <p:nvSpPr>
          <p:cNvPr id="18" name="Text 14"/>
          <p:cNvSpPr/>
          <p:nvPr/>
        </p:nvSpPr>
        <p:spPr>
          <a:xfrm>
            <a:off x="4462272" y="4315968"/>
            <a:ext cx="2971800" cy="256032"/>
          </a:xfrm>
          <a:prstGeom prst="rect">
            <a:avLst/>
          </a:prstGeom>
          <a:noFill/>
          <a:ln/>
        </p:spPr>
        <p:txBody>
          <a:bodyPr wrap="square" lIns="0" tIns="0" rIns="0" bIns="0" rtlCol="0" anchor="ctr"/>
          <a:lstStyle/>
          <a:p>
            <a:pPr algn="ctr" indent="0" marL="0">
              <a:buNone/>
            </a:pPr>
            <a:r>
              <a:rPr lang="en-US" sz="1100" b="1" dirty="0">
                <a:solidFill>
                  <a:srgbClr val="00B4A6"/>
                </a:solidFill>
                <a:latin typeface="Calibri" pitchFamily="34" charset="0"/>
                <a:ea typeface="Calibri" pitchFamily="34" charset="-122"/>
                <a:cs typeface="Calibri" pitchFamily="34" charset="-120"/>
              </a:rPr>
              <a:t>Neurosurgeon</a:t>
            </a:r>
            <a:endParaRPr lang="en-US" sz="1100" dirty="0"/>
          </a:p>
        </p:txBody>
      </p:sp>
      <p:sp>
        <p:nvSpPr>
          <p:cNvPr id="19" name="Shape 15"/>
          <p:cNvSpPr/>
          <p:nvPr/>
        </p:nvSpPr>
        <p:spPr>
          <a:xfrm>
            <a:off x="5079492" y="4681728"/>
            <a:ext cx="1737360" cy="292608"/>
          </a:xfrm>
          <a:prstGeom prst="roundRect">
            <a:avLst>
              <a:gd name="adj" fmla="val 50000"/>
            </a:avLst>
          </a:prstGeom>
          <a:solidFill>
            <a:srgbClr val="0B5FA4"/>
          </a:solidFill>
          <a:ln/>
        </p:spPr>
      </p:sp>
      <p:sp>
        <p:nvSpPr>
          <p:cNvPr id="20" name="Text 16"/>
          <p:cNvSpPr/>
          <p:nvPr/>
        </p:nvSpPr>
        <p:spPr>
          <a:xfrm>
            <a:off x="5079492" y="4681728"/>
            <a:ext cx="17373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Get Appointment</a:t>
            </a:r>
            <a:endParaRPr lang="en-US" sz="900" dirty="0"/>
          </a:p>
        </p:txBody>
      </p:sp>
      <p:sp>
        <p:nvSpPr>
          <p:cNvPr id="21" name="Shape 17"/>
          <p:cNvSpPr/>
          <p:nvPr/>
        </p:nvSpPr>
        <p:spPr>
          <a:xfrm>
            <a:off x="7918704" y="1920240"/>
            <a:ext cx="3429000" cy="3200400"/>
          </a:xfrm>
          <a:prstGeom prst="roundRect">
            <a:avLst>
              <a:gd name="adj" fmla="val 2857"/>
            </a:avLst>
          </a:prstGeom>
          <a:solidFill>
            <a:srgbClr val="F6FAFD"/>
          </a:solidFill>
          <a:ln w="12700">
            <a:solidFill>
              <a:srgbClr val="D6E5F2"/>
            </a:solidFill>
            <a:prstDash val="solid"/>
          </a:ln>
          <a:effectLst>
            <a:outerShdw sx="100000" sy="100000" kx="0" ky="0" algn="bl" rotWithShape="0" blurRad="101600" dist="38100" dir="5400000">
              <a:srgbClr val="0A3B63">
                <a:alpha val="12000"/>
              </a:srgbClr>
            </a:outerShdw>
          </a:effectLst>
        </p:spPr>
      </p:sp>
      <p:sp>
        <p:nvSpPr>
          <p:cNvPr id="22" name="Shape 18"/>
          <p:cNvSpPr/>
          <p:nvPr/>
        </p:nvSpPr>
        <p:spPr>
          <a:xfrm>
            <a:off x="8147304" y="2148840"/>
            <a:ext cx="2971800" cy="1737360"/>
          </a:xfrm>
          <a:prstGeom prst="roundRect">
            <a:avLst>
              <a:gd name="adj" fmla="val 4211"/>
            </a:avLst>
          </a:prstGeom>
          <a:solidFill>
            <a:srgbClr val="EAF3FB"/>
          </a:solidFill>
          <a:ln/>
        </p:spPr>
      </p:sp>
      <p:sp>
        <p:nvSpPr>
          <p:cNvPr id="23" name="Shape 19"/>
          <p:cNvSpPr/>
          <p:nvPr/>
        </p:nvSpPr>
        <p:spPr>
          <a:xfrm>
            <a:off x="9176004" y="2514600"/>
            <a:ext cx="914400" cy="914400"/>
          </a:xfrm>
          <a:prstGeom prst="ellipse">
            <a:avLst/>
          </a:prstGeom>
          <a:solidFill>
            <a:srgbClr val="FFFFFF"/>
          </a:solidFill>
          <a:ln/>
        </p:spPr>
      </p:sp>
      <p:pic>
        <p:nvPicPr>
          <p:cNvPr id="24" name="Image 2" descr="/home/claude/medsev-ppt/icons/doctor_0B5FA4.png">    </p:cNvPr>
          <p:cNvPicPr>
            <a:picLocks noChangeAspect="1"/>
          </p:cNvPicPr>
          <p:nvPr/>
        </p:nvPicPr>
        <p:blipFill>
          <a:blip r:embed="rId3"/>
          <a:stretch>
            <a:fillRect/>
          </a:stretch>
        </p:blipFill>
        <p:spPr>
          <a:xfrm>
            <a:off x="9381744" y="2720340"/>
            <a:ext cx="502920" cy="502920"/>
          </a:xfrm>
          <a:prstGeom prst="rect">
            <a:avLst/>
          </a:prstGeom>
        </p:spPr>
      </p:pic>
      <p:sp>
        <p:nvSpPr>
          <p:cNvPr id="25" name="Text 20"/>
          <p:cNvSpPr/>
          <p:nvPr/>
        </p:nvSpPr>
        <p:spPr>
          <a:xfrm>
            <a:off x="8147304" y="4005072"/>
            <a:ext cx="2971800" cy="292608"/>
          </a:xfrm>
          <a:prstGeom prst="rect">
            <a:avLst/>
          </a:prstGeom>
          <a:noFill/>
          <a:ln/>
        </p:spPr>
        <p:txBody>
          <a:bodyPr wrap="square" lIns="0" tIns="0" rIns="0" bIns="0" rtlCol="0" anchor="ctr"/>
          <a:lstStyle/>
          <a:p>
            <a:pPr algn="ctr" indent="0" marL="0">
              <a:buNone/>
            </a:pPr>
            <a:r>
              <a:rPr lang="en-US" sz="1550" b="1" dirty="0">
                <a:solidFill>
                  <a:srgbClr val="17263D"/>
                </a:solidFill>
                <a:latin typeface="Cambria" pitchFamily="34" charset="0"/>
                <a:ea typeface="Cambria" pitchFamily="34" charset="-122"/>
                <a:cs typeface="Cambria" pitchFamily="34" charset="-120"/>
              </a:rPr>
              <a:t>Dr. Sarah Taylor</a:t>
            </a:r>
            <a:endParaRPr lang="en-US" sz="1550" dirty="0"/>
          </a:p>
        </p:txBody>
      </p:sp>
      <p:sp>
        <p:nvSpPr>
          <p:cNvPr id="26" name="Text 21"/>
          <p:cNvSpPr/>
          <p:nvPr/>
        </p:nvSpPr>
        <p:spPr>
          <a:xfrm>
            <a:off x="8147304" y="4315968"/>
            <a:ext cx="2971800" cy="256032"/>
          </a:xfrm>
          <a:prstGeom prst="rect">
            <a:avLst/>
          </a:prstGeom>
          <a:noFill/>
          <a:ln/>
        </p:spPr>
        <p:txBody>
          <a:bodyPr wrap="square" lIns="0" tIns="0" rIns="0" bIns="0" rtlCol="0" anchor="ctr"/>
          <a:lstStyle/>
          <a:p>
            <a:pPr algn="ctr" indent="0" marL="0">
              <a:buNone/>
            </a:pPr>
            <a:r>
              <a:rPr lang="en-US" sz="1100" b="1" dirty="0">
                <a:solidFill>
                  <a:srgbClr val="00B4A6"/>
                </a:solidFill>
                <a:latin typeface="Calibri" pitchFamily="34" charset="0"/>
                <a:ea typeface="Calibri" pitchFamily="34" charset="-122"/>
                <a:cs typeface="Calibri" pitchFamily="34" charset="-120"/>
              </a:rPr>
              <a:t>Dental Surgeon</a:t>
            </a:r>
            <a:endParaRPr lang="en-US" sz="1100" dirty="0"/>
          </a:p>
        </p:txBody>
      </p:sp>
      <p:sp>
        <p:nvSpPr>
          <p:cNvPr id="27" name="Shape 22"/>
          <p:cNvSpPr/>
          <p:nvPr/>
        </p:nvSpPr>
        <p:spPr>
          <a:xfrm>
            <a:off x="8764524" y="4681728"/>
            <a:ext cx="1737360" cy="292608"/>
          </a:xfrm>
          <a:prstGeom prst="roundRect">
            <a:avLst>
              <a:gd name="adj" fmla="val 50000"/>
            </a:avLst>
          </a:prstGeom>
          <a:solidFill>
            <a:srgbClr val="0B5FA4"/>
          </a:solidFill>
          <a:ln/>
        </p:spPr>
      </p:sp>
      <p:sp>
        <p:nvSpPr>
          <p:cNvPr id="28" name="Text 23"/>
          <p:cNvSpPr/>
          <p:nvPr/>
        </p:nvSpPr>
        <p:spPr>
          <a:xfrm>
            <a:off x="8764524" y="4681728"/>
            <a:ext cx="17373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Get Appointment</a:t>
            </a:r>
            <a:endParaRPr lang="en-US" sz="900" dirty="0"/>
          </a:p>
        </p:txBody>
      </p:sp>
      <p:sp>
        <p:nvSpPr>
          <p:cNvPr id="29" name="Text 24"/>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30" name="Text 25"/>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Doctors</a:t>
            </a:r>
            <a:endParaRPr lang="en-US" sz="900" dirty="0"/>
          </a:p>
        </p:txBody>
      </p:sp>
      <p:sp>
        <p:nvSpPr>
          <p:cNvPr id="31" name="Text 26"/>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8 / 23</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PAGE WALKTHROUGH · 06</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Doctor Details</a:t>
            </a:r>
            <a:endParaRPr lang="en-US" sz="3000" dirty="0"/>
          </a:p>
        </p:txBody>
      </p:sp>
      <p:sp>
        <p:nvSpPr>
          <p:cNvPr id="4" name="Shape 2"/>
          <p:cNvSpPr/>
          <p:nvPr/>
        </p:nvSpPr>
        <p:spPr>
          <a:xfrm>
            <a:off x="548640" y="1417320"/>
            <a:ext cx="6309360" cy="4663440"/>
          </a:xfrm>
          <a:prstGeom prst="roundRect">
            <a:avLst>
              <a:gd name="adj" fmla="val 1373"/>
            </a:avLst>
          </a:prstGeom>
          <a:solidFill>
            <a:srgbClr val="FFFFFF"/>
          </a:solidFill>
          <a:ln w="12700">
            <a:solidFill>
              <a:srgbClr val="D6E5F2"/>
            </a:solidFill>
            <a:prstDash val="solid"/>
          </a:ln>
          <a:effectLst>
            <a:outerShdw sx="100000" sy="100000" kx="0" ky="0" algn="bl" rotWithShape="0" blurRad="152400" dist="50800" dir="5400000">
              <a:srgbClr val="0A3B63">
                <a:alpha val="22000"/>
              </a:srgbClr>
            </a:outerShdw>
          </a:effectLst>
        </p:spPr>
      </p:sp>
      <p:sp>
        <p:nvSpPr>
          <p:cNvPr id="5" name="Shape 3"/>
          <p:cNvSpPr/>
          <p:nvPr/>
        </p:nvSpPr>
        <p:spPr>
          <a:xfrm>
            <a:off x="548640" y="1417320"/>
            <a:ext cx="6309360" cy="310896"/>
          </a:xfrm>
          <a:prstGeom prst="rect">
            <a:avLst/>
          </a:prstGeom>
          <a:solidFill>
            <a:srgbClr val="F6FAFD"/>
          </a:solidFill>
          <a:ln/>
        </p:spPr>
      </p:sp>
      <p:sp>
        <p:nvSpPr>
          <p:cNvPr id="6" name="Shape 4"/>
          <p:cNvSpPr/>
          <p:nvPr/>
        </p:nvSpPr>
        <p:spPr>
          <a:xfrm>
            <a:off x="676656" y="1527048"/>
            <a:ext cx="100584" cy="100584"/>
          </a:xfrm>
          <a:prstGeom prst="ellipse">
            <a:avLst/>
          </a:prstGeom>
          <a:solidFill>
            <a:srgbClr val="E27D60"/>
          </a:solidFill>
          <a:ln/>
        </p:spPr>
      </p:sp>
      <p:sp>
        <p:nvSpPr>
          <p:cNvPr id="7" name="Shape 5"/>
          <p:cNvSpPr/>
          <p:nvPr/>
        </p:nvSpPr>
        <p:spPr>
          <a:xfrm>
            <a:off x="859536" y="1527048"/>
            <a:ext cx="100584" cy="100584"/>
          </a:xfrm>
          <a:prstGeom prst="ellipse">
            <a:avLst/>
          </a:prstGeom>
          <a:solidFill>
            <a:srgbClr val="E8C547"/>
          </a:solidFill>
          <a:ln/>
        </p:spPr>
      </p:sp>
      <p:sp>
        <p:nvSpPr>
          <p:cNvPr id="8" name="Shape 6"/>
          <p:cNvSpPr/>
          <p:nvPr/>
        </p:nvSpPr>
        <p:spPr>
          <a:xfrm>
            <a:off x="1042416" y="1527048"/>
            <a:ext cx="100584" cy="100584"/>
          </a:xfrm>
          <a:prstGeom prst="ellipse">
            <a:avLst/>
          </a:prstGeom>
          <a:solidFill>
            <a:srgbClr val="6FCF97"/>
          </a:solidFill>
          <a:ln/>
        </p:spPr>
      </p:sp>
      <p:sp>
        <p:nvSpPr>
          <p:cNvPr id="9" name="Shape 7"/>
          <p:cNvSpPr/>
          <p:nvPr/>
        </p:nvSpPr>
        <p:spPr>
          <a:xfrm>
            <a:off x="1325880" y="1490472"/>
            <a:ext cx="5303520" cy="164592"/>
          </a:xfrm>
          <a:prstGeom prst="roundRect">
            <a:avLst>
              <a:gd name="adj" fmla="val 50000"/>
            </a:avLst>
          </a:prstGeom>
          <a:solidFill>
            <a:srgbClr val="FFFFFF"/>
          </a:solidFill>
          <a:ln w="6350">
            <a:solidFill>
              <a:srgbClr val="D6E5F2"/>
            </a:solidFill>
            <a:prstDash val="solid"/>
          </a:ln>
        </p:spPr>
      </p:sp>
      <p:sp>
        <p:nvSpPr>
          <p:cNvPr id="10" name="Text 8"/>
          <p:cNvSpPr/>
          <p:nvPr/>
        </p:nvSpPr>
        <p:spPr>
          <a:xfrm>
            <a:off x="1417320" y="1485900"/>
            <a:ext cx="5212080" cy="173736"/>
          </a:xfrm>
          <a:prstGeom prst="rect">
            <a:avLst/>
          </a:prstGeom>
          <a:noFill/>
          <a:ln/>
        </p:spPr>
        <p:txBody>
          <a:bodyPr wrap="square" lIns="0" tIns="0" rIns="0" bIns="0" rtlCol="0" anchor="ctr"/>
          <a:lstStyle/>
          <a:p>
            <a:pPr indent="0" marL="0">
              <a:buNone/>
            </a:pPr>
            <a:r>
              <a:rPr lang="en-US" sz="800" dirty="0">
                <a:solidFill>
                  <a:srgbClr val="55677E"/>
                </a:solidFill>
                <a:latin typeface="Calibri" pitchFamily="34" charset="0"/>
                <a:ea typeface="Calibri" pitchFamily="34" charset="-122"/>
                <a:cs typeface="Calibri" pitchFamily="34" charset="-120"/>
              </a:rPr>
              <a:t>medsev/default/doctor-details.html</a:t>
            </a:r>
            <a:endParaRPr lang="en-US" sz="800" dirty="0"/>
          </a:p>
        </p:txBody>
      </p:sp>
      <p:sp>
        <p:nvSpPr>
          <p:cNvPr id="11" name="Shape 9"/>
          <p:cNvSpPr/>
          <p:nvPr/>
        </p:nvSpPr>
        <p:spPr>
          <a:xfrm>
            <a:off x="676656" y="1837944"/>
            <a:ext cx="1737360" cy="1828800"/>
          </a:xfrm>
          <a:prstGeom prst="roundRect">
            <a:avLst>
              <a:gd name="adj" fmla="val 3684"/>
            </a:avLst>
          </a:prstGeom>
          <a:solidFill>
            <a:srgbClr val="EAF3FB"/>
          </a:solidFill>
          <a:ln/>
        </p:spPr>
      </p:sp>
      <p:sp>
        <p:nvSpPr>
          <p:cNvPr id="12" name="Shape 10"/>
          <p:cNvSpPr/>
          <p:nvPr/>
        </p:nvSpPr>
        <p:spPr>
          <a:xfrm>
            <a:off x="1179576" y="2340864"/>
            <a:ext cx="731520" cy="731520"/>
          </a:xfrm>
          <a:prstGeom prst="ellipse">
            <a:avLst/>
          </a:prstGeom>
          <a:solidFill>
            <a:srgbClr val="FFFFFF"/>
          </a:solidFill>
          <a:ln/>
        </p:spPr>
      </p:sp>
      <p:pic>
        <p:nvPicPr>
          <p:cNvPr id="13" name="Image 0" descr="/home/claude/medsev-ppt/icons/doctor_0B5FA4.png">    </p:cNvPr>
          <p:cNvPicPr>
            <a:picLocks noChangeAspect="1"/>
          </p:cNvPicPr>
          <p:nvPr/>
        </p:nvPicPr>
        <p:blipFill>
          <a:blip r:embed="rId1"/>
          <a:stretch>
            <a:fillRect/>
          </a:stretch>
        </p:blipFill>
        <p:spPr>
          <a:xfrm>
            <a:off x="1344168" y="2505456"/>
            <a:ext cx="402336" cy="402336"/>
          </a:xfrm>
          <a:prstGeom prst="rect">
            <a:avLst/>
          </a:prstGeom>
        </p:spPr>
      </p:pic>
      <p:sp>
        <p:nvSpPr>
          <p:cNvPr id="14" name="Shape 11"/>
          <p:cNvSpPr/>
          <p:nvPr/>
        </p:nvSpPr>
        <p:spPr>
          <a:xfrm>
            <a:off x="859536" y="3346704"/>
            <a:ext cx="1371600" cy="73152"/>
          </a:xfrm>
          <a:prstGeom prst="roundRect">
            <a:avLst>
              <a:gd name="adj" fmla="val 25000"/>
            </a:avLst>
          </a:prstGeom>
          <a:solidFill>
            <a:srgbClr val="D6E5F2"/>
          </a:solidFill>
          <a:ln/>
        </p:spPr>
      </p:sp>
      <p:sp>
        <p:nvSpPr>
          <p:cNvPr id="15" name="Shape 12"/>
          <p:cNvSpPr/>
          <p:nvPr/>
        </p:nvSpPr>
        <p:spPr>
          <a:xfrm>
            <a:off x="859536" y="3511296"/>
            <a:ext cx="891540" cy="58522"/>
          </a:xfrm>
          <a:prstGeom prst="roundRect">
            <a:avLst>
              <a:gd name="adj" fmla="val 31250"/>
            </a:avLst>
          </a:prstGeom>
          <a:solidFill>
            <a:srgbClr val="D6E5F2"/>
          </a:solidFill>
          <a:ln/>
        </p:spPr>
      </p:sp>
      <p:sp>
        <p:nvSpPr>
          <p:cNvPr id="16" name="Text 13"/>
          <p:cNvSpPr/>
          <p:nvPr/>
        </p:nvSpPr>
        <p:spPr>
          <a:xfrm>
            <a:off x="2642616" y="1837944"/>
            <a:ext cx="4087368" cy="292608"/>
          </a:xfrm>
          <a:prstGeom prst="rect">
            <a:avLst/>
          </a:prstGeom>
          <a:noFill/>
          <a:ln/>
        </p:spPr>
        <p:txBody>
          <a:bodyPr wrap="square" lIns="0" tIns="0" rIns="0" bIns="0" rtlCol="0" anchor="ctr"/>
          <a:lstStyle/>
          <a:p>
            <a:pPr indent="0" marL="0">
              <a:buNone/>
            </a:pPr>
            <a:r>
              <a:rPr lang="en-US" sz="1350" b="1" dirty="0">
                <a:solidFill>
                  <a:srgbClr val="17263D"/>
                </a:solidFill>
                <a:latin typeface="Cambria" pitchFamily="34" charset="0"/>
                <a:ea typeface="Cambria" pitchFamily="34" charset="-122"/>
                <a:cs typeface="Cambria" pitchFamily="34" charset="-120"/>
              </a:rPr>
              <a:t>Dr. Babatunde — Neurosurgeon</a:t>
            </a:r>
            <a:endParaRPr lang="en-US" sz="1350" dirty="0"/>
          </a:p>
        </p:txBody>
      </p:sp>
      <p:sp>
        <p:nvSpPr>
          <p:cNvPr id="17" name="Shape 14"/>
          <p:cNvSpPr/>
          <p:nvPr/>
        </p:nvSpPr>
        <p:spPr>
          <a:xfrm>
            <a:off x="2642616" y="2221992"/>
            <a:ext cx="3950208" cy="64008"/>
          </a:xfrm>
          <a:prstGeom prst="roundRect">
            <a:avLst>
              <a:gd name="adj" fmla="val 28571"/>
            </a:avLst>
          </a:prstGeom>
          <a:solidFill>
            <a:srgbClr val="D6E5F2"/>
          </a:solidFill>
          <a:ln/>
        </p:spPr>
      </p:sp>
      <p:sp>
        <p:nvSpPr>
          <p:cNvPr id="18" name="Shape 15"/>
          <p:cNvSpPr/>
          <p:nvPr/>
        </p:nvSpPr>
        <p:spPr>
          <a:xfrm>
            <a:off x="2642616" y="2368296"/>
            <a:ext cx="2567635" cy="51206"/>
          </a:xfrm>
          <a:prstGeom prst="roundRect">
            <a:avLst>
              <a:gd name="adj" fmla="val 35715"/>
            </a:avLst>
          </a:prstGeom>
          <a:solidFill>
            <a:srgbClr val="D6E5F2"/>
          </a:solidFill>
          <a:ln/>
        </p:spPr>
      </p:sp>
      <p:sp>
        <p:nvSpPr>
          <p:cNvPr id="19" name="Shape 16"/>
          <p:cNvSpPr/>
          <p:nvPr/>
        </p:nvSpPr>
        <p:spPr>
          <a:xfrm>
            <a:off x="2642616" y="2496312"/>
            <a:ext cx="3160166" cy="64008"/>
          </a:xfrm>
          <a:prstGeom prst="roundRect">
            <a:avLst>
              <a:gd name="adj" fmla="val 28571"/>
            </a:avLst>
          </a:prstGeom>
          <a:solidFill>
            <a:srgbClr val="D6E5F2"/>
          </a:solidFill>
          <a:ln/>
        </p:spPr>
      </p:sp>
      <p:sp>
        <p:nvSpPr>
          <p:cNvPr id="20" name="Shape 17"/>
          <p:cNvSpPr/>
          <p:nvPr/>
        </p:nvSpPr>
        <p:spPr>
          <a:xfrm>
            <a:off x="2642616" y="2642616"/>
            <a:ext cx="2054108" cy="51206"/>
          </a:xfrm>
          <a:prstGeom prst="roundRect">
            <a:avLst>
              <a:gd name="adj" fmla="val 35715"/>
            </a:avLst>
          </a:prstGeom>
          <a:solidFill>
            <a:srgbClr val="D6E5F2"/>
          </a:solidFill>
          <a:ln/>
        </p:spPr>
      </p:sp>
      <p:sp>
        <p:nvSpPr>
          <p:cNvPr id="21" name="Shape 18"/>
          <p:cNvSpPr/>
          <p:nvPr/>
        </p:nvSpPr>
        <p:spPr>
          <a:xfrm>
            <a:off x="2642616" y="2889504"/>
            <a:ext cx="1554480" cy="274320"/>
          </a:xfrm>
          <a:prstGeom prst="roundRect">
            <a:avLst>
              <a:gd name="adj" fmla="val 50000"/>
            </a:avLst>
          </a:prstGeom>
          <a:solidFill>
            <a:srgbClr val="00B4A6"/>
          </a:solidFill>
          <a:ln/>
        </p:spPr>
      </p:sp>
      <p:sp>
        <p:nvSpPr>
          <p:cNvPr id="22" name="Text 19"/>
          <p:cNvSpPr/>
          <p:nvPr/>
        </p:nvSpPr>
        <p:spPr>
          <a:xfrm>
            <a:off x="2642616" y="2889504"/>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Get Appointment</a:t>
            </a:r>
            <a:endParaRPr lang="en-US" sz="900" dirty="0"/>
          </a:p>
        </p:txBody>
      </p:sp>
      <p:sp>
        <p:nvSpPr>
          <p:cNvPr id="23" name="Text 20"/>
          <p:cNvSpPr/>
          <p:nvPr/>
        </p:nvSpPr>
        <p:spPr>
          <a:xfrm>
            <a:off x="676656" y="3849624"/>
            <a:ext cx="3657600" cy="219456"/>
          </a:xfrm>
          <a:prstGeom prst="rect">
            <a:avLst/>
          </a:prstGeom>
          <a:noFill/>
          <a:ln/>
        </p:spPr>
        <p:txBody>
          <a:bodyPr wrap="square" lIns="0" tIns="0" rIns="0" bIns="0" rtlCol="0" anchor="ctr"/>
          <a:lstStyle/>
          <a:p>
            <a:pPr indent="0" marL="0">
              <a:buNone/>
            </a:pPr>
            <a:r>
              <a:rPr lang="en-US" sz="900" b="1" spc="100" kern="0" dirty="0">
                <a:solidFill>
                  <a:srgbClr val="0B5FA4"/>
                </a:solidFill>
                <a:latin typeface="Calibri" pitchFamily="34" charset="0"/>
                <a:ea typeface="Calibri" pitchFamily="34" charset="-122"/>
                <a:cs typeface="Calibri" pitchFamily="34" charset="-120"/>
              </a:rPr>
              <a:t>BIOGRAPHY</a:t>
            </a:r>
            <a:endParaRPr lang="en-US" sz="900" dirty="0"/>
          </a:p>
        </p:txBody>
      </p:sp>
      <p:sp>
        <p:nvSpPr>
          <p:cNvPr id="24" name="Shape 21"/>
          <p:cNvSpPr/>
          <p:nvPr/>
        </p:nvSpPr>
        <p:spPr>
          <a:xfrm>
            <a:off x="676656" y="4123944"/>
            <a:ext cx="5779008" cy="64008"/>
          </a:xfrm>
          <a:prstGeom prst="roundRect">
            <a:avLst>
              <a:gd name="adj" fmla="val 28571"/>
            </a:avLst>
          </a:prstGeom>
          <a:solidFill>
            <a:srgbClr val="D6E5F2"/>
          </a:solidFill>
          <a:ln/>
        </p:spPr>
      </p:sp>
      <p:sp>
        <p:nvSpPr>
          <p:cNvPr id="25" name="Shape 22"/>
          <p:cNvSpPr/>
          <p:nvPr/>
        </p:nvSpPr>
        <p:spPr>
          <a:xfrm>
            <a:off x="676656" y="4270248"/>
            <a:ext cx="3756355" cy="51206"/>
          </a:xfrm>
          <a:prstGeom prst="roundRect">
            <a:avLst>
              <a:gd name="adj" fmla="val 35715"/>
            </a:avLst>
          </a:prstGeom>
          <a:solidFill>
            <a:srgbClr val="D6E5F2"/>
          </a:solidFill>
          <a:ln/>
        </p:spPr>
      </p:sp>
      <p:sp>
        <p:nvSpPr>
          <p:cNvPr id="26" name="Shape 23"/>
          <p:cNvSpPr/>
          <p:nvPr/>
        </p:nvSpPr>
        <p:spPr>
          <a:xfrm>
            <a:off x="676656" y="4398264"/>
            <a:ext cx="4045306" cy="54864"/>
          </a:xfrm>
          <a:prstGeom prst="roundRect">
            <a:avLst>
              <a:gd name="adj" fmla="val 33333"/>
            </a:avLst>
          </a:prstGeom>
          <a:solidFill>
            <a:srgbClr val="D6E5F2"/>
          </a:solidFill>
          <a:ln/>
        </p:spPr>
      </p:sp>
      <p:sp>
        <p:nvSpPr>
          <p:cNvPr id="27" name="Shape 24"/>
          <p:cNvSpPr/>
          <p:nvPr/>
        </p:nvSpPr>
        <p:spPr>
          <a:xfrm>
            <a:off x="676656" y="4526280"/>
            <a:ext cx="2629449" cy="43891"/>
          </a:xfrm>
          <a:prstGeom prst="roundRect">
            <a:avLst>
              <a:gd name="adj" fmla="val 41667"/>
            </a:avLst>
          </a:prstGeom>
          <a:solidFill>
            <a:srgbClr val="D6E5F2"/>
          </a:solidFill>
          <a:ln/>
        </p:spPr>
      </p:sp>
      <p:sp>
        <p:nvSpPr>
          <p:cNvPr id="28" name="Text 25"/>
          <p:cNvSpPr/>
          <p:nvPr/>
        </p:nvSpPr>
        <p:spPr>
          <a:xfrm>
            <a:off x="676656" y="4672584"/>
            <a:ext cx="3657600" cy="219456"/>
          </a:xfrm>
          <a:prstGeom prst="rect">
            <a:avLst/>
          </a:prstGeom>
          <a:noFill/>
          <a:ln/>
        </p:spPr>
        <p:txBody>
          <a:bodyPr wrap="square" lIns="0" tIns="0" rIns="0" bIns="0" rtlCol="0" anchor="ctr"/>
          <a:lstStyle/>
          <a:p>
            <a:pPr indent="0" marL="0">
              <a:buNone/>
            </a:pPr>
            <a:r>
              <a:rPr lang="en-US" sz="900" b="1" spc="100" kern="0" dirty="0">
                <a:solidFill>
                  <a:srgbClr val="0B5FA4"/>
                </a:solidFill>
                <a:latin typeface="Calibri" pitchFamily="34" charset="0"/>
                <a:ea typeface="Calibri" pitchFamily="34" charset="-122"/>
                <a:cs typeface="Calibri" pitchFamily="34" charset="-120"/>
              </a:rPr>
              <a:t>QUALIFICATIONS</a:t>
            </a:r>
            <a:endParaRPr lang="en-US" sz="900" dirty="0"/>
          </a:p>
        </p:txBody>
      </p:sp>
      <p:sp>
        <p:nvSpPr>
          <p:cNvPr id="29" name="Shape 26"/>
          <p:cNvSpPr/>
          <p:nvPr/>
        </p:nvSpPr>
        <p:spPr>
          <a:xfrm>
            <a:off x="676656" y="4946904"/>
            <a:ext cx="5779008" cy="64008"/>
          </a:xfrm>
          <a:prstGeom prst="roundRect">
            <a:avLst>
              <a:gd name="adj" fmla="val 28571"/>
            </a:avLst>
          </a:prstGeom>
          <a:solidFill>
            <a:srgbClr val="D6E5F2"/>
          </a:solidFill>
          <a:ln/>
        </p:spPr>
      </p:sp>
      <p:sp>
        <p:nvSpPr>
          <p:cNvPr id="30" name="Shape 27"/>
          <p:cNvSpPr/>
          <p:nvPr/>
        </p:nvSpPr>
        <p:spPr>
          <a:xfrm>
            <a:off x="676656" y="5093208"/>
            <a:ext cx="3756355" cy="51206"/>
          </a:xfrm>
          <a:prstGeom prst="roundRect">
            <a:avLst>
              <a:gd name="adj" fmla="val 35715"/>
            </a:avLst>
          </a:prstGeom>
          <a:solidFill>
            <a:srgbClr val="D6E5F2"/>
          </a:solidFill>
          <a:ln/>
        </p:spPr>
      </p:sp>
      <p:sp>
        <p:nvSpPr>
          <p:cNvPr id="31" name="Shape 28"/>
          <p:cNvSpPr/>
          <p:nvPr/>
        </p:nvSpPr>
        <p:spPr>
          <a:xfrm>
            <a:off x="676656" y="5221224"/>
            <a:ext cx="4045306" cy="54864"/>
          </a:xfrm>
          <a:prstGeom prst="roundRect">
            <a:avLst>
              <a:gd name="adj" fmla="val 33333"/>
            </a:avLst>
          </a:prstGeom>
          <a:solidFill>
            <a:srgbClr val="D6E5F2"/>
          </a:solidFill>
          <a:ln/>
        </p:spPr>
      </p:sp>
      <p:sp>
        <p:nvSpPr>
          <p:cNvPr id="32" name="Shape 29"/>
          <p:cNvSpPr/>
          <p:nvPr/>
        </p:nvSpPr>
        <p:spPr>
          <a:xfrm>
            <a:off x="676656" y="5349240"/>
            <a:ext cx="2629449" cy="43891"/>
          </a:xfrm>
          <a:prstGeom prst="roundRect">
            <a:avLst>
              <a:gd name="adj" fmla="val 41667"/>
            </a:avLst>
          </a:prstGeom>
          <a:solidFill>
            <a:srgbClr val="D6E5F2"/>
          </a:solidFill>
          <a:ln/>
        </p:spPr>
      </p:sp>
      <p:sp>
        <p:nvSpPr>
          <p:cNvPr id="33" name="Text 30"/>
          <p:cNvSpPr/>
          <p:nvPr/>
        </p:nvSpPr>
        <p:spPr>
          <a:xfrm>
            <a:off x="676656" y="5495544"/>
            <a:ext cx="3657600" cy="219456"/>
          </a:xfrm>
          <a:prstGeom prst="rect">
            <a:avLst/>
          </a:prstGeom>
          <a:noFill/>
          <a:ln/>
        </p:spPr>
        <p:txBody>
          <a:bodyPr wrap="square" lIns="0" tIns="0" rIns="0" bIns="0" rtlCol="0" anchor="ctr"/>
          <a:lstStyle/>
          <a:p>
            <a:pPr indent="0" marL="0">
              <a:buNone/>
            </a:pPr>
            <a:r>
              <a:rPr lang="en-US" sz="900" b="1" spc="100" kern="0" dirty="0">
                <a:solidFill>
                  <a:srgbClr val="0B5FA4"/>
                </a:solidFill>
                <a:latin typeface="Calibri" pitchFamily="34" charset="0"/>
                <a:ea typeface="Calibri" pitchFamily="34" charset="-122"/>
                <a:cs typeface="Calibri" pitchFamily="34" charset="-120"/>
              </a:rPr>
              <a:t>WORKING HOURS</a:t>
            </a:r>
            <a:endParaRPr lang="en-US" sz="900" dirty="0"/>
          </a:p>
        </p:txBody>
      </p:sp>
      <p:sp>
        <p:nvSpPr>
          <p:cNvPr id="34" name="Shape 31"/>
          <p:cNvSpPr/>
          <p:nvPr/>
        </p:nvSpPr>
        <p:spPr>
          <a:xfrm>
            <a:off x="676656" y="5769864"/>
            <a:ext cx="5779008" cy="64008"/>
          </a:xfrm>
          <a:prstGeom prst="roundRect">
            <a:avLst>
              <a:gd name="adj" fmla="val 28571"/>
            </a:avLst>
          </a:prstGeom>
          <a:solidFill>
            <a:srgbClr val="D6E5F2"/>
          </a:solidFill>
          <a:ln/>
        </p:spPr>
      </p:sp>
      <p:sp>
        <p:nvSpPr>
          <p:cNvPr id="35" name="Shape 32"/>
          <p:cNvSpPr/>
          <p:nvPr/>
        </p:nvSpPr>
        <p:spPr>
          <a:xfrm>
            <a:off x="676656" y="5916168"/>
            <a:ext cx="3756355" cy="51206"/>
          </a:xfrm>
          <a:prstGeom prst="roundRect">
            <a:avLst>
              <a:gd name="adj" fmla="val 35715"/>
            </a:avLst>
          </a:prstGeom>
          <a:solidFill>
            <a:srgbClr val="D6E5F2"/>
          </a:solidFill>
          <a:ln/>
        </p:spPr>
      </p:sp>
      <p:sp>
        <p:nvSpPr>
          <p:cNvPr id="36" name="Shape 33"/>
          <p:cNvSpPr/>
          <p:nvPr/>
        </p:nvSpPr>
        <p:spPr>
          <a:xfrm>
            <a:off x="676656" y="6044184"/>
            <a:ext cx="4045306" cy="54864"/>
          </a:xfrm>
          <a:prstGeom prst="roundRect">
            <a:avLst>
              <a:gd name="adj" fmla="val 33333"/>
            </a:avLst>
          </a:prstGeom>
          <a:solidFill>
            <a:srgbClr val="D6E5F2"/>
          </a:solidFill>
          <a:ln/>
        </p:spPr>
      </p:sp>
      <p:sp>
        <p:nvSpPr>
          <p:cNvPr id="37" name="Shape 34"/>
          <p:cNvSpPr/>
          <p:nvPr/>
        </p:nvSpPr>
        <p:spPr>
          <a:xfrm>
            <a:off x="676656" y="6172200"/>
            <a:ext cx="2629449" cy="43891"/>
          </a:xfrm>
          <a:prstGeom prst="roundRect">
            <a:avLst>
              <a:gd name="adj" fmla="val 41667"/>
            </a:avLst>
          </a:prstGeom>
          <a:solidFill>
            <a:srgbClr val="D6E5F2"/>
          </a:solidFill>
          <a:ln/>
        </p:spPr>
      </p:sp>
      <p:sp>
        <p:nvSpPr>
          <p:cNvPr id="38" name="Text 35"/>
          <p:cNvSpPr/>
          <p:nvPr/>
        </p:nvSpPr>
        <p:spPr>
          <a:xfrm>
            <a:off x="7223760" y="1481328"/>
            <a:ext cx="4434840" cy="502920"/>
          </a:xfrm>
          <a:prstGeom prst="rect">
            <a:avLst/>
          </a:prstGeom>
          <a:noFill/>
          <a:ln/>
        </p:spPr>
        <p:txBody>
          <a:bodyPr wrap="square" lIns="0" tIns="0" rIns="0" bIns="0" rtlCol="0" anchor="ctr"/>
          <a:lstStyle/>
          <a:p>
            <a:pPr indent="0" marL="0">
              <a:buNone/>
            </a:pPr>
            <a:r>
              <a:rPr lang="en-US" sz="1550" b="1" dirty="0">
                <a:solidFill>
                  <a:srgbClr val="17263D"/>
                </a:solidFill>
                <a:latin typeface="Cambria" pitchFamily="34" charset="0"/>
                <a:ea typeface="Cambria" pitchFamily="34" charset="-122"/>
                <a:cs typeface="Cambria" pitchFamily="34" charset="-120"/>
              </a:rPr>
              <a:t>One profile, every detail a patient needs to decide</a:t>
            </a:r>
            <a:endParaRPr lang="en-US" sz="1550" dirty="0"/>
          </a:p>
        </p:txBody>
      </p:sp>
      <p:sp>
        <p:nvSpPr>
          <p:cNvPr id="39" name="Shape 36"/>
          <p:cNvSpPr/>
          <p:nvPr/>
        </p:nvSpPr>
        <p:spPr>
          <a:xfrm>
            <a:off x="7223760" y="2148840"/>
            <a:ext cx="292608" cy="292608"/>
          </a:xfrm>
          <a:prstGeom prst="ellipse">
            <a:avLst/>
          </a:prstGeom>
          <a:solidFill>
            <a:srgbClr val="EAF3FB"/>
          </a:solidFill>
          <a:ln/>
        </p:spPr>
      </p:sp>
      <p:pic>
        <p:nvPicPr>
          <p:cNvPr id="40" name="Image 1" descr="/home/claude/medsev-ppt/icons/check_00B4A6.png">    </p:cNvPr>
          <p:cNvPicPr>
            <a:picLocks noChangeAspect="1"/>
          </p:cNvPicPr>
          <p:nvPr/>
        </p:nvPicPr>
        <p:blipFill>
          <a:blip r:embed="rId2"/>
          <a:stretch>
            <a:fillRect/>
          </a:stretch>
        </p:blipFill>
        <p:spPr>
          <a:xfrm>
            <a:off x="7282282" y="2207362"/>
            <a:ext cx="175565" cy="175565"/>
          </a:xfrm>
          <a:prstGeom prst="rect">
            <a:avLst/>
          </a:prstGeom>
        </p:spPr>
      </p:pic>
      <p:sp>
        <p:nvSpPr>
          <p:cNvPr id="41" name="Text 37"/>
          <p:cNvSpPr/>
          <p:nvPr/>
        </p:nvSpPr>
        <p:spPr>
          <a:xfrm>
            <a:off x="7626096" y="2103120"/>
            <a:ext cx="3931920" cy="502920"/>
          </a:xfrm>
          <a:prstGeom prst="rect">
            <a:avLst/>
          </a:prstGeom>
          <a:noFill/>
          <a:ln/>
        </p:spPr>
        <p:txBody>
          <a:bodyPr wrap="square" lIns="0" tIns="0" rIns="0" bIns="0" rtlCol="0" anchor="ctr"/>
          <a:lstStyle/>
          <a:p>
            <a:pPr indent="0" marL="0">
              <a:buNone/>
            </a:pPr>
            <a:r>
              <a:rPr lang="en-US" sz="1120" dirty="0">
                <a:solidFill>
                  <a:srgbClr val="17263D"/>
                </a:solidFill>
                <a:latin typeface="Calibri" pitchFamily="34" charset="0"/>
                <a:ea typeface="Calibri" pitchFamily="34" charset="-122"/>
                <a:cs typeface="Calibri" pitchFamily="34" charset="-120"/>
              </a:rPr>
              <a:t>Full biography establishing background &amp; approach</a:t>
            </a:r>
            <a:endParaRPr lang="en-US" sz="1120" dirty="0"/>
          </a:p>
        </p:txBody>
      </p:sp>
      <p:sp>
        <p:nvSpPr>
          <p:cNvPr id="42" name="Shape 38"/>
          <p:cNvSpPr/>
          <p:nvPr/>
        </p:nvSpPr>
        <p:spPr>
          <a:xfrm>
            <a:off x="7223760" y="2807208"/>
            <a:ext cx="292608" cy="292608"/>
          </a:xfrm>
          <a:prstGeom prst="ellipse">
            <a:avLst/>
          </a:prstGeom>
          <a:solidFill>
            <a:srgbClr val="EAF3FB"/>
          </a:solidFill>
          <a:ln/>
        </p:spPr>
      </p:sp>
      <p:pic>
        <p:nvPicPr>
          <p:cNvPr id="43" name="Image 2" descr="/home/claude/medsev-ppt/icons/check_00B4A6.png">    </p:cNvPr>
          <p:cNvPicPr>
            <a:picLocks noChangeAspect="1"/>
          </p:cNvPicPr>
          <p:nvPr/>
        </p:nvPicPr>
        <p:blipFill>
          <a:blip r:embed="rId3"/>
          <a:stretch>
            <a:fillRect/>
          </a:stretch>
        </p:blipFill>
        <p:spPr>
          <a:xfrm>
            <a:off x="7282282" y="2865730"/>
            <a:ext cx="175565" cy="175565"/>
          </a:xfrm>
          <a:prstGeom prst="rect">
            <a:avLst/>
          </a:prstGeom>
        </p:spPr>
      </p:pic>
      <p:sp>
        <p:nvSpPr>
          <p:cNvPr id="44" name="Text 39"/>
          <p:cNvSpPr/>
          <p:nvPr/>
        </p:nvSpPr>
        <p:spPr>
          <a:xfrm>
            <a:off x="7626096" y="2761488"/>
            <a:ext cx="3931920" cy="502920"/>
          </a:xfrm>
          <a:prstGeom prst="rect">
            <a:avLst/>
          </a:prstGeom>
          <a:noFill/>
          <a:ln/>
        </p:spPr>
        <p:txBody>
          <a:bodyPr wrap="square" lIns="0" tIns="0" rIns="0" bIns="0" rtlCol="0" anchor="ctr"/>
          <a:lstStyle/>
          <a:p>
            <a:pPr indent="0" marL="0">
              <a:buNone/>
            </a:pPr>
            <a:r>
              <a:rPr lang="en-US" sz="1120" dirty="0">
                <a:solidFill>
                  <a:srgbClr val="17263D"/>
                </a:solidFill>
                <a:latin typeface="Calibri" pitchFamily="34" charset="0"/>
                <a:ea typeface="Calibri" pitchFamily="34" charset="-122"/>
                <a:cs typeface="Calibri" pitchFamily="34" charset="-120"/>
              </a:rPr>
              <a:t>Qualifications and certifications listed clearly</a:t>
            </a:r>
            <a:endParaRPr lang="en-US" sz="1120" dirty="0"/>
          </a:p>
        </p:txBody>
      </p:sp>
      <p:sp>
        <p:nvSpPr>
          <p:cNvPr id="45" name="Shape 40"/>
          <p:cNvSpPr/>
          <p:nvPr/>
        </p:nvSpPr>
        <p:spPr>
          <a:xfrm>
            <a:off x="7223760" y="3465576"/>
            <a:ext cx="292608" cy="292608"/>
          </a:xfrm>
          <a:prstGeom prst="ellipse">
            <a:avLst/>
          </a:prstGeom>
          <a:solidFill>
            <a:srgbClr val="EAF3FB"/>
          </a:solidFill>
          <a:ln/>
        </p:spPr>
      </p:sp>
      <p:pic>
        <p:nvPicPr>
          <p:cNvPr id="46" name="Image 3" descr="/home/claude/medsev-ppt/icons/check_00B4A6.png">    </p:cNvPr>
          <p:cNvPicPr>
            <a:picLocks noChangeAspect="1"/>
          </p:cNvPicPr>
          <p:nvPr/>
        </p:nvPicPr>
        <p:blipFill>
          <a:blip r:embed="rId4"/>
          <a:stretch>
            <a:fillRect/>
          </a:stretch>
        </p:blipFill>
        <p:spPr>
          <a:xfrm>
            <a:off x="7282282" y="3524098"/>
            <a:ext cx="175565" cy="175565"/>
          </a:xfrm>
          <a:prstGeom prst="rect">
            <a:avLst/>
          </a:prstGeom>
        </p:spPr>
      </p:pic>
      <p:sp>
        <p:nvSpPr>
          <p:cNvPr id="47" name="Text 41"/>
          <p:cNvSpPr/>
          <p:nvPr/>
        </p:nvSpPr>
        <p:spPr>
          <a:xfrm>
            <a:off x="7626096" y="3419856"/>
            <a:ext cx="3931920" cy="502920"/>
          </a:xfrm>
          <a:prstGeom prst="rect">
            <a:avLst/>
          </a:prstGeom>
          <a:noFill/>
          <a:ln/>
        </p:spPr>
        <p:txBody>
          <a:bodyPr wrap="square" lIns="0" tIns="0" rIns="0" bIns="0" rtlCol="0" anchor="ctr"/>
          <a:lstStyle/>
          <a:p>
            <a:pPr indent="0" marL="0">
              <a:buNone/>
            </a:pPr>
            <a:r>
              <a:rPr lang="en-US" sz="1120" dirty="0">
                <a:solidFill>
                  <a:srgbClr val="17263D"/>
                </a:solidFill>
                <a:latin typeface="Calibri" pitchFamily="34" charset="0"/>
                <a:ea typeface="Calibri" pitchFamily="34" charset="-122"/>
                <a:cs typeface="Calibri" pitchFamily="34" charset="-120"/>
              </a:rPr>
              <a:t>Published working hours to set expectations</a:t>
            </a:r>
            <a:endParaRPr lang="en-US" sz="1120" dirty="0"/>
          </a:p>
        </p:txBody>
      </p:sp>
      <p:sp>
        <p:nvSpPr>
          <p:cNvPr id="48" name="Shape 42"/>
          <p:cNvSpPr/>
          <p:nvPr/>
        </p:nvSpPr>
        <p:spPr>
          <a:xfrm>
            <a:off x="7223760" y="4123944"/>
            <a:ext cx="292608" cy="292608"/>
          </a:xfrm>
          <a:prstGeom prst="ellipse">
            <a:avLst/>
          </a:prstGeom>
          <a:solidFill>
            <a:srgbClr val="EAF3FB"/>
          </a:solidFill>
          <a:ln/>
        </p:spPr>
      </p:sp>
      <p:pic>
        <p:nvPicPr>
          <p:cNvPr id="49" name="Image 4" descr="/home/claude/medsev-ppt/icons/check_00B4A6.png">    </p:cNvPr>
          <p:cNvPicPr>
            <a:picLocks noChangeAspect="1"/>
          </p:cNvPicPr>
          <p:nvPr/>
        </p:nvPicPr>
        <p:blipFill>
          <a:blip r:embed="rId5"/>
          <a:stretch>
            <a:fillRect/>
          </a:stretch>
        </p:blipFill>
        <p:spPr>
          <a:xfrm>
            <a:off x="7282282" y="4182466"/>
            <a:ext cx="175565" cy="175565"/>
          </a:xfrm>
          <a:prstGeom prst="rect">
            <a:avLst/>
          </a:prstGeom>
        </p:spPr>
      </p:pic>
      <p:sp>
        <p:nvSpPr>
          <p:cNvPr id="50" name="Text 43"/>
          <p:cNvSpPr/>
          <p:nvPr/>
        </p:nvSpPr>
        <p:spPr>
          <a:xfrm>
            <a:off x="7626096" y="4078224"/>
            <a:ext cx="3931920" cy="502920"/>
          </a:xfrm>
          <a:prstGeom prst="rect">
            <a:avLst/>
          </a:prstGeom>
          <a:noFill/>
          <a:ln/>
        </p:spPr>
        <p:txBody>
          <a:bodyPr wrap="square" lIns="0" tIns="0" rIns="0" bIns="0" rtlCol="0" anchor="ctr"/>
          <a:lstStyle/>
          <a:p>
            <a:pPr indent="0" marL="0">
              <a:buNone/>
            </a:pPr>
            <a:r>
              <a:rPr lang="en-US" sz="1120" dirty="0">
                <a:solidFill>
                  <a:srgbClr val="17263D"/>
                </a:solidFill>
                <a:latin typeface="Calibri" pitchFamily="34" charset="0"/>
                <a:ea typeface="Calibri" pitchFamily="34" charset="-122"/>
                <a:cs typeface="Calibri" pitchFamily="34" charset="-120"/>
              </a:rPr>
              <a:t>A persistent "Get Appointment" button on the profile</a:t>
            </a:r>
            <a:endParaRPr lang="en-US" sz="1120" dirty="0"/>
          </a:p>
        </p:txBody>
      </p:sp>
      <p:sp>
        <p:nvSpPr>
          <p:cNvPr id="51" name="Text 44"/>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52" name="Text 45"/>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Doctor Details</a:t>
            </a:r>
            <a:endParaRPr lang="en-US" sz="900" dirty="0"/>
          </a:p>
        </p:txBody>
      </p:sp>
      <p:sp>
        <p:nvSpPr>
          <p:cNvPr id="53" name="Text 46"/>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9 / 23</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PAGE WALKTHROUGH · 07</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Departments</a:t>
            </a:r>
            <a:endParaRPr lang="en-US" sz="3000" dirty="0"/>
          </a:p>
        </p:txBody>
      </p:sp>
      <p:sp>
        <p:nvSpPr>
          <p:cNvPr id="4" name="Text 2"/>
          <p:cNvSpPr/>
          <p:nvPr/>
        </p:nvSpPr>
        <p:spPr>
          <a:xfrm>
            <a:off x="548640" y="1371600"/>
            <a:ext cx="7315200" cy="365760"/>
          </a:xfrm>
          <a:prstGeom prst="rect">
            <a:avLst/>
          </a:prstGeom>
          <a:noFill/>
          <a:ln/>
        </p:spPr>
        <p:txBody>
          <a:bodyPr wrap="square" lIns="0" tIns="0" rIns="0" bIns="0" rtlCol="0" anchor="ctr"/>
          <a:lstStyle/>
          <a:p>
            <a:pPr indent="0" marL="0">
              <a:buNone/>
            </a:pPr>
            <a:r>
              <a:rPr lang="en-US" sz="1300" dirty="0">
                <a:solidFill>
                  <a:srgbClr val="55677E"/>
                </a:solidFill>
                <a:latin typeface="Calibri" pitchFamily="34" charset="0"/>
                <a:ea typeface="Calibri" pitchFamily="34" charset="-122"/>
                <a:cs typeface="Calibri" pitchFamily="34" charset="-120"/>
              </a:rPr>
              <a:t>Organizing care by clinical department</a:t>
            </a:r>
            <a:endParaRPr lang="en-US" sz="1300" dirty="0"/>
          </a:p>
        </p:txBody>
      </p:sp>
      <p:sp>
        <p:nvSpPr>
          <p:cNvPr id="5" name="Shape 3"/>
          <p:cNvSpPr/>
          <p:nvPr/>
        </p:nvSpPr>
        <p:spPr>
          <a:xfrm>
            <a:off x="548640" y="1920240"/>
            <a:ext cx="3529584" cy="1417320"/>
          </a:xfrm>
          <a:prstGeom prst="roundRect">
            <a:avLst>
              <a:gd name="adj" fmla="val 5806"/>
            </a:avLst>
          </a:prstGeom>
          <a:solidFill>
            <a:srgbClr val="F6FAFD"/>
          </a:solidFill>
          <a:ln w="12700">
            <a:solidFill>
              <a:srgbClr val="D6E5F2"/>
            </a:solidFill>
            <a:prstDash val="solid"/>
          </a:ln>
        </p:spPr>
      </p:sp>
      <p:sp>
        <p:nvSpPr>
          <p:cNvPr id="6" name="Shape 4"/>
          <p:cNvSpPr/>
          <p:nvPr/>
        </p:nvSpPr>
        <p:spPr>
          <a:xfrm>
            <a:off x="749808" y="2299716"/>
            <a:ext cx="658368" cy="658368"/>
          </a:xfrm>
          <a:prstGeom prst="ellipse">
            <a:avLst/>
          </a:prstGeom>
          <a:solidFill>
            <a:srgbClr val="FFFFFF"/>
          </a:solidFill>
          <a:ln/>
        </p:spPr>
      </p:sp>
      <p:pic>
        <p:nvPicPr>
          <p:cNvPr id="7" name="Image 0" descr="/home/claude/medsev-ppt/icons/heart_0B5FA4.png">    </p:cNvPr>
          <p:cNvPicPr>
            <a:picLocks noChangeAspect="1"/>
          </p:cNvPicPr>
          <p:nvPr/>
        </p:nvPicPr>
        <p:blipFill>
          <a:blip r:embed="rId1"/>
          <a:stretch>
            <a:fillRect/>
          </a:stretch>
        </p:blipFill>
        <p:spPr>
          <a:xfrm>
            <a:off x="897941" y="2447849"/>
            <a:ext cx="362102" cy="362102"/>
          </a:xfrm>
          <a:prstGeom prst="rect">
            <a:avLst/>
          </a:prstGeom>
        </p:spPr>
      </p:pic>
      <p:sp>
        <p:nvSpPr>
          <p:cNvPr id="8" name="Text 5"/>
          <p:cNvSpPr/>
          <p:nvPr/>
        </p:nvSpPr>
        <p:spPr>
          <a:xfrm>
            <a:off x="1554480" y="2212848"/>
            <a:ext cx="2386584" cy="320040"/>
          </a:xfrm>
          <a:prstGeom prst="rect">
            <a:avLst/>
          </a:prstGeom>
          <a:noFill/>
          <a:ln/>
        </p:spPr>
        <p:txBody>
          <a:bodyPr wrap="square" lIns="0" tIns="0" rIns="0" bIns="0" rtlCol="0" anchor="ctr"/>
          <a:lstStyle/>
          <a:p>
            <a:pPr indent="0" marL="0">
              <a:buNone/>
            </a:pPr>
            <a:r>
              <a:rPr lang="en-US" sz="1450" b="1" dirty="0">
                <a:solidFill>
                  <a:srgbClr val="17263D"/>
                </a:solidFill>
                <a:latin typeface="Cambria" pitchFamily="34" charset="0"/>
                <a:ea typeface="Cambria" pitchFamily="34" charset="-122"/>
                <a:cs typeface="Cambria" pitchFamily="34" charset="-120"/>
              </a:rPr>
              <a:t>Cardiology</a:t>
            </a:r>
            <a:endParaRPr lang="en-US" sz="1450" dirty="0"/>
          </a:p>
        </p:txBody>
      </p:sp>
      <p:sp>
        <p:nvSpPr>
          <p:cNvPr id="9" name="Text 6"/>
          <p:cNvSpPr/>
          <p:nvPr/>
        </p:nvSpPr>
        <p:spPr>
          <a:xfrm>
            <a:off x="1554480" y="2560320"/>
            <a:ext cx="2340864" cy="502920"/>
          </a:xfrm>
          <a:prstGeom prst="rect">
            <a:avLst/>
          </a:prstGeom>
          <a:noFill/>
          <a:ln/>
        </p:spPr>
        <p:txBody>
          <a:bodyPr wrap="square" lIns="0" tIns="0" rIns="0" bIns="0" rtlCol="0" anchor="ctr"/>
          <a:lstStyle/>
          <a:p>
            <a:pPr indent="0" marL="0">
              <a:lnSpc>
                <a:spcPct val="110000"/>
              </a:lnSpc>
              <a:buNone/>
            </a:pPr>
            <a:r>
              <a:rPr lang="en-US" sz="980" dirty="0">
                <a:solidFill>
                  <a:srgbClr val="55677E"/>
                </a:solidFill>
                <a:latin typeface="Calibri" pitchFamily="34" charset="0"/>
                <a:ea typeface="Calibri" pitchFamily="34" charset="-122"/>
                <a:cs typeface="Calibri" pitchFamily="34" charset="-120"/>
              </a:rPr>
              <a:t>Dedicated section for this specialty</a:t>
            </a:r>
            <a:endParaRPr lang="en-US" sz="980" dirty="0"/>
          </a:p>
        </p:txBody>
      </p:sp>
      <p:sp>
        <p:nvSpPr>
          <p:cNvPr id="10" name="Shape 7"/>
          <p:cNvSpPr/>
          <p:nvPr/>
        </p:nvSpPr>
        <p:spPr>
          <a:xfrm>
            <a:off x="4261104" y="1920240"/>
            <a:ext cx="3529584" cy="1417320"/>
          </a:xfrm>
          <a:prstGeom prst="roundRect">
            <a:avLst>
              <a:gd name="adj" fmla="val 5806"/>
            </a:avLst>
          </a:prstGeom>
          <a:solidFill>
            <a:srgbClr val="F6FAFD"/>
          </a:solidFill>
          <a:ln w="12700">
            <a:solidFill>
              <a:srgbClr val="D6E5F2"/>
            </a:solidFill>
            <a:prstDash val="solid"/>
          </a:ln>
        </p:spPr>
      </p:sp>
      <p:sp>
        <p:nvSpPr>
          <p:cNvPr id="11" name="Shape 8"/>
          <p:cNvSpPr/>
          <p:nvPr/>
        </p:nvSpPr>
        <p:spPr>
          <a:xfrm>
            <a:off x="4462272" y="2299716"/>
            <a:ext cx="658368" cy="658368"/>
          </a:xfrm>
          <a:prstGeom prst="ellipse">
            <a:avLst/>
          </a:prstGeom>
          <a:solidFill>
            <a:srgbClr val="FFFFFF"/>
          </a:solidFill>
          <a:ln/>
        </p:spPr>
      </p:sp>
      <p:pic>
        <p:nvPicPr>
          <p:cNvPr id="12" name="Image 1" descr="/home/claude/medsev-ppt/icons/brain_0B5FA4.png">    </p:cNvPr>
          <p:cNvPicPr>
            <a:picLocks noChangeAspect="1"/>
          </p:cNvPicPr>
          <p:nvPr/>
        </p:nvPicPr>
        <p:blipFill>
          <a:blip r:embed="rId2"/>
          <a:stretch>
            <a:fillRect/>
          </a:stretch>
        </p:blipFill>
        <p:spPr>
          <a:xfrm>
            <a:off x="4610405" y="2447849"/>
            <a:ext cx="362102" cy="362102"/>
          </a:xfrm>
          <a:prstGeom prst="rect">
            <a:avLst/>
          </a:prstGeom>
        </p:spPr>
      </p:pic>
      <p:sp>
        <p:nvSpPr>
          <p:cNvPr id="13" name="Text 9"/>
          <p:cNvSpPr/>
          <p:nvPr/>
        </p:nvSpPr>
        <p:spPr>
          <a:xfrm>
            <a:off x="5266944" y="2212848"/>
            <a:ext cx="2386584" cy="320040"/>
          </a:xfrm>
          <a:prstGeom prst="rect">
            <a:avLst/>
          </a:prstGeom>
          <a:noFill/>
          <a:ln/>
        </p:spPr>
        <p:txBody>
          <a:bodyPr wrap="square" lIns="0" tIns="0" rIns="0" bIns="0" rtlCol="0" anchor="ctr"/>
          <a:lstStyle/>
          <a:p>
            <a:pPr indent="0" marL="0">
              <a:buNone/>
            </a:pPr>
            <a:r>
              <a:rPr lang="en-US" sz="1450" b="1" dirty="0">
                <a:solidFill>
                  <a:srgbClr val="17263D"/>
                </a:solidFill>
                <a:latin typeface="Cambria" pitchFamily="34" charset="0"/>
                <a:ea typeface="Cambria" pitchFamily="34" charset="-122"/>
                <a:cs typeface="Cambria" pitchFamily="34" charset="-120"/>
              </a:rPr>
              <a:t>Neurology</a:t>
            </a:r>
            <a:endParaRPr lang="en-US" sz="1450" dirty="0"/>
          </a:p>
        </p:txBody>
      </p:sp>
      <p:sp>
        <p:nvSpPr>
          <p:cNvPr id="14" name="Text 10"/>
          <p:cNvSpPr/>
          <p:nvPr/>
        </p:nvSpPr>
        <p:spPr>
          <a:xfrm>
            <a:off x="5266944" y="2560320"/>
            <a:ext cx="2340864" cy="502920"/>
          </a:xfrm>
          <a:prstGeom prst="rect">
            <a:avLst/>
          </a:prstGeom>
          <a:noFill/>
          <a:ln/>
        </p:spPr>
        <p:txBody>
          <a:bodyPr wrap="square" lIns="0" tIns="0" rIns="0" bIns="0" rtlCol="0" anchor="ctr"/>
          <a:lstStyle/>
          <a:p>
            <a:pPr indent="0" marL="0">
              <a:lnSpc>
                <a:spcPct val="110000"/>
              </a:lnSpc>
              <a:buNone/>
            </a:pPr>
            <a:r>
              <a:rPr lang="en-US" sz="980" dirty="0">
                <a:solidFill>
                  <a:srgbClr val="55677E"/>
                </a:solidFill>
                <a:latin typeface="Calibri" pitchFamily="34" charset="0"/>
                <a:ea typeface="Calibri" pitchFamily="34" charset="-122"/>
                <a:cs typeface="Calibri" pitchFamily="34" charset="-120"/>
              </a:rPr>
              <a:t>Dedicated section for this specialty</a:t>
            </a:r>
            <a:endParaRPr lang="en-US" sz="980" dirty="0"/>
          </a:p>
        </p:txBody>
      </p:sp>
      <p:sp>
        <p:nvSpPr>
          <p:cNvPr id="15" name="Shape 11"/>
          <p:cNvSpPr/>
          <p:nvPr/>
        </p:nvSpPr>
        <p:spPr>
          <a:xfrm>
            <a:off x="7973568" y="1920240"/>
            <a:ext cx="3529584" cy="1417320"/>
          </a:xfrm>
          <a:prstGeom prst="roundRect">
            <a:avLst>
              <a:gd name="adj" fmla="val 5806"/>
            </a:avLst>
          </a:prstGeom>
          <a:solidFill>
            <a:srgbClr val="F6FAFD"/>
          </a:solidFill>
          <a:ln w="12700">
            <a:solidFill>
              <a:srgbClr val="D6E5F2"/>
            </a:solidFill>
            <a:prstDash val="solid"/>
          </a:ln>
        </p:spPr>
      </p:sp>
      <p:sp>
        <p:nvSpPr>
          <p:cNvPr id="16" name="Shape 12"/>
          <p:cNvSpPr/>
          <p:nvPr/>
        </p:nvSpPr>
        <p:spPr>
          <a:xfrm>
            <a:off x="8174736" y="2299716"/>
            <a:ext cx="658368" cy="658368"/>
          </a:xfrm>
          <a:prstGeom prst="ellipse">
            <a:avLst/>
          </a:prstGeom>
          <a:solidFill>
            <a:srgbClr val="FFFFFF"/>
          </a:solidFill>
          <a:ln/>
        </p:spPr>
      </p:sp>
      <p:pic>
        <p:nvPicPr>
          <p:cNvPr id="17" name="Image 2" descr="/home/claude/medsev-ppt/icons/tooth_0B5FA4.png">    </p:cNvPr>
          <p:cNvPicPr>
            <a:picLocks noChangeAspect="1"/>
          </p:cNvPicPr>
          <p:nvPr/>
        </p:nvPicPr>
        <p:blipFill>
          <a:blip r:embed="rId3"/>
          <a:stretch>
            <a:fillRect/>
          </a:stretch>
        </p:blipFill>
        <p:spPr>
          <a:xfrm>
            <a:off x="8322869" y="2447849"/>
            <a:ext cx="362102" cy="362102"/>
          </a:xfrm>
          <a:prstGeom prst="rect">
            <a:avLst/>
          </a:prstGeom>
        </p:spPr>
      </p:pic>
      <p:sp>
        <p:nvSpPr>
          <p:cNvPr id="18" name="Text 13"/>
          <p:cNvSpPr/>
          <p:nvPr/>
        </p:nvSpPr>
        <p:spPr>
          <a:xfrm>
            <a:off x="8979408" y="2212848"/>
            <a:ext cx="2386584" cy="320040"/>
          </a:xfrm>
          <a:prstGeom prst="rect">
            <a:avLst/>
          </a:prstGeom>
          <a:noFill/>
          <a:ln/>
        </p:spPr>
        <p:txBody>
          <a:bodyPr wrap="square" lIns="0" tIns="0" rIns="0" bIns="0" rtlCol="0" anchor="ctr"/>
          <a:lstStyle/>
          <a:p>
            <a:pPr indent="0" marL="0">
              <a:buNone/>
            </a:pPr>
            <a:r>
              <a:rPr lang="en-US" sz="1450" b="1" dirty="0">
                <a:solidFill>
                  <a:srgbClr val="17263D"/>
                </a:solidFill>
                <a:latin typeface="Cambria" pitchFamily="34" charset="0"/>
                <a:ea typeface="Cambria" pitchFamily="34" charset="-122"/>
                <a:cs typeface="Cambria" pitchFamily="34" charset="-120"/>
              </a:rPr>
              <a:t>Dental</a:t>
            </a:r>
            <a:endParaRPr lang="en-US" sz="1450" dirty="0"/>
          </a:p>
        </p:txBody>
      </p:sp>
      <p:sp>
        <p:nvSpPr>
          <p:cNvPr id="19" name="Text 14"/>
          <p:cNvSpPr/>
          <p:nvPr/>
        </p:nvSpPr>
        <p:spPr>
          <a:xfrm>
            <a:off x="8979408" y="2560320"/>
            <a:ext cx="2340864" cy="502920"/>
          </a:xfrm>
          <a:prstGeom prst="rect">
            <a:avLst/>
          </a:prstGeom>
          <a:noFill/>
          <a:ln/>
        </p:spPr>
        <p:txBody>
          <a:bodyPr wrap="square" lIns="0" tIns="0" rIns="0" bIns="0" rtlCol="0" anchor="ctr"/>
          <a:lstStyle/>
          <a:p>
            <a:pPr indent="0" marL="0">
              <a:lnSpc>
                <a:spcPct val="110000"/>
              </a:lnSpc>
              <a:buNone/>
            </a:pPr>
            <a:r>
              <a:rPr lang="en-US" sz="980" dirty="0">
                <a:solidFill>
                  <a:srgbClr val="55677E"/>
                </a:solidFill>
                <a:latin typeface="Calibri" pitchFamily="34" charset="0"/>
                <a:ea typeface="Calibri" pitchFamily="34" charset="-122"/>
                <a:cs typeface="Calibri" pitchFamily="34" charset="-120"/>
              </a:rPr>
              <a:t>Dedicated section for this specialty</a:t>
            </a:r>
            <a:endParaRPr lang="en-US" sz="980" dirty="0"/>
          </a:p>
        </p:txBody>
      </p:sp>
      <p:sp>
        <p:nvSpPr>
          <p:cNvPr id="20" name="Shape 15"/>
          <p:cNvSpPr/>
          <p:nvPr/>
        </p:nvSpPr>
        <p:spPr>
          <a:xfrm>
            <a:off x="548640" y="3520440"/>
            <a:ext cx="3529584" cy="1417320"/>
          </a:xfrm>
          <a:prstGeom prst="roundRect">
            <a:avLst>
              <a:gd name="adj" fmla="val 5806"/>
            </a:avLst>
          </a:prstGeom>
          <a:solidFill>
            <a:srgbClr val="F6FAFD"/>
          </a:solidFill>
          <a:ln w="12700">
            <a:solidFill>
              <a:srgbClr val="D6E5F2"/>
            </a:solidFill>
            <a:prstDash val="solid"/>
          </a:ln>
        </p:spPr>
      </p:sp>
      <p:sp>
        <p:nvSpPr>
          <p:cNvPr id="21" name="Shape 16"/>
          <p:cNvSpPr/>
          <p:nvPr/>
        </p:nvSpPr>
        <p:spPr>
          <a:xfrm>
            <a:off x="749808" y="3899916"/>
            <a:ext cx="658368" cy="658368"/>
          </a:xfrm>
          <a:prstGeom prst="ellipse">
            <a:avLst/>
          </a:prstGeom>
          <a:solidFill>
            <a:srgbClr val="FFFFFF"/>
          </a:solidFill>
          <a:ln/>
        </p:spPr>
      </p:sp>
      <p:pic>
        <p:nvPicPr>
          <p:cNvPr id="22" name="Image 3" descr="/home/claude/medsev-ppt/icons/child_0B5FA4.png">    </p:cNvPr>
          <p:cNvPicPr>
            <a:picLocks noChangeAspect="1"/>
          </p:cNvPicPr>
          <p:nvPr/>
        </p:nvPicPr>
        <p:blipFill>
          <a:blip r:embed="rId4"/>
          <a:stretch>
            <a:fillRect/>
          </a:stretch>
        </p:blipFill>
        <p:spPr>
          <a:xfrm>
            <a:off x="897941" y="4048049"/>
            <a:ext cx="362102" cy="362102"/>
          </a:xfrm>
          <a:prstGeom prst="rect">
            <a:avLst/>
          </a:prstGeom>
        </p:spPr>
      </p:pic>
      <p:sp>
        <p:nvSpPr>
          <p:cNvPr id="23" name="Text 17"/>
          <p:cNvSpPr/>
          <p:nvPr/>
        </p:nvSpPr>
        <p:spPr>
          <a:xfrm>
            <a:off x="1554480" y="3813048"/>
            <a:ext cx="2386584" cy="320040"/>
          </a:xfrm>
          <a:prstGeom prst="rect">
            <a:avLst/>
          </a:prstGeom>
          <a:noFill/>
          <a:ln/>
        </p:spPr>
        <p:txBody>
          <a:bodyPr wrap="square" lIns="0" tIns="0" rIns="0" bIns="0" rtlCol="0" anchor="ctr"/>
          <a:lstStyle/>
          <a:p>
            <a:pPr indent="0" marL="0">
              <a:buNone/>
            </a:pPr>
            <a:r>
              <a:rPr lang="en-US" sz="1450" b="1" dirty="0">
                <a:solidFill>
                  <a:srgbClr val="17263D"/>
                </a:solidFill>
                <a:latin typeface="Cambria" pitchFamily="34" charset="0"/>
                <a:ea typeface="Cambria" pitchFamily="34" charset="-122"/>
                <a:cs typeface="Cambria" pitchFamily="34" charset="-120"/>
              </a:rPr>
              <a:t>Pediatrics</a:t>
            </a:r>
            <a:endParaRPr lang="en-US" sz="1450" dirty="0"/>
          </a:p>
        </p:txBody>
      </p:sp>
      <p:sp>
        <p:nvSpPr>
          <p:cNvPr id="24" name="Text 18"/>
          <p:cNvSpPr/>
          <p:nvPr/>
        </p:nvSpPr>
        <p:spPr>
          <a:xfrm>
            <a:off x="1554480" y="4160520"/>
            <a:ext cx="2340864" cy="502920"/>
          </a:xfrm>
          <a:prstGeom prst="rect">
            <a:avLst/>
          </a:prstGeom>
          <a:noFill/>
          <a:ln/>
        </p:spPr>
        <p:txBody>
          <a:bodyPr wrap="square" lIns="0" tIns="0" rIns="0" bIns="0" rtlCol="0" anchor="ctr"/>
          <a:lstStyle/>
          <a:p>
            <a:pPr indent="0" marL="0">
              <a:lnSpc>
                <a:spcPct val="110000"/>
              </a:lnSpc>
              <a:buNone/>
            </a:pPr>
            <a:r>
              <a:rPr lang="en-US" sz="980" dirty="0">
                <a:solidFill>
                  <a:srgbClr val="55677E"/>
                </a:solidFill>
                <a:latin typeface="Calibri" pitchFamily="34" charset="0"/>
                <a:ea typeface="Calibri" pitchFamily="34" charset="-122"/>
                <a:cs typeface="Calibri" pitchFamily="34" charset="-120"/>
              </a:rPr>
              <a:t>Dedicated section for this specialty</a:t>
            </a:r>
            <a:endParaRPr lang="en-US" sz="980" dirty="0"/>
          </a:p>
        </p:txBody>
      </p:sp>
      <p:sp>
        <p:nvSpPr>
          <p:cNvPr id="25" name="Shape 19"/>
          <p:cNvSpPr/>
          <p:nvPr/>
        </p:nvSpPr>
        <p:spPr>
          <a:xfrm>
            <a:off x="4261104" y="3520440"/>
            <a:ext cx="3529584" cy="1417320"/>
          </a:xfrm>
          <a:prstGeom prst="roundRect">
            <a:avLst>
              <a:gd name="adj" fmla="val 5806"/>
            </a:avLst>
          </a:prstGeom>
          <a:solidFill>
            <a:srgbClr val="F6FAFD"/>
          </a:solidFill>
          <a:ln w="12700">
            <a:solidFill>
              <a:srgbClr val="D6E5F2"/>
            </a:solidFill>
            <a:prstDash val="solid"/>
          </a:ln>
        </p:spPr>
      </p:sp>
      <p:sp>
        <p:nvSpPr>
          <p:cNvPr id="26" name="Shape 20"/>
          <p:cNvSpPr/>
          <p:nvPr/>
        </p:nvSpPr>
        <p:spPr>
          <a:xfrm>
            <a:off x="4462272" y="3899916"/>
            <a:ext cx="658368" cy="658368"/>
          </a:xfrm>
          <a:prstGeom prst="ellipse">
            <a:avLst/>
          </a:prstGeom>
          <a:solidFill>
            <a:srgbClr val="FFFFFF"/>
          </a:solidFill>
          <a:ln/>
        </p:spPr>
      </p:sp>
      <p:pic>
        <p:nvPicPr>
          <p:cNvPr id="27" name="Image 4" descr="/home/claude/medsev-ppt/icons/lab_0B5FA4.png">    </p:cNvPr>
          <p:cNvPicPr>
            <a:picLocks noChangeAspect="1"/>
          </p:cNvPicPr>
          <p:nvPr/>
        </p:nvPicPr>
        <p:blipFill>
          <a:blip r:embed="rId5"/>
          <a:stretch>
            <a:fillRect/>
          </a:stretch>
        </p:blipFill>
        <p:spPr>
          <a:xfrm>
            <a:off x="4610405" y="4048049"/>
            <a:ext cx="362102" cy="362102"/>
          </a:xfrm>
          <a:prstGeom prst="rect">
            <a:avLst/>
          </a:prstGeom>
        </p:spPr>
      </p:pic>
      <p:sp>
        <p:nvSpPr>
          <p:cNvPr id="28" name="Text 21"/>
          <p:cNvSpPr/>
          <p:nvPr/>
        </p:nvSpPr>
        <p:spPr>
          <a:xfrm>
            <a:off x="5266944" y="3813048"/>
            <a:ext cx="2386584" cy="320040"/>
          </a:xfrm>
          <a:prstGeom prst="rect">
            <a:avLst/>
          </a:prstGeom>
          <a:noFill/>
          <a:ln/>
        </p:spPr>
        <p:txBody>
          <a:bodyPr wrap="square" lIns="0" tIns="0" rIns="0" bIns="0" rtlCol="0" anchor="ctr"/>
          <a:lstStyle/>
          <a:p>
            <a:pPr indent="0" marL="0">
              <a:buNone/>
            </a:pPr>
            <a:r>
              <a:rPr lang="en-US" sz="1450" b="1" dirty="0">
                <a:solidFill>
                  <a:srgbClr val="17263D"/>
                </a:solidFill>
                <a:latin typeface="Cambria" pitchFamily="34" charset="0"/>
                <a:ea typeface="Cambria" pitchFamily="34" charset="-122"/>
                <a:cs typeface="Cambria" pitchFamily="34" charset="-120"/>
              </a:rPr>
              <a:t>Pathology</a:t>
            </a:r>
            <a:endParaRPr lang="en-US" sz="1450" dirty="0"/>
          </a:p>
        </p:txBody>
      </p:sp>
      <p:sp>
        <p:nvSpPr>
          <p:cNvPr id="29" name="Text 22"/>
          <p:cNvSpPr/>
          <p:nvPr/>
        </p:nvSpPr>
        <p:spPr>
          <a:xfrm>
            <a:off x="5266944" y="4160520"/>
            <a:ext cx="2340864" cy="502920"/>
          </a:xfrm>
          <a:prstGeom prst="rect">
            <a:avLst/>
          </a:prstGeom>
          <a:noFill/>
          <a:ln/>
        </p:spPr>
        <p:txBody>
          <a:bodyPr wrap="square" lIns="0" tIns="0" rIns="0" bIns="0" rtlCol="0" anchor="ctr"/>
          <a:lstStyle/>
          <a:p>
            <a:pPr indent="0" marL="0">
              <a:lnSpc>
                <a:spcPct val="110000"/>
              </a:lnSpc>
              <a:buNone/>
            </a:pPr>
            <a:r>
              <a:rPr lang="en-US" sz="980" dirty="0">
                <a:solidFill>
                  <a:srgbClr val="55677E"/>
                </a:solidFill>
                <a:latin typeface="Calibri" pitchFamily="34" charset="0"/>
                <a:ea typeface="Calibri" pitchFamily="34" charset="-122"/>
                <a:cs typeface="Calibri" pitchFamily="34" charset="-120"/>
              </a:rPr>
              <a:t>Dedicated section for this specialty</a:t>
            </a:r>
            <a:endParaRPr lang="en-US" sz="980" dirty="0"/>
          </a:p>
        </p:txBody>
      </p:sp>
      <p:sp>
        <p:nvSpPr>
          <p:cNvPr id="30" name="Shape 23"/>
          <p:cNvSpPr/>
          <p:nvPr/>
        </p:nvSpPr>
        <p:spPr>
          <a:xfrm>
            <a:off x="7973568" y="3520440"/>
            <a:ext cx="3529584" cy="1417320"/>
          </a:xfrm>
          <a:prstGeom prst="roundRect">
            <a:avLst>
              <a:gd name="adj" fmla="val 5806"/>
            </a:avLst>
          </a:prstGeom>
          <a:solidFill>
            <a:srgbClr val="F6FAFD"/>
          </a:solidFill>
          <a:ln w="12700">
            <a:solidFill>
              <a:srgbClr val="D6E5F2"/>
            </a:solidFill>
            <a:prstDash val="solid"/>
          </a:ln>
        </p:spPr>
      </p:sp>
      <p:sp>
        <p:nvSpPr>
          <p:cNvPr id="31" name="Shape 24"/>
          <p:cNvSpPr/>
          <p:nvPr/>
        </p:nvSpPr>
        <p:spPr>
          <a:xfrm>
            <a:off x="8174736" y="3899916"/>
            <a:ext cx="658368" cy="658368"/>
          </a:xfrm>
          <a:prstGeom prst="ellipse">
            <a:avLst/>
          </a:prstGeom>
          <a:solidFill>
            <a:srgbClr val="FFFFFF"/>
          </a:solidFill>
          <a:ln/>
        </p:spPr>
      </p:sp>
      <p:pic>
        <p:nvPicPr>
          <p:cNvPr id="32" name="Image 5" descr="/home/claude/medsev-ppt/icons/ambulance_0B5FA4.png">    </p:cNvPr>
          <p:cNvPicPr>
            <a:picLocks noChangeAspect="1"/>
          </p:cNvPicPr>
          <p:nvPr/>
        </p:nvPicPr>
        <p:blipFill>
          <a:blip r:embed="rId6"/>
          <a:stretch>
            <a:fillRect/>
          </a:stretch>
        </p:blipFill>
        <p:spPr>
          <a:xfrm>
            <a:off x="8322869" y="4048049"/>
            <a:ext cx="362102" cy="362102"/>
          </a:xfrm>
          <a:prstGeom prst="rect">
            <a:avLst/>
          </a:prstGeom>
        </p:spPr>
      </p:pic>
      <p:sp>
        <p:nvSpPr>
          <p:cNvPr id="33" name="Text 25"/>
          <p:cNvSpPr/>
          <p:nvPr/>
        </p:nvSpPr>
        <p:spPr>
          <a:xfrm>
            <a:off x="8979408" y="3813048"/>
            <a:ext cx="2386584" cy="320040"/>
          </a:xfrm>
          <a:prstGeom prst="rect">
            <a:avLst/>
          </a:prstGeom>
          <a:noFill/>
          <a:ln/>
        </p:spPr>
        <p:txBody>
          <a:bodyPr wrap="square" lIns="0" tIns="0" rIns="0" bIns="0" rtlCol="0" anchor="ctr"/>
          <a:lstStyle/>
          <a:p>
            <a:pPr indent="0" marL="0">
              <a:buNone/>
            </a:pPr>
            <a:r>
              <a:rPr lang="en-US" sz="1450" b="1" dirty="0">
                <a:solidFill>
                  <a:srgbClr val="17263D"/>
                </a:solidFill>
                <a:latin typeface="Cambria" pitchFamily="34" charset="0"/>
                <a:ea typeface="Cambria" pitchFamily="34" charset="-122"/>
                <a:cs typeface="Cambria" pitchFamily="34" charset="-120"/>
              </a:rPr>
              <a:t>Emergency</a:t>
            </a:r>
            <a:endParaRPr lang="en-US" sz="1450" dirty="0"/>
          </a:p>
        </p:txBody>
      </p:sp>
      <p:sp>
        <p:nvSpPr>
          <p:cNvPr id="34" name="Text 26"/>
          <p:cNvSpPr/>
          <p:nvPr/>
        </p:nvSpPr>
        <p:spPr>
          <a:xfrm>
            <a:off x="8979408" y="4160520"/>
            <a:ext cx="2340864" cy="502920"/>
          </a:xfrm>
          <a:prstGeom prst="rect">
            <a:avLst/>
          </a:prstGeom>
          <a:noFill/>
          <a:ln/>
        </p:spPr>
        <p:txBody>
          <a:bodyPr wrap="square" lIns="0" tIns="0" rIns="0" bIns="0" rtlCol="0" anchor="ctr"/>
          <a:lstStyle/>
          <a:p>
            <a:pPr indent="0" marL="0">
              <a:lnSpc>
                <a:spcPct val="110000"/>
              </a:lnSpc>
              <a:buNone/>
            </a:pPr>
            <a:r>
              <a:rPr lang="en-US" sz="980" dirty="0">
                <a:solidFill>
                  <a:srgbClr val="55677E"/>
                </a:solidFill>
                <a:latin typeface="Calibri" pitchFamily="34" charset="0"/>
                <a:ea typeface="Calibri" pitchFamily="34" charset="-122"/>
                <a:cs typeface="Calibri" pitchFamily="34" charset="-120"/>
              </a:rPr>
              <a:t>Dedicated section for this specialty</a:t>
            </a:r>
            <a:endParaRPr lang="en-US" sz="980" dirty="0"/>
          </a:p>
        </p:txBody>
      </p:sp>
      <p:sp>
        <p:nvSpPr>
          <p:cNvPr id="35" name="Shape 27"/>
          <p:cNvSpPr/>
          <p:nvPr/>
        </p:nvSpPr>
        <p:spPr>
          <a:xfrm>
            <a:off x="548640" y="5166360"/>
            <a:ext cx="11064240" cy="777240"/>
          </a:xfrm>
          <a:prstGeom prst="roundRect">
            <a:avLst>
              <a:gd name="adj" fmla="val 11765"/>
            </a:avLst>
          </a:prstGeom>
          <a:solidFill>
            <a:srgbClr val="EAF3FB"/>
          </a:solidFill>
          <a:ln/>
        </p:spPr>
      </p:sp>
      <p:sp>
        <p:nvSpPr>
          <p:cNvPr id="36" name="Text 28"/>
          <p:cNvSpPr/>
          <p:nvPr/>
        </p:nvSpPr>
        <p:spPr>
          <a:xfrm>
            <a:off x="822960" y="5166360"/>
            <a:ext cx="10515600" cy="777240"/>
          </a:xfrm>
          <a:prstGeom prst="rect">
            <a:avLst/>
          </a:prstGeom>
          <a:noFill/>
          <a:ln/>
        </p:spPr>
        <p:txBody>
          <a:bodyPr wrap="square" lIns="0" tIns="0" rIns="0" bIns="0" rtlCol="0" anchor="ctr"/>
          <a:lstStyle/>
          <a:p>
            <a:pPr indent="0" marL="0">
              <a:buNone/>
            </a:pPr>
            <a:r>
              <a:rPr lang="en-US" sz="1150" i="1" dirty="0">
                <a:solidFill>
                  <a:srgbClr val="17263D"/>
                </a:solidFill>
                <a:latin typeface="Calibri" pitchFamily="34" charset="0"/>
                <a:ea typeface="Calibri" pitchFamily="34" charset="-122"/>
                <a:cs typeface="Calibri" pitchFamily="34" charset="-120"/>
              </a:rPr>
              <a:t>Each department groups its own doctors, services, and appointment routing — so a visitor navigating by medical need (rather than by doctor name) still lands in the right place.</a:t>
            </a:r>
            <a:endParaRPr lang="en-US" sz="1150" dirty="0"/>
          </a:p>
        </p:txBody>
      </p:sp>
      <p:sp>
        <p:nvSpPr>
          <p:cNvPr id="37" name="Text 29"/>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38" name="Text 30"/>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Departments</a:t>
            </a:r>
            <a:endParaRPr lang="en-US" sz="900" dirty="0"/>
          </a:p>
        </p:txBody>
      </p:sp>
      <p:sp>
        <p:nvSpPr>
          <p:cNvPr id="39" name="Text 31"/>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10 / 23</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PAGE WALKTHROUGH · 08 · CORE FLOW</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Appointment System</a:t>
            </a:r>
            <a:endParaRPr lang="en-US" sz="3000" dirty="0"/>
          </a:p>
        </p:txBody>
      </p:sp>
      <p:sp>
        <p:nvSpPr>
          <p:cNvPr id="4" name="Text 2"/>
          <p:cNvSpPr/>
          <p:nvPr/>
        </p:nvSpPr>
        <p:spPr>
          <a:xfrm>
            <a:off x="548640" y="1371600"/>
            <a:ext cx="10789920" cy="320040"/>
          </a:xfrm>
          <a:prstGeom prst="rect">
            <a:avLst/>
          </a:prstGeom>
          <a:noFill/>
          <a:ln/>
        </p:spPr>
        <p:txBody>
          <a:bodyPr wrap="square" lIns="0" tIns="0" rIns="0" bIns="0" rtlCol="0" anchor="ctr"/>
          <a:lstStyle/>
          <a:p>
            <a:pPr indent="0" marL="0">
              <a:buNone/>
            </a:pPr>
            <a:r>
              <a:rPr lang="en-US" sz="1250" dirty="0">
                <a:solidFill>
                  <a:srgbClr val="55677E"/>
                </a:solidFill>
                <a:latin typeface="Calibri" pitchFamily="34" charset="0"/>
                <a:ea typeface="Calibri" pitchFamily="34" charset="-122"/>
                <a:cs typeface="Calibri" pitchFamily="34" charset="-120"/>
              </a:rPr>
              <a:t>The single most important flow on the platform — where a visitor becomes a patient.</a:t>
            </a:r>
            <a:endParaRPr lang="en-US" sz="1250" dirty="0"/>
          </a:p>
        </p:txBody>
      </p:sp>
      <p:sp>
        <p:nvSpPr>
          <p:cNvPr id="5" name="Shape 3"/>
          <p:cNvSpPr/>
          <p:nvPr/>
        </p:nvSpPr>
        <p:spPr>
          <a:xfrm>
            <a:off x="548640" y="1828800"/>
            <a:ext cx="5486400" cy="4434840"/>
          </a:xfrm>
          <a:prstGeom prst="roundRect">
            <a:avLst>
              <a:gd name="adj" fmla="val 1443"/>
            </a:avLst>
          </a:prstGeom>
          <a:solidFill>
            <a:srgbClr val="FFFFFF"/>
          </a:solidFill>
          <a:ln w="12700">
            <a:solidFill>
              <a:srgbClr val="D6E5F2"/>
            </a:solidFill>
            <a:prstDash val="solid"/>
          </a:ln>
          <a:effectLst>
            <a:outerShdw sx="100000" sy="100000" kx="0" ky="0" algn="bl" rotWithShape="0" blurRad="152400" dist="50800" dir="5400000">
              <a:srgbClr val="0A3B63">
                <a:alpha val="22000"/>
              </a:srgbClr>
            </a:outerShdw>
          </a:effectLst>
        </p:spPr>
      </p:sp>
      <p:sp>
        <p:nvSpPr>
          <p:cNvPr id="6" name="Shape 4"/>
          <p:cNvSpPr/>
          <p:nvPr/>
        </p:nvSpPr>
        <p:spPr>
          <a:xfrm>
            <a:off x="548640" y="1828800"/>
            <a:ext cx="5486400" cy="310896"/>
          </a:xfrm>
          <a:prstGeom prst="rect">
            <a:avLst/>
          </a:prstGeom>
          <a:solidFill>
            <a:srgbClr val="F6FAFD"/>
          </a:solidFill>
          <a:ln/>
        </p:spPr>
      </p:sp>
      <p:sp>
        <p:nvSpPr>
          <p:cNvPr id="7" name="Shape 5"/>
          <p:cNvSpPr/>
          <p:nvPr/>
        </p:nvSpPr>
        <p:spPr>
          <a:xfrm>
            <a:off x="676656" y="1938528"/>
            <a:ext cx="100584" cy="100584"/>
          </a:xfrm>
          <a:prstGeom prst="ellipse">
            <a:avLst/>
          </a:prstGeom>
          <a:solidFill>
            <a:srgbClr val="E27D60"/>
          </a:solidFill>
          <a:ln/>
        </p:spPr>
      </p:sp>
      <p:sp>
        <p:nvSpPr>
          <p:cNvPr id="8" name="Shape 6"/>
          <p:cNvSpPr/>
          <p:nvPr/>
        </p:nvSpPr>
        <p:spPr>
          <a:xfrm>
            <a:off x="859536" y="1938528"/>
            <a:ext cx="100584" cy="100584"/>
          </a:xfrm>
          <a:prstGeom prst="ellipse">
            <a:avLst/>
          </a:prstGeom>
          <a:solidFill>
            <a:srgbClr val="E8C547"/>
          </a:solidFill>
          <a:ln/>
        </p:spPr>
      </p:sp>
      <p:sp>
        <p:nvSpPr>
          <p:cNvPr id="9" name="Shape 7"/>
          <p:cNvSpPr/>
          <p:nvPr/>
        </p:nvSpPr>
        <p:spPr>
          <a:xfrm>
            <a:off x="1042416" y="1938528"/>
            <a:ext cx="100584" cy="100584"/>
          </a:xfrm>
          <a:prstGeom prst="ellipse">
            <a:avLst/>
          </a:prstGeom>
          <a:solidFill>
            <a:srgbClr val="6FCF97"/>
          </a:solidFill>
          <a:ln/>
        </p:spPr>
      </p:sp>
      <p:sp>
        <p:nvSpPr>
          <p:cNvPr id="10" name="Shape 8"/>
          <p:cNvSpPr/>
          <p:nvPr/>
        </p:nvSpPr>
        <p:spPr>
          <a:xfrm>
            <a:off x="1325880" y="1901952"/>
            <a:ext cx="4480560" cy="164592"/>
          </a:xfrm>
          <a:prstGeom prst="roundRect">
            <a:avLst>
              <a:gd name="adj" fmla="val 50000"/>
            </a:avLst>
          </a:prstGeom>
          <a:solidFill>
            <a:srgbClr val="FFFFFF"/>
          </a:solidFill>
          <a:ln w="6350">
            <a:solidFill>
              <a:srgbClr val="D6E5F2"/>
            </a:solidFill>
            <a:prstDash val="solid"/>
          </a:ln>
        </p:spPr>
      </p:sp>
      <p:sp>
        <p:nvSpPr>
          <p:cNvPr id="11" name="Text 9"/>
          <p:cNvSpPr/>
          <p:nvPr/>
        </p:nvSpPr>
        <p:spPr>
          <a:xfrm>
            <a:off x="1417320" y="1897380"/>
            <a:ext cx="4389120" cy="173736"/>
          </a:xfrm>
          <a:prstGeom prst="rect">
            <a:avLst/>
          </a:prstGeom>
          <a:noFill/>
          <a:ln/>
        </p:spPr>
        <p:txBody>
          <a:bodyPr wrap="square" lIns="0" tIns="0" rIns="0" bIns="0" rtlCol="0" anchor="ctr"/>
          <a:lstStyle/>
          <a:p>
            <a:pPr indent="0" marL="0">
              <a:buNone/>
            </a:pPr>
            <a:r>
              <a:rPr lang="en-US" sz="800" dirty="0">
                <a:solidFill>
                  <a:srgbClr val="55677E"/>
                </a:solidFill>
                <a:latin typeface="Calibri" pitchFamily="34" charset="0"/>
                <a:ea typeface="Calibri" pitchFamily="34" charset="-122"/>
                <a:cs typeface="Calibri" pitchFamily="34" charset="-120"/>
              </a:rPr>
              <a:t>medsev/default/appointment.html</a:t>
            </a:r>
            <a:endParaRPr lang="en-US" sz="800" dirty="0"/>
          </a:p>
        </p:txBody>
      </p:sp>
      <p:sp>
        <p:nvSpPr>
          <p:cNvPr id="12" name="Text 10"/>
          <p:cNvSpPr/>
          <p:nvPr/>
        </p:nvSpPr>
        <p:spPr>
          <a:xfrm>
            <a:off x="676656" y="2249424"/>
            <a:ext cx="5230368" cy="274320"/>
          </a:xfrm>
          <a:prstGeom prst="rect">
            <a:avLst/>
          </a:prstGeom>
          <a:noFill/>
          <a:ln/>
        </p:spPr>
        <p:txBody>
          <a:bodyPr wrap="square" lIns="0" tIns="0" rIns="0" bIns="0" rtlCol="0" anchor="ctr"/>
          <a:lstStyle/>
          <a:p>
            <a:pPr indent="0" marL="0">
              <a:buNone/>
            </a:pPr>
            <a:r>
              <a:rPr lang="en-US" sz="1350" b="1" dirty="0">
                <a:solidFill>
                  <a:srgbClr val="17263D"/>
                </a:solidFill>
                <a:latin typeface="Cambria" pitchFamily="34" charset="0"/>
                <a:ea typeface="Cambria" pitchFamily="34" charset="-122"/>
                <a:cs typeface="Cambria" pitchFamily="34" charset="-120"/>
              </a:rPr>
              <a:t>Book your appointment</a:t>
            </a:r>
            <a:endParaRPr lang="en-US" sz="1350" dirty="0"/>
          </a:p>
        </p:txBody>
      </p:sp>
      <p:sp>
        <p:nvSpPr>
          <p:cNvPr id="13" name="Text 11"/>
          <p:cNvSpPr/>
          <p:nvPr/>
        </p:nvSpPr>
        <p:spPr>
          <a:xfrm>
            <a:off x="676656" y="2542032"/>
            <a:ext cx="5230368" cy="219456"/>
          </a:xfrm>
          <a:prstGeom prst="rect">
            <a:avLst/>
          </a:prstGeom>
          <a:noFill/>
          <a:ln/>
        </p:spPr>
        <p:txBody>
          <a:bodyPr wrap="square" lIns="0" tIns="0" rIns="0" bIns="0" rtlCol="0" anchor="ctr"/>
          <a:lstStyle/>
          <a:p>
            <a:pPr indent="0" marL="0">
              <a:buNone/>
            </a:pPr>
            <a:r>
              <a:rPr lang="en-US" sz="950" dirty="0">
                <a:solidFill>
                  <a:srgbClr val="55677E"/>
                </a:solidFill>
                <a:latin typeface="Calibri" pitchFamily="34" charset="0"/>
                <a:ea typeface="Calibri" pitchFamily="34" charset="-122"/>
                <a:cs typeface="Calibri" pitchFamily="34" charset="-120"/>
              </a:rPr>
              <a:t>We will confirm within 2 hours</a:t>
            </a:r>
            <a:endParaRPr lang="en-US" sz="950" dirty="0"/>
          </a:p>
        </p:txBody>
      </p:sp>
      <p:sp>
        <p:nvSpPr>
          <p:cNvPr id="14" name="Text 12"/>
          <p:cNvSpPr/>
          <p:nvPr/>
        </p:nvSpPr>
        <p:spPr>
          <a:xfrm>
            <a:off x="676656" y="2907792"/>
            <a:ext cx="2523744" cy="182880"/>
          </a:xfrm>
          <a:prstGeom prst="rect">
            <a:avLst/>
          </a:prstGeom>
          <a:noFill/>
          <a:ln/>
        </p:spPr>
        <p:txBody>
          <a:bodyPr wrap="square" lIns="0" tIns="0" rIns="0" bIns="0" rtlCol="0" anchor="ctr"/>
          <a:lstStyle/>
          <a:p>
            <a:pPr indent="0" marL="0">
              <a:buNone/>
            </a:pPr>
            <a:r>
              <a:rPr lang="en-US" sz="850" dirty="0">
                <a:solidFill>
                  <a:srgbClr val="55677E"/>
                </a:solidFill>
                <a:latin typeface="Calibri" pitchFamily="34" charset="0"/>
                <a:ea typeface="Calibri" pitchFamily="34" charset="-122"/>
                <a:cs typeface="Calibri" pitchFamily="34" charset="-120"/>
              </a:rPr>
              <a:t>Name</a:t>
            </a:r>
            <a:endParaRPr lang="en-US" sz="850" dirty="0"/>
          </a:p>
        </p:txBody>
      </p:sp>
      <p:sp>
        <p:nvSpPr>
          <p:cNvPr id="15" name="Shape 13"/>
          <p:cNvSpPr/>
          <p:nvPr/>
        </p:nvSpPr>
        <p:spPr>
          <a:xfrm>
            <a:off x="676656" y="3090672"/>
            <a:ext cx="2432304" cy="274320"/>
          </a:xfrm>
          <a:prstGeom prst="roundRect">
            <a:avLst>
              <a:gd name="adj" fmla="val 13333"/>
            </a:avLst>
          </a:prstGeom>
          <a:solidFill>
            <a:srgbClr val="F6FAFD"/>
          </a:solidFill>
          <a:ln w="9525">
            <a:solidFill>
              <a:srgbClr val="D6E5F2"/>
            </a:solidFill>
            <a:prstDash val="solid"/>
          </a:ln>
        </p:spPr>
      </p:sp>
      <p:sp>
        <p:nvSpPr>
          <p:cNvPr id="16" name="Text 14"/>
          <p:cNvSpPr/>
          <p:nvPr/>
        </p:nvSpPr>
        <p:spPr>
          <a:xfrm>
            <a:off x="3383280" y="2907792"/>
            <a:ext cx="2523744" cy="182880"/>
          </a:xfrm>
          <a:prstGeom prst="rect">
            <a:avLst/>
          </a:prstGeom>
          <a:noFill/>
          <a:ln/>
        </p:spPr>
        <p:txBody>
          <a:bodyPr wrap="square" lIns="0" tIns="0" rIns="0" bIns="0" rtlCol="0" anchor="ctr"/>
          <a:lstStyle/>
          <a:p>
            <a:pPr indent="0" marL="0">
              <a:buNone/>
            </a:pPr>
            <a:r>
              <a:rPr lang="en-US" sz="850" dirty="0">
                <a:solidFill>
                  <a:srgbClr val="55677E"/>
                </a:solidFill>
                <a:latin typeface="Calibri" pitchFamily="34" charset="0"/>
                <a:ea typeface="Calibri" pitchFamily="34" charset="-122"/>
                <a:cs typeface="Calibri" pitchFamily="34" charset="-120"/>
              </a:rPr>
              <a:t>Email</a:t>
            </a:r>
            <a:endParaRPr lang="en-US" sz="850" dirty="0"/>
          </a:p>
        </p:txBody>
      </p:sp>
      <p:sp>
        <p:nvSpPr>
          <p:cNvPr id="17" name="Shape 15"/>
          <p:cNvSpPr/>
          <p:nvPr/>
        </p:nvSpPr>
        <p:spPr>
          <a:xfrm>
            <a:off x="3383280" y="3090672"/>
            <a:ext cx="2432304" cy="274320"/>
          </a:xfrm>
          <a:prstGeom prst="roundRect">
            <a:avLst>
              <a:gd name="adj" fmla="val 13333"/>
            </a:avLst>
          </a:prstGeom>
          <a:solidFill>
            <a:srgbClr val="F6FAFD"/>
          </a:solidFill>
          <a:ln w="9525">
            <a:solidFill>
              <a:srgbClr val="D6E5F2"/>
            </a:solidFill>
            <a:prstDash val="solid"/>
          </a:ln>
        </p:spPr>
      </p:sp>
      <p:sp>
        <p:nvSpPr>
          <p:cNvPr id="18" name="Text 16"/>
          <p:cNvSpPr/>
          <p:nvPr/>
        </p:nvSpPr>
        <p:spPr>
          <a:xfrm>
            <a:off x="676656" y="3474720"/>
            <a:ext cx="2523744" cy="182880"/>
          </a:xfrm>
          <a:prstGeom prst="rect">
            <a:avLst/>
          </a:prstGeom>
          <a:noFill/>
          <a:ln/>
        </p:spPr>
        <p:txBody>
          <a:bodyPr wrap="square" lIns="0" tIns="0" rIns="0" bIns="0" rtlCol="0" anchor="ctr"/>
          <a:lstStyle/>
          <a:p>
            <a:pPr indent="0" marL="0">
              <a:buNone/>
            </a:pPr>
            <a:r>
              <a:rPr lang="en-US" sz="850" dirty="0">
                <a:solidFill>
                  <a:srgbClr val="55677E"/>
                </a:solidFill>
                <a:latin typeface="Calibri" pitchFamily="34" charset="0"/>
                <a:ea typeface="Calibri" pitchFamily="34" charset="-122"/>
                <a:cs typeface="Calibri" pitchFamily="34" charset="-120"/>
              </a:rPr>
              <a:t>Phone</a:t>
            </a:r>
            <a:endParaRPr lang="en-US" sz="850" dirty="0"/>
          </a:p>
        </p:txBody>
      </p:sp>
      <p:sp>
        <p:nvSpPr>
          <p:cNvPr id="19" name="Shape 17"/>
          <p:cNvSpPr/>
          <p:nvPr/>
        </p:nvSpPr>
        <p:spPr>
          <a:xfrm>
            <a:off x="676656" y="3657600"/>
            <a:ext cx="2432304" cy="274320"/>
          </a:xfrm>
          <a:prstGeom prst="roundRect">
            <a:avLst>
              <a:gd name="adj" fmla="val 13333"/>
            </a:avLst>
          </a:prstGeom>
          <a:solidFill>
            <a:srgbClr val="F6FAFD"/>
          </a:solidFill>
          <a:ln w="9525">
            <a:solidFill>
              <a:srgbClr val="D6E5F2"/>
            </a:solidFill>
            <a:prstDash val="solid"/>
          </a:ln>
        </p:spPr>
      </p:sp>
      <p:sp>
        <p:nvSpPr>
          <p:cNvPr id="20" name="Text 18"/>
          <p:cNvSpPr/>
          <p:nvPr/>
        </p:nvSpPr>
        <p:spPr>
          <a:xfrm>
            <a:off x="3383280" y="3474720"/>
            <a:ext cx="2523744" cy="182880"/>
          </a:xfrm>
          <a:prstGeom prst="rect">
            <a:avLst/>
          </a:prstGeom>
          <a:noFill/>
          <a:ln/>
        </p:spPr>
        <p:txBody>
          <a:bodyPr wrap="square" lIns="0" tIns="0" rIns="0" bIns="0" rtlCol="0" anchor="ctr"/>
          <a:lstStyle/>
          <a:p>
            <a:pPr indent="0" marL="0">
              <a:buNone/>
            </a:pPr>
            <a:r>
              <a:rPr lang="en-US" sz="850" dirty="0">
                <a:solidFill>
                  <a:srgbClr val="55677E"/>
                </a:solidFill>
                <a:latin typeface="Calibri" pitchFamily="34" charset="0"/>
                <a:ea typeface="Calibri" pitchFamily="34" charset="-122"/>
                <a:cs typeface="Calibri" pitchFamily="34" charset="-120"/>
              </a:rPr>
              <a:t>Services</a:t>
            </a:r>
            <a:endParaRPr lang="en-US" sz="850" dirty="0"/>
          </a:p>
        </p:txBody>
      </p:sp>
      <p:sp>
        <p:nvSpPr>
          <p:cNvPr id="21" name="Shape 19"/>
          <p:cNvSpPr/>
          <p:nvPr/>
        </p:nvSpPr>
        <p:spPr>
          <a:xfrm>
            <a:off x="3383280" y="3657600"/>
            <a:ext cx="2432304" cy="274320"/>
          </a:xfrm>
          <a:prstGeom prst="roundRect">
            <a:avLst>
              <a:gd name="adj" fmla="val 13333"/>
            </a:avLst>
          </a:prstGeom>
          <a:solidFill>
            <a:srgbClr val="F6FAFD"/>
          </a:solidFill>
          <a:ln w="9525">
            <a:solidFill>
              <a:srgbClr val="D6E5F2"/>
            </a:solidFill>
            <a:prstDash val="solid"/>
          </a:ln>
        </p:spPr>
      </p:sp>
      <p:sp>
        <p:nvSpPr>
          <p:cNvPr id="22" name="Text 20"/>
          <p:cNvSpPr/>
          <p:nvPr/>
        </p:nvSpPr>
        <p:spPr>
          <a:xfrm>
            <a:off x="676656" y="4041648"/>
            <a:ext cx="2523744" cy="182880"/>
          </a:xfrm>
          <a:prstGeom prst="rect">
            <a:avLst/>
          </a:prstGeom>
          <a:noFill/>
          <a:ln/>
        </p:spPr>
        <p:txBody>
          <a:bodyPr wrap="square" lIns="0" tIns="0" rIns="0" bIns="0" rtlCol="0" anchor="ctr"/>
          <a:lstStyle/>
          <a:p>
            <a:pPr indent="0" marL="0">
              <a:buNone/>
            </a:pPr>
            <a:r>
              <a:rPr lang="en-US" sz="850" dirty="0">
                <a:solidFill>
                  <a:srgbClr val="55677E"/>
                </a:solidFill>
                <a:latin typeface="Calibri" pitchFamily="34" charset="0"/>
                <a:ea typeface="Calibri" pitchFamily="34" charset="-122"/>
                <a:cs typeface="Calibri" pitchFamily="34" charset="-120"/>
              </a:rPr>
              <a:t>Doctor</a:t>
            </a:r>
            <a:endParaRPr lang="en-US" sz="850" dirty="0"/>
          </a:p>
        </p:txBody>
      </p:sp>
      <p:sp>
        <p:nvSpPr>
          <p:cNvPr id="23" name="Shape 21"/>
          <p:cNvSpPr/>
          <p:nvPr/>
        </p:nvSpPr>
        <p:spPr>
          <a:xfrm>
            <a:off x="676656" y="4224528"/>
            <a:ext cx="2432304" cy="274320"/>
          </a:xfrm>
          <a:prstGeom prst="roundRect">
            <a:avLst>
              <a:gd name="adj" fmla="val 13333"/>
            </a:avLst>
          </a:prstGeom>
          <a:solidFill>
            <a:srgbClr val="F6FAFD"/>
          </a:solidFill>
          <a:ln w="9525">
            <a:solidFill>
              <a:srgbClr val="D6E5F2"/>
            </a:solidFill>
            <a:prstDash val="solid"/>
          </a:ln>
        </p:spPr>
      </p:sp>
      <p:sp>
        <p:nvSpPr>
          <p:cNvPr id="24" name="Text 22"/>
          <p:cNvSpPr/>
          <p:nvPr/>
        </p:nvSpPr>
        <p:spPr>
          <a:xfrm>
            <a:off x="3383280" y="4041648"/>
            <a:ext cx="2523744" cy="182880"/>
          </a:xfrm>
          <a:prstGeom prst="rect">
            <a:avLst/>
          </a:prstGeom>
          <a:noFill/>
          <a:ln/>
        </p:spPr>
        <p:txBody>
          <a:bodyPr wrap="square" lIns="0" tIns="0" rIns="0" bIns="0" rtlCol="0" anchor="ctr"/>
          <a:lstStyle/>
          <a:p>
            <a:pPr indent="0" marL="0">
              <a:buNone/>
            </a:pPr>
            <a:r>
              <a:rPr lang="en-US" sz="850" dirty="0">
                <a:solidFill>
                  <a:srgbClr val="55677E"/>
                </a:solidFill>
                <a:latin typeface="Calibri" pitchFamily="34" charset="0"/>
                <a:ea typeface="Calibri" pitchFamily="34" charset="-122"/>
                <a:cs typeface="Calibri" pitchFamily="34" charset="-120"/>
              </a:rPr>
              <a:t>Age</a:t>
            </a:r>
            <a:endParaRPr lang="en-US" sz="850" dirty="0"/>
          </a:p>
        </p:txBody>
      </p:sp>
      <p:sp>
        <p:nvSpPr>
          <p:cNvPr id="25" name="Shape 23"/>
          <p:cNvSpPr/>
          <p:nvPr/>
        </p:nvSpPr>
        <p:spPr>
          <a:xfrm>
            <a:off x="3383280" y="4224528"/>
            <a:ext cx="2432304" cy="274320"/>
          </a:xfrm>
          <a:prstGeom prst="roundRect">
            <a:avLst>
              <a:gd name="adj" fmla="val 13333"/>
            </a:avLst>
          </a:prstGeom>
          <a:solidFill>
            <a:srgbClr val="F6FAFD"/>
          </a:solidFill>
          <a:ln w="9525">
            <a:solidFill>
              <a:srgbClr val="D6E5F2"/>
            </a:solidFill>
            <a:prstDash val="solid"/>
          </a:ln>
        </p:spPr>
      </p:sp>
      <p:sp>
        <p:nvSpPr>
          <p:cNvPr id="26" name="Shape 24"/>
          <p:cNvSpPr/>
          <p:nvPr/>
        </p:nvSpPr>
        <p:spPr>
          <a:xfrm>
            <a:off x="676656" y="4855464"/>
            <a:ext cx="1463040" cy="329184"/>
          </a:xfrm>
          <a:prstGeom prst="roundRect">
            <a:avLst>
              <a:gd name="adj" fmla="val 50000"/>
            </a:avLst>
          </a:prstGeom>
          <a:solidFill>
            <a:srgbClr val="0B5FA4"/>
          </a:solidFill>
          <a:ln/>
        </p:spPr>
      </p:sp>
      <p:sp>
        <p:nvSpPr>
          <p:cNvPr id="27" name="Text 25"/>
          <p:cNvSpPr/>
          <p:nvPr/>
        </p:nvSpPr>
        <p:spPr>
          <a:xfrm>
            <a:off x="676656" y="4855464"/>
            <a:ext cx="146304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Submit</a:t>
            </a:r>
            <a:endParaRPr lang="en-US" sz="900" dirty="0"/>
          </a:p>
        </p:txBody>
      </p:sp>
      <p:sp>
        <p:nvSpPr>
          <p:cNvPr id="28" name="Shape 26"/>
          <p:cNvSpPr/>
          <p:nvPr/>
        </p:nvSpPr>
        <p:spPr>
          <a:xfrm>
            <a:off x="6400800" y="1828800"/>
            <a:ext cx="502920" cy="502920"/>
          </a:xfrm>
          <a:prstGeom prst="ellipse">
            <a:avLst/>
          </a:prstGeom>
          <a:solidFill>
            <a:srgbClr val="EAF3FB"/>
          </a:solidFill>
          <a:ln/>
        </p:spPr>
      </p:sp>
      <p:pic>
        <p:nvPicPr>
          <p:cNvPr id="29" name="Image 0" descr="/home/claude/medsev-ppt/icons/sitemap_0B5FA4.png">    </p:cNvPr>
          <p:cNvPicPr>
            <a:picLocks noChangeAspect="1"/>
          </p:cNvPicPr>
          <p:nvPr/>
        </p:nvPicPr>
        <p:blipFill>
          <a:blip r:embed="rId1"/>
          <a:stretch>
            <a:fillRect/>
          </a:stretch>
        </p:blipFill>
        <p:spPr>
          <a:xfrm>
            <a:off x="6526530" y="1954530"/>
            <a:ext cx="251460" cy="251460"/>
          </a:xfrm>
          <a:prstGeom prst="rect">
            <a:avLst/>
          </a:prstGeom>
        </p:spPr>
      </p:pic>
      <p:sp>
        <p:nvSpPr>
          <p:cNvPr id="30" name="Shape 27"/>
          <p:cNvSpPr/>
          <p:nvPr/>
        </p:nvSpPr>
        <p:spPr>
          <a:xfrm>
            <a:off x="6652260" y="2331720"/>
            <a:ext cx="0" cy="292608"/>
          </a:xfrm>
          <a:prstGeom prst="line">
            <a:avLst/>
          </a:prstGeom>
          <a:noFill/>
          <a:ln w="19050">
            <a:solidFill>
              <a:srgbClr val="D6E5F2"/>
            </a:solidFill>
            <a:prstDash val="dash"/>
          </a:ln>
        </p:spPr>
      </p:sp>
      <p:sp>
        <p:nvSpPr>
          <p:cNvPr id="31" name="Text 28"/>
          <p:cNvSpPr/>
          <p:nvPr/>
        </p:nvSpPr>
        <p:spPr>
          <a:xfrm>
            <a:off x="7086600" y="1810512"/>
            <a:ext cx="5029200" cy="274320"/>
          </a:xfrm>
          <a:prstGeom prst="rect">
            <a:avLst/>
          </a:prstGeom>
          <a:noFill/>
          <a:ln/>
        </p:spPr>
        <p:txBody>
          <a:bodyPr wrap="square" lIns="0" tIns="0" rIns="0" bIns="0" rtlCol="0" anchor="ctr"/>
          <a:lstStyle/>
          <a:p>
            <a:pPr indent="0" marL="0">
              <a:buNone/>
            </a:pPr>
            <a:r>
              <a:rPr lang="en-US" sz="1350" b="1" dirty="0">
                <a:solidFill>
                  <a:srgbClr val="17263D"/>
                </a:solidFill>
                <a:latin typeface="Cambria" pitchFamily="34" charset="0"/>
                <a:ea typeface="Cambria" pitchFamily="34" charset="-122"/>
                <a:cs typeface="Cambria" pitchFamily="34" charset="-120"/>
              </a:rPr>
              <a:t>Choose department</a:t>
            </a:r>
            <a:endParaRPr lang="en-US" sz="1350" dirty="0"/>
          </a:p>
        </p:txBody>
      </p:sp>
      <p:sp>
        <p:nvSpPr>
          <p:cNvPr id="32" name="Text 29"/>
          <p:cNvSpPr/>
          <p:nvPr/>
        </p:nvSpPr>
        <p:spPr>
          <a:xfrm>
            <a:off x="7086600" y="2084832"/>
            <a:ext cx="5029200" cy="274320"/>
          </a:xfrm>
          <a:prstGeom prst="rect">
            <a:avLst/>
          </a:prstGeom>
          <a:noFill/>
          <a:ln/>
        </p:spPr>
        <p:txBody>
          <a:bodyPr wrap="square" lIns="0" tIns="0" rIns="0" bIns="0" rtlCol="0" anchor="ctr"/>
          <a:lstStyle/>
          <a:p>
            <a:pPr indent="0" marL="0">
              <a:buNone/>
            </a:pPr>
            <a:r>
              <a:rPr lang="en-US" sz="1050" dirty="0">
                <a:solidFill>
                  <a:srgbClr val="55677E"/>
                </a:solidFill>
                <a:latin typeface="Calibri" pitchFamily="34" charset="0"/>
                <a:ea typeface="Calibri" pitchFamily="34" charset="-122"/>
                <a:cs typeface="Calibri" pitchFamily="34" charset="-120"/>
              </a:rPr>
              <a:t>Patient selects the relevant medical department.</a:t>
            </a:r>
            <a:endParaRPr lang="en-US" sz="1050" dirty="0"/>
          </a:p>
        </p:txBody>
      </p:sp>
      <p:sp>
        <p:nvSpPr>
          <p:cNvPr id="33" name="Shape 30"/>
          <p:cNvSpPr/>
          <p:nvPr/>
        </p:nvSpPr>
        <p:spPr>
          <a:xfrm>
            <a:off x="6400800" y="2651760"/>
            <a:ext cx="502920" cy="502920"/>
          </a:xfrm>
          <a:prstGeom prst="ellipse">
            <a:avLst/>
          </a:prstGeom>
          <a:solidFill>
            <a:srgbClr val="EAF3FB"/>
          </a:solidFill>
          <a:ln/>
        </p:spPr>
      </p:sp>
      <p:pic>
        <p:nvPicPr>
          <p:cNvPr id="34" name="Image 1" descr="/home/claude/medsev-ppt/icons/doctor_0B5FA4.png">    </p:cNvPr>
          <p:cNvPicPr>
            <a:picLocks noChangeAspect="1"/>
          </p:cNvPicPr>
          <p:nvPr/>
        </p:nvPicPr>
        <p:blipFill>
          <a:blip r:embed="rId2"/>
          <a:stretch>
            <a:fillRect/>
          </a:stretch>
        </p:blipFill>
        <p:spPr>
          <a:xfrm>
            <a:off x="6526530" y="2777490"/>
            <a:ext cx="251460" cy="251460"/>
          </a:xfrm>
          <a:prstGeom prst="rect">
            <a:avLst/>
          </a:prstGeom>
        </p:spPr>
      </p:pic>
      <p:sp>
        <p:nvSpPr>
          <p:cNvPr id="35" name="Shape 31"/>
          <p:cNvSpPr/>
          <p:nvPr/>
        </p:nvSpPr>
        <p:spPr>
          <a:xfrm>
            <a:off x="6652260" y="3154680"/>
            <a:ext cx="0" cy="292608"/>
          </a:xfrm>
          <a:prstGeom prst="line">
            <a:avLst/>
          </a:prstGeom>
          <a:noFill/>
          <a:ln w="19050">
            <a:solidFill>
              <a:srgbClr val="D6E5F2"/>
            </a:solidFill>
            <a:prstDash val="dash"/>
          </a:ln>
        </p:spPr>
      </p:sp>
      <p:sp>
        <p:nvSpPr>
          <p:cNvPr id="36" name="Text 32"/>
          <p:cNvSpPr/>
          <p:nvPr/>
        </p:nvSpPr>
        <p:spPr>
          <a:xfrm>
            <a:off x="7086600" y="2633472"/>
            <a:ext cx="5029200" cy="274320"/>
          </a:xfrm>
          <a:prstGeom prst="rect">
            <a:avLst/>
          </a:prstGeom>
          <a:noFill/>
          <a:ln/>
        </p:spPr>
        <p:txBody>
          <a:bodyPr wrap="square" lIns="0" tIns="0" rIns="0" bIns="0" rtlCol="0" anchor="ctr"/>
          <a:lstStyle/>
          <a:p>
            <a:pPr indent="0" marL="0">
              <a:buNone/>
            </a:pPr>
            <a:r>
              <a:rPr lang="en-US" sz="1350" b="1" dirty="0">
                <a:solidFill>
                  <a:srgbClr val="17263D"/>
                </a:solidFill>
                <a:latin typeface="Cambria" pitchFamily="34" charset="0"/>
                <a:ea typeface="Cambria" pitchFamily="34" charset="-122"/>
                <a:cs typeface="Cambria" pitchFamily="34" charset="-120"/>
              </a:rPr>
              <a:t>Select a doctor</a:t>
            </a:r>
            <a:endParaRPr lang="en-US" sz="1350" dirty="0"/>
          </a:p>
        </p:txBody>
      </p:sp>
      <p:sp>
        <p:nvSpPr>
          <p:cNvPr id="37" name="Text 33"/>
          <p:cNvSpPr/>
          <p:nvPr/>
        </p:nvSpPr>
        <p:spPr>
          <a:xfrm>
            <a:off x="7086600" y="2907792"/>
            <a:ext cx="5029200" cy="274320"/>
          </a:xfrm>
          <a:prstGeom prst="rect">
            <a:avLst/>
          </a:prstGeom>
          <a:noFill/>
          <a:ln/>
        </p:spPr>
        <p:txBody>
          <a:bodyPr wrap="square" lIns="0" tIns="0" rIns="0" bIns="0" rtlCol="0" anchor="ctr"/>
          <a:lstStyle/>
          <a:p>
            <a:pPr indent="0" marL="0">
              <a:buNone/>
            </a:pPr>
            <a:r>
              <a:rPr lang="en-US" sz="1050" dirty="0">
                <a:solidFill>
                  <a:srgbClr val="55677E"/>
                </a:solidFill>
                <a:latin typeface="Calibri" pitchFamily="34" charset="0"/>
                <a:ea typeface="Calibri" pitchFamily="34" charset="-122"/>
                <a:cs typeface="Calibri" pitchFamily="34" charset="-120"/>
              </a:rPr>
              <a:t>Directory filters to available specialists.</a:t>
            </a:r>
            <a:endParaRPr lang="en-US" sz="1050" dirty="0"/>
          </a:p>
        </p:txBody>
      </p:sp>
      <p:sp>
        <p:nvSpPr>
          <p:cNvPr id="38" name="Shape 34"/>
          <p:cNvSpPr/>
          <p:nvPr/>
        </p:nvSpPr>
        <p:spPr>
          <a:xfrm>
            <a:off x="6400800" y="3474720"/>
            <a:ext cx="502920" cy="502920"/>
          </a:xfrm>
          <a:prstGeom prst="ellipse">
            <a:avLst/>
          </a:prstGeom>
          <a:solidFill>
            <a:srgbClr val="EAF3FB"/>
          </a:solidFill>
          <a:ln/>
        </p:spPr>
      </p:sp>
      <p:pic>
        <p:nvPicPr>
          <p:cNvPr id="39" name="Image 2" descr="/home/claude/medsev-ppt/icons/calendar_0B5FA4.png">    </p:cNvPr>
          <p:cNvPicPr>
            <a:picLocks noChangeAspect="1"/>
          </p:cNvPicPr>
          <p:nvPr/>
        </p:nvPicPr>
        <p:blipFill>
          <a:blip r:embed="rId3"/>
          <a:stretch>
            <a:fillRect/>
          </a:stretch>
        </p:blipFill>
        <p:spPr>
          <a:xfrm>
            <a:off x="6526530" y="3600450"/>
            <a:ext cx="251460" cy="251460"/>
          </a:xfrm>
          <a:prstGeom prst="rect">
            <a:avLst/>
          </a:prstGeom>
        </p:spPr>
      </p:pic>
      <p:sp>
        <p:nvSpPr>
          <p:cNvPr id="40" name="Shape 35"/>
          <p:cNvSpPr/>
          <p:nvPr/>
        </p:nvSpPr>
        <p:spPr>
          <a:xfrm>
            <a:off x="6652260" y="3977640"/>
            <a:ext cx="0" cy="292608"/>
          </a:xfrm>
          <a:prstGeom prst="line">
            <a:avLst/>
          </a:prstGeom>
          <a:noFill/>
          <a:ln w="19050">
            <a:solidFill>
              <a:srgbClr val="D6E5F2"/>
            </a:solidFill>
            <a:prstDash val="dash"/>
          </a:ln>
        </p:spPr>
      </p:sp>
      <p:sp>
        <p:nvSpPr>
          <p:cNvPr id="41" name="Text 36"/>
          <p:cNvSpPr/>
          <p:nvPr/>
        </p:nvSpPr>
        <p:spPr>
          <a:xfrm>
            <a:off x="7086600" y="3456432"/>
            <a:ext cx="5029200" cy="274320"/>
          </a:xfrm>
          <a:prstGeom prst="rect">
            <a:avLst/>
          </a:prstGeom>
          <a:noFill/>
          <a:ln/>
        </p:spPr>
        <p:txBody>
          <a:bodyPr wrap="square" lIns="0" tIns="0" rIns="0" bIns="0" rtlCol="0" anchor="ctr"/>
          <a:lstStyle/>
          <a:p>
            <a:pPr indent="0" marL="0">
              <a:buNone/>
            </a:pPr>
            <a:r>
              <a:rPr lang="en-US" sz="1350" b="1" dirty="0">
                <a:solidFill>
                  <a:srgbClr val="17263D"/>
                </a:solidFill>
                <a:latin typeface="Cambria" pitchFamily="34" charset="0"/>
                <a:ea typeface="Cambria" pitchFamily="34" charset="-122"/>
                <a:cs typeface="Cambria" pitchFamily="34" charset="-120"/>
              </a:rPr>
              <a:t>Pick a date &amp; service</a:t>
            </a:r>
            <a:endParaRPr lang="en-US" sz="1350" dirty="0"/>
          </a:p>
        </p:txBody>
      </p:sp>
      <p:sp>
        <p:nvSpPr>
          <p:cNvPr id="42" name="Text 37"/>
          <p:cNvSpPr/>
          <p:nvPr/>
        </p:nvSpPr>
        <p:spPr>
          <a:xfrm>
            <a:off x="7086600" y="3730752"/>
            <a:ext cx="5029200" cy="274320"/>
          </a:xfrm>
          <a:prstGeom prst="rect">
            <a:avLst/>
          </a:prstGeom>
          <a:noFill/>
          <a:ln/>
        </p:spPr>
        <p:txBody>
          <a:bodyPr wrap="square" lIns="0" tIns="0" rIns="0" bIns="0" rtlCol="0" anchor="ctr"/>
          <a:lstStyle/>
          <a:p>
            <a:pPr indent="0" marL="0">
              <a:buNone/>
            </a:pPr>
            <a:r>
              <a:rPr lang="en-US" sz="1050" dirty="0">
                <a:solidFill>
                  <a:srgbClr val="55677E"/>
                </a:solidFill>
                <a:latin typeface="Calibri" pitchFamily="34" charset="0"/>
                <a:ea typeface="Calibri" pitchFamily="34" charset="-122"/>
                <a:cs typeface="Calibri" pitchFamily="34" charset="-120"/>
              </a:rPr>
              <a:t>Preferred date and service type are chosen.</a:t>
            </a:r>
            <a:endParaRPr lang="en-US" sz="1050" dirty="0"/>
          </a:p>
        </p:txBody>
      </p:sp>
      <p:sp>
        <p:nvSpPr>
          <p:cNvPr id="43" name="Shape 38"/>
          <p:cNvSpPr/>
          <p:nvPr/>
        </p:nvSpPr>
        <p:spPr>
          <a:xfrm>
            <a:off x="6400800" y="4297680"/>
            <a:ext cx="502920" cy="502920"/>
          </a:xfrm>
          <a:prstGeom prst="ellipse">
            <a:avLst/>
          </a:prstGeom>
          <a:solidFill>
            <a:srgbClr val="EAF3FB"/>
          </a:solidFill>
          <a:ln/>
        </p:spPr>
      </p:sp>
      <p:pic>
        <p:nvPicPr>
          <p:cNvPr id="44" name="Image 3" descr="/home/claude/medsev-ppt/icons/clipboard_0B5FA4.png">    </p:cNvPr>
          <p:cNvPicPr>
            <a:picLocks noChangeAspect="1"/>
          </p:cNvPicPr>
          <p:nvPr/>
        </p:nvPicPr>
        <p:blipFill>
          <a:blip r:embed="rId4"/>
          <a:stretch>
            <a:fillRect/>
          </a:stretch>
        </p:blipFill>
        <p:spPr>
          <a:xfrm>
            <a:off x="6526530" y="4423410"/>
            <a:ext cx="251460" cy="251460"/>
          </a:xfrm>
          <a:prstGeom prst="rect">
            <a:avLst/>
          </a:prstGeom>
        </p:spPr>
      </p:pic>
      <p:sp>
        <p:nvSpPr>
          <p:cNvPr id="45" name="Shape 39"/>
          <p:cNvSpPr/>
          <p:nvPr/>
        </p:nvSpPr>
        <p:spPr>
          <a:xfrm>
            <a:off x="6652260" y="4800600"/>
            <a:ext cx="0" cy="292608"/>
          </a:xfrm>
          <a:prstGeom prst="line">
            <a:avLst/>
          </a:prstGeom>
          <a:noFill/>
          <a:ln w="19050">
            <a:solidFill>
              <a:srgbClr val="D6E5F2"/>
            </a:solidFill>
            <a:prstDash val="dash"/>
          </a:ln>
        </p:spPr>
      </p:sp>
      <p:sp>
        <p:nvSpPr>
          <p:cNvPr id="46" name="Text 40"/>
          <p:cNvSpPr/>
          <p:nvPr/>
        </p:nvSpPr>
        <p:spPr>
          <a:xfrm>
            <a:off x="7086600" y="4279392"/>
            <a:ext cx="5029200" cy="274320"/>
          </a:xfrm>
          <a:prstGeom prst="rect">
            <a:avLst/>
          </a:prstGeom>
          <a:noFill/>
          <a:ln/>
        </p:spPr>
        <p:txBody>
          <a:bodyPr wrap="square" lIns="0" tIns="0" rIns="0" bIns="0" rtlCol="0" anchor="ctr"/>
          <a:lstStyle/>
          <a:p>
            <a:pPr indent="0" marL="0">
              <a:buNone/>
            </a:pPr>
            <a:r>
              <a:rPr lang="en-US" sz="1350" b="1" dirty="0">
                <a:solidFill>
                  <a:srgbClr val="17263D"/>
                </a:solidFill>
                <a:latin typeface="Cambria" pitchFamily="34" charset="0"/>
                <a:ea typeface="Cambria" pitchFamily="34" charset="-122"/>
                <a:cs typeface="Cambria" pitchFamily="34" charset="-120"/>
              </a:rPr>
              <a:t>Fill patient info</a:t>
            </a:r>
            <a:endParaRPr lang="en-US" sz="1350" dirty="0"/>
          </a:p>
        </p:txBody>
      </p:sp>
      <p:sp>
        <p:nvSpPr>
          <p:cNvPr id="47" name="Text 41"/>
          <p:cNvSpPr/>
          <p:nvPr/>
        </p:nvSpPr>
        <p:spPr>
          <a:xfrm>
            <a:off x="7086600" y="4553712"/>
            <a:ext cx="5029200" cy="274320"/>
          </a:xfrm>
          <a:prstGeom prst="rect">
            <a:avLst/>
          </a:prstGeom>
          <a:noFill/>
          <a:ln/>
        </p:spPr>
        <p:txBody>
          <a:bodyPr wrap="square" lIns="0" tIns="0" rIns="0" bIns="0" rtlCol="0" anchor="ctr"/>
          <a:lstStyle/>
          <a:p>
            <a:pPr indent="0" marL="0">
              <a:buNone/>
            </a:pPr>
            <a:r>
              <a:rPr lang="en-US" sz="1050" dirty="0">
                <a:solidFill>
                  <a:srgbClr val="55677E"/>
                </a:solidFill>
                <a:latin typeface="Calibri" pitchFamily="34" charset="0"/>
                <a:ea typeface="Calibri" pitchFamily="34" charset="-122"/>
                <a:cs typeface="Calibri" pitchFamily="34" charset="-120"/>
              </a:rPr>
              <a:t>Name, email, phone, and age are captured.</a:t>
            </a:r>
            <a:endParaRPr lang="en-US" sz="1050" dirty="0"/>
          </a:p>
        </p:txBody>
      </p:sp>
      <p:sp>
        <p:nvSpPr>
          <p:cNvPr id="48" name="Shape 42"/>
          <p:cNvSpPr/>
          <p:nvPr/>
        </p:nvSpPr>
        <p:spPr>
          <a:xfrm>
            <a:off x="6400800" y="5120640"/>
            <a:ext cx="502920" cy="502920"/>
          </a:xfrm>
          <a:prstGeom prst="ellipse">
            <a:avLst/>
          </a:prstGeom>
          <a:solidFill>
            <a:srgbClr val="EAF3FB"/>
          </a:solidFill>
          <a:ln/>
        </p:spPr>
      </p:sp>
      <p:pic>
        <p:nvPicPr>
          <p:cNvPr id="49" name="Image 4" descr="/home/claude/medsev-ppt/icons/check_0B5FA4.png">    </p:cNvPr>
          <p:cNvPicPr>
            <a:picLocks noChangeAspect="1"/>
          </p:cNvPicPr>
          <p:nvPr/>
        </p:nvPicPr>
        <p:blipFill>
          <a:blip r:embed="rId5"/>
          <a:stretch>
            <a:fillRect/>
          </a:stretch>
        </p:blipFill>
        <p:spPr>
          <a:xfrm>
            <a:off x="6526530" y="5246370"/>
            <a:ext cx="251460" cy="251460"/>
          </a:xfrm>
          <a:prstGeom prst="rect">
            <a:avLst/>
          </a:prstGeom>
        </p:spPr>
      </p:pic>
      <p:sp>
        <p:nvSpPr>
          <p:cNvPr id="50" name="Text 43"/>
          <p:cNvSpPr/>
          <p:nvPr/>
        </p:nvSpPr>
        <p:spPr>
          <a:xfrm>
            <a:off x="7086600" y="5102352"/>
            <a:ext cx="5029200" cy="274320"/>
          </a:xfrm>
          <a:prstGeom prst="rect">
            <a:avLst/>
          </a:prstGeom>
          <a:noFill/>
          <a:ln/>
        </p:spPr>
        <p:txBody>
          <a:bodyPr wrap="square" lIns="0" tIns="0" rIns="0" bIns="0" rtlCol="0" anchor="ctr"/>
          <a:lstStyle/>
          <a:p>
            <a:pPr indent="0" marL="0">
              <a:buNone/>
            </a:pPr>
            <a:r>
              <a:rPr lang="en-US" sz="1350" b="1" dirty="0">
                <a:solidFill>
                  <a:srgbClr val="17263D"/>
                </a:solidFill>
                <a:latin typeface="Cambria" pitchFamily="34" charset="0"/>
                <a:ea typeface="Cambria" pitchFamily="34" charset="-122"/>
                <a:cs typeface="Cambria" pitchFamily="34" charset="-120"/>
              </a:rPr>
              <a:t>Confirmation</a:t>
            </a:r>
            <a:endParaRPr lang="en-US" sz="1350" dirty="0"/>
          </a:p>
        </p:txBody>
      </p:sp>
      <p:sp>
        <p:nvSpPr>
          <p:cNvPr id="51" name="Text 44"/>
          <p:cNvSpPr/>
          <p:nvPr/>
        </p:nvSpPr>
        <p:spPr>
          <a:xfrm>
            <a:off x="7086600" y="5376672"/>
            <a:ext cx="5029200" cy="274320"/>
          </a:xfrm>
          <a:prstGeom prst="rect">
            <a:avLst/>
          </a:prstGeom>
          <a:noFill/>
          <a:ln/>
        </p:spPr>
        <p:txBody>
          <a:bodyPr wrap="square" lIns="0" tIns="0" rIns="0" bIns="0" rtlCol="0" anchor="ctr"/>
          <a:lstStyle/>
          <a:p>
            <a:pPr indent="0" marL="0">
              <a:buNone/>
            </a:pPr>
            <a:r>
              <a:rPr lang="en-US" sz="1050" dirty="0">
                <a:solidFill>
                  <a:srgbClr val="55677E"/>
                </a:solidFill>
                <a:latin typeface="Calibri" pitchFamily="34" charset="0"/>
                <a:ea typeface="Calibri" pitchFamily="34" charset="-122"/>
                <a:cs typeface="Calibri" pitchFamily="34" charset="-120"/>
              </a:rPr>
              <a:t>Team confirms the booking within 2 hours.</a:t>
            </a:r>
            <a:endParaRPr lang="en-US" sz="1050" dirty="0"/>
          </a:p>
        </p:txBody>
      </p:sp>
      <p:sp>
        <p:nvSpPr>
          <p:cNvPr id="52" name="Text 45"/>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53" name="Text 46"/>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Appointment System</a:t>
            </a:r>
            <a:endParaRPr lang="en-US" sz="900" dirty="0"/>
          </a:p>
        </p:txBody>
      </p:sp>
      <p:sp>
        <p:nvSpPr>
          <p:cNvPr id="54" name="Text 47"/>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11 / 23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PAGE WALKTHROUGH · 09</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Testimonials</a:t>
            </a:r>
            <a:endParaRPr lang="en-US" sz="3000" dirty="0"/>
          </a:p>
        </p:txBody>
      </p:sp>
      <p:sp>
        <p:nvSpPr>
          <p:cNvPr id="4" name="Text 2"/>
          <p:cNvSpPr/>
          <p:nvPr/>
        </p:nvSpPr>
        <p:spPr>
          <a:xfrm>
            <a:off x="548640" y="1371600"/>
            <a:ext cx="9144000" cy="365760"/>
          </a:xfrm>
          <a:prstGeom prst="rect">
            <a:avLst/>
          </a:prstGeom>
          <a:noFill/>
          <a:ln/>
        </p:spPr>
        <p:txBody>
          <a:bodyPr wrap="square" lIns="0" tIns="0" rIns="0" bIns="0" rtlCol="0" anchor="ctr"/>
          <a:lstStyle/>
          <a:p>
            <a:pPr indent="0" marL="0">
              <a:buNone/>
            </a:pPr>
            <a:r>
              <a:rPr lang="en-US" sz="1300" dirty="0">
                <a:solidFill>
                  <a:srgbClr val="55677E"/>
                </a:solidFill>
                <a:latin typeface="Calibri" pitchFamily="34" charset="0"/>
                <a:ea typeface="Calibri" pitchFamily="34" charset="-122"/>
                <a:cs typeface="Calibri" pitchFamily="34" charset="-120"/>
              </a:rPr>
              <a:t>Social proof, told in the patient’s own words</a:t>
            </a:r>
            <a:endParaRPr lang="en-US" sz="1300" dirty="0"/>
          </a:p>
        </p:txBody>
      </p:sp>
      <p:sp>
        <p:nvSpPr>
          <p:cNvPr id="5" name="Shape 3"/>
          <p:cNvSpPr/>
          <p:nvPr/>
        </p:nvSpPr>
        <p:spPr>
          <a:xfrm>
            <a:off x="548640" y="1965960"/>
            <a:ext cx="3529584" cy="2651760"/>
          </a:xfrm>
          <a:prstGeom prst="roundRect">
            <a:avLst>
              <a:gd name="adj" fmla="val 3448"/>
            </a:avLst>
          </a:prstGeom>
          <a:solidFill>
            <a:srgbClr val="F6FAFD"/>
          </a:solidFill>
          <a:ln w="12700">
            <a:solidFill>
              <a:srgbClr val="D6E5F2"/>
            </a:solidFill>
            <a:prstDash val="solid"/>
          </a:ln>
        </p:spPr>
      </p:sp>
      <p:sp>
        <p:nvSpPr>
          <p:cNvPr id="6" name="Shape 4"/>
          <p:cNvSpPr/>
          <p:nvPr/>
        </p:nvSpPr>
        <p:spPr>
          <a:xfrm>
            <a:off x="804672" y="2221992"/>
            <a:ext cx="502920" cy="502920"/>
          </a:xfrm>
          <a:prstGeom prst="ellipse">
            <a:avLst/>
          </a:prstGeom>
          <a:solidFill>
            <a:srgbClr val="FFFFFF"/>
          </a:solidFill>
          <a:ln/>
        </p:spPr>
      </p:sp>
      <p:pic>
        <p:nvPicPr>
          <p:cNvPr id="7" name="Image 0" descr="/home/claude/medsev-ppt/icons/quote_00B4A6.png">    </p:cNvPr>
          <p:cNvPicPr>
            <a:picLocks noChangeAspect="1"/>
          </p:cNvPicPr>
          <p:nvPr/>
        </p:nvPicPr>
        <p:blipFill>
          <a:blip r:embed="rId1"/>
          <a:stretch>
            <a:fillRect/>
          </a:stretch>
        </p:blipFill>
        <p:spPr>
          <a:xfrm>
            <a:off x="930402" y="2347722"/>
            <a:ext cx="251460" cy="251460"/>
          </a:xfrm>
          <a:prstGeom prst="rect">
            <a:avLst/>
          </a:prstGeom>
        </p:spPr>
      </p:pic>
      <p:sp>
        <p:nvSpPr>
          <p:cNvPr id="8" name="Shape 5"/>
          <p:cNvSpPr/>
          <p:nvPr/>
        </p:nvSpPr>
        <p:spPr>
          <a:xfrm>
            <a:off x="804672" y="2926080"/>
            <a:ext cx="3017520" cy="68580"/>
          </a:xfrm>
          <a:prstGeom prst="roundRect">
            <a:avLst>
              <a:gd name="adj" fmla="val 26667"/>
            </a:avLst>
          </a:prstGeom>
          <a:solidFill>
            <a:srgbClr val="D6E5F2"/>
          </a:solidFill>
          <a:ln/>
        </p:spPr>
      </p:sp>
      <p:sp>
        <p:nvSpPr>
          <p:cNvPr id="9" name="Shape 6"/>
          <p:cNvSpPr/>
          <p:nvPr/>
        </p:nvSpPr>
        <p:spPr>
          <a:xfrm>
            <a:off x="804672" y="3081528"/>
            <a:ext cx="1961388" cy="54864"/>
          </a:xfrm>
          <a:prstGeom prst="roundRect">
            <a:avLst>
              <a:gd name="adj" fmla="val 33333"/>
            </a:avLst>
          </a:prstGeom>
          <a:solidFill>
            <a:srgbClr val="D6E5F2"/>
          </a:solidFill>
          <a:ln/>
        </p:spPr>
      </p:sp>
      <p:sp>
        <p:nvSpPr>
          <p:cNvPr id="10" name="Shape 7"/>
          <p:cNvSpPr/>
          <p:nvPr/>
        </p:nvSpPr>
        <p:spPr>
          <a:xfrm>
            <a:off x="804672" y="3200400"/>
            <a:ext cx="3017520" cy="68580"/>
          </a:xfrm>
          <a:prstGeom prst="roundRect">
            <a:avLst>
              <a:gd name="adj" fmla="val 26667"/>
            </a:avLst>
          </a:prstGeom>
          <a:solidFill>
            <a:srgbClr val="D6E5F2"/>
          </a:solidFill>
          <a:ln/>
        </p:spPr>
      </p:sp>
      <p:sp>
        <p:nvSpPr>
          <p:cNvPr id="11" name="Shape 8"/>
          <p:cNvSpPr/>
          <p:nvPr/>
        </p:nvSpPr>
        <p:spPr>
          <a:xfrm>
            <a:off x="804672" y="3355848"/>
            <a:ext cx="1961388" cy="54864"/>
          </a:xfrm>
          <a:prstGeom prst="roundRect">
            <a:avLst>
              <a:gd name="adj" fmla="val 33333"/>
            </a:avLst>
          </a:prstGeom>
          <a:solidFill>
            <a:srgbClr val="D6E5F2"/>
          </a:solidFill>
          <a:ln/>
        </p:spPr>
      </p:sp>
      <p:sp>
        <p:nvSpPr>
          <p:cNvPr id="12" name="Shape 9"/>
          <p:cNvSpPr/>
          <p:nvPr/>
        </p:nvSpPr>
        <p:spPr>
          <a:xfrm>
            <a:off x="804672" y="3474720"/>
            <a:ext cx="1810512" cy="68580"/>
          </a:xfrm>
          <a:prstGeom prst="roundRect">
            <a:avLst>
              <a:gd name="adj" fmla="val 26667"/>
            </a:avLst>
          </a:prstGeom>
          <a:solidFill>
            <a:srgbClr val="D6E5F2"/>
          </a:solidFill>
          <a:ln/>
        </p:spPr>
      </p:sp>
      <p:sp>
        <p:nvSpPr>
          <p:cNvPr id="13" name="Shape 10"/>
          <p:cNvSpPr/>
          <p:nvPr/>
        </p:nvSpPr>
        <p:spPr>
          <a:xfrm>
            <a:off x="804672" y="3630168"/>
            <a:ext cx="1176833" cy="54864"/>
          </a:xfrm>
          <a:prstGeom prst="roundRect">
            <a:avLst>
              <a:gd name="adj" fmla="val 33333"/>
            </a:avLst>
          </a:prstGeom>
          <a:solidFill>
            <a:srgbClr val="D6E5F2"/>
          </a:solidFill>
          <a:ln/>
        </p:spPr>
      </p:sp>
      <p:sp>
        <p:nvSpPr>
          <p:cNvPr id="14" name="Shape 11"/>
          <p:cNvSpPr/>
          <p:nvPr/>
        </p:nvSpPr>
        <p:spPr>
          <a:xfrm>
            <a:off x="804672" y="3931920"/>
            <a:ext cx="457200" cy="457200"/>
          </a:xfrm>
          <a:prstGeom prst="ellipse">
            <a:avLst/>
          </a:prstGeom>
          <a:solidFill>
            <a:srgbClr val="FFFFFF"/>
          </a:solidFill>
          <a:ln/>
        </p:spPr>
      </p:sp>
      <p:pic>
        <p:nvPicPr>
          <p:cNvPr id="15" name="Image 1" descr="/home/claude/medsev-ppt/icons/user_0B5FA4.png">    </p:cNvPr>
          <p:cNvPicPr>
            <a:picLocks noChangeAspect="1"/>
          </p:cNvPicPr>
          <p:nvPr/>
        </p:nvPicPr>
        <p:blipFill>
          <a:blip r:embed="rId2"/>
          <a:stretch>
            <a:fillRect/>
          </a:stretch>
        </p:blipFill>
        <p:spPr>
          <a:xfrm>
            <a:off x="907542" y="4034790"/>
            <a:ext cx="251460" cy="251460"/>
          </a:xfrm>
          <a:prstGeom prst="rect">
            <a:avLst/>
          </a:prstGeom>
        </p:spPr>
      </p:pic>
      <p:sp>
        <p:nvSpPr>
          <p:cNvPr id="16" name="Text 12"/>
          <p:cNvSpPr/>
          <p:nvPr/>
        </p:nvSpPr>
        <p:spPr>
          <a:xfrm>
            <a:off x="1389888" y="3977640"/>
            <a:ext cx="2523744" cy="274320"/>
          </a:xfrm>
          <a:prstGeom prst="rect">
            <a:avLst/>
          </a:prstGeom>
          <a:noFill/>
          <a:ln/>
        </p:spPr>
        <p:txBody>
          <a:bodyPr wrap="square" lIns="0" tIns="0" rIns="0" bIns="0" rtlCol="0" anchor="ctr"/>
          <a:lstStyle/>
          <a:p>
            <a:pPr indent="0" marL="0">
              <a:buNone/>
            </a:pPr>
            <a:r>
              <a:rPr lang="en-US" sz="1300" b="1" dirty="0">
                <a:solidFill>
                  <a:srgbClr val="17263D"/>
                </a:solidFill>
                <a:latin typeface="Cambria" pitchFamily="34" charset="0"/>
                <a:ea typeface="Cambria" pitchFamily="34" charset="-122"/>
                <a:cs typeface="Cambria" pitchFamily="34" charset="-120"/>
              </a:rPr>
              <a:t>John Mic</a:t>
            </a:r>
            <a:endParaRPr lang="en-US" sz="1300" dirty="0"/>
          </a:p>
        </p:txBody>
      </p:sp>
      <p:sp>
        <p:nvSpPr>
          <p:cNvPr id="17" name="Shape 13"/>
          <p:cNvSpPr/>
          <p:nvPr/>
        </p:nvSpPr>
        <p:spPr>
          <a:xfrm>
            <a:off x="1389888" y="4251960"/>
            <a:ext cx="182880" cy="182880"/>
          </a:xfrm>
          <a:prstGeom prst="ellipse">
            <a:avLst/>
          </a:prstGeom>
          <a:solidFill>
            <a:srgbClr val="F6FAFD"/>
          </a:solidFill>
          <a:ln/>
        </p:spPr>
      </p:sp>
      <p:pic>
        <p:nvPicPr>
          <p:cNvPr id="18" name="Image 2" descr="/home/claude/medsev-ppt/icons/star_00B4A6.png">    </p:cNvPr>
          <p:cNvPicPr>
            <a:picLocks noChangeAspect="1"/>
          </p:cNvPicPr>
          <p:nvPr/>
        </p:nvPicPr>
        <p:blipFill>
          <a:blip r:embed="rId3"/>
          <a:stretch>
            <a:fillRect/>
          </a:stretch>
        </p:blipFill>
        <p:spPr>
          <a:xfrm>
            <a:off x="1399032" y="4261104"/>
            <a:ext cx="164592" cy="164592"/>
          </a:xfrm>
          <a:prstGeom prst="rect">
            <a:avLst/>
          </a:prstGeom>
        </p:spPr>
      </p:pic>
      <p:sp>
        <p:nvSpPr>
          <p:cNvPr id="19" name="Shape 14"/>
          <p:cNvSpPr/>
          <p:nvPr/>
        </p:nvSpPr>
        <p:spPr>
          <a:xfrm>
            <a:off x="1609344" y="4251960"/>
            <a:ext cx="182880" cy="182880"/>
          </a:xfrm>
          <a:prstGeom prst="ellipse">
            <a:avLst/>
          </a:prstGeom>
          <a:solidFill>
            <a:srgbClr val="F6FAFD"/>
          </a:solidFill>
          <a:ln/>
        </p:spPr>
      </p:sp>
      <p:pic>
        <p:nvPicPr>
          <p:cNvPr id="20" name="Image 3" descr="/home/claude/medsev-ppt/icons/star_00B4A6.png">    </p:cNvPr>
          <p:cNvPicPr>
            <a:picLocks noChangeAspect="1"/>
          </p:cNvPicPr>
          <p:nvPr/>
        </p:nvPicPr>
        <p:blipFill>
          <a:blip r:embed="rId4"/>
          <a:stretch>
            <a:fillRect/>
          </a:stretch>
        </p:blipFill>
        <p:spPr>
          <a:xfrm>
            <a:off x="1618488" y="4261104"/>
            <a:ext cx="164592" cy="164592"/>
          </a:xfrm>
          <a:prstGeom prst="rect">
            <a:avLst/>
          </a:prstGeom>
        </p:spPr>
      </p:pic>
      <p:sp>
        <p:nvSpPr>
          <p:cNvPr id="21" name="Shape 15"/>
          <p:cNvSpPr/>
          <p:nvPr/>
        </p:nvSpPr>
        <p:spPr>
          <a:xfrm>
            <a:off x="1828800" y="4251960"/>
            <a:ext cx="182880" cy="182880"/>
          </a:xfrm>
          <a:prstGeom prst="ellipse">
            <a:avLst/>
          </a:prstGeom>
          <a:solidFill>
            <a:srgbClr val="F6FAFD"/>
          </a:solidFill>
          <a:ln/>
        </p:spPr>
      </p:sp>
      <p:pic>
        <p:nvPicPr>
          <p:cNvPr id="22" name="Image 4" descr="/home/claude/medsev-ppt/icons/star_00B4A6.png">    </p:cNvPr>
          <p:cNvPicPr>
            <a:picLocks noChangeAspect="1"/>
          </p:cNvPicPr>
          <p:nvPr/>
        </p:nvPicPr>
        <p:blipFill>
          <a:blip r:embed="rId5"/>
          <a:stretch>
            <a:fillRect/>
          </a:stretch>
        </p:blipFill>
        <p:spPr>
          <a:xfrm>
            <a:off x="1837944" y="4261104"/>
            <a:ext cx="164592" cy="164592"/>
          </a:xfrm>
          <a:prstGeom prst="rect">
            <a:avLst/>
          </a:prstGeom>
        </p:spPr>
      </p:pic>
      <p:sp>
        <p:nvSpPr>
          <p:cNvPr id="23" name="Shape 16"/>
          <p:cNvSpPr/>
          <p:nvPr/>
        </p:nvSpPr>
        <p:spPr>
          <a:xfrm>
            <a:off x="2048256" y="4251960"/>
            <a:ext cx="182880" cy="182880"/>
          </a:xfrm>
          <a:prstGeom prst="ellipse">
            <a:avLst/>
          </a:prstGeom>
          <a:solidFill>
            <a:srgbClr val="F6FAFD"/>
          </a:solidFill>
          <a:ln/>
        </p:spPr>
      </p:sp>
      <p:pic>
        <p:nvPicPr>
          <p:cNvPr id="24" name="Image 5" descr="/home/claude/medsev-ppt/icons/star_00B4A6.png">    </p:cNvPr>
          <p:cNvPicPr>
            <a:picLocks noChangeAspect="1"/>
          </p:cNvPicPr>
          <p:nvPr/>
        </p:nvPicPr>
        <p:blipFill>
          <a:blip r:embed="rId6"/>
          <a:stretch>
            <a:fillRect/>
          </a:stretch>
        </p:blipFill>
        <p:spPr>
          <a:xfrm>
            <a:off x="2057400" y="4261104"/>
            <a:ext cx="164592" cy="164592"/>
          </a:xfrm>
          <a:prstGeom prst="rect">
            <a:avLst/>
          </a:prstGeom>
        </p:spPr>
      </p:pic>
      <p:sp>
        <p:nvSpPr>
          <p:cNvPr id="25" name="Shape 17"/>
          <p:cNvSpPr/>
          <p:nvPr/>
        </p:nvSpPr>
        <p:spPr>
          <a:xfrm>
            <a:off x="2267712" y="4251960"/>
            <a:ext cx="182880" cy="182880"/>
          </a:xfrm>
          <a:prstGeom prst="ellipse">
            <a:avLst/>
          </a:prstGeom>
          <a:solidFill>
            <a:srgbClr val="F6FAFD"/>
          </a:solidFill>
          <a:ln/>
        </p:spPr>
      </p:sp>
      <p:pic>
        <p:nvPicPr>
          <p:cNvPr id="26" name="Image 6" descr="/home/claude/medsev-ppt/icons/star_00B4A6.png">    </p:cNvPr>
          <p:cNvPicPr>
            <a:picLocks noChangeAspect="1"/>
          </p:cNvPicPr>
          <p:nvPr/>
        </p:nvPicPr>
        <p:blipFill>
          <a:blip r:embed="rId7"/>
          <a:stretch>
            <a:fillRect/>
          </a:stretch>
        </p:blipFill>
        <p:spPr>
          <a:xfrm>
            <a:off x="2276856" y="4261104"/>
            <a:ext cx="164592" cy="164592"/>
          </a:xfrm>
          <a:prstGeom prst="rect">
            <a:avLst/>
          </a:prstGeom>
        </p:spPr>
      </p:pic>
      <p:sp>
        <p:nvSpPr>
          <p:cNvPr id="27" name="Shape 18"/>
          <p:cNvSpPr/>
          <p:nvPr/>
        </p:nvSpPr>
        <p:spPr>
          <a:xfrm>
            <a:off x="4261104" y="1965960"/>
            <a:ext cx="3529584" cy="2651760"/>
          </a:xfrm>
          <a:prstGeom prst="roundRect">
            <a:avLst>
              <a:gd name="adj" fmla="val 3448"/>
            </a:avLst>
          </a:prstGeom>
          <a:solidFill>
            <a:srgbClr val="F6FAFD"/>
          </a:solidFill>
          <a:ln w="12700">
            <a:solidFill>
              <a:srgbClr val="D6E5F2"/>
            </a:solidFill>
            <a:prstDash val="solid"/>
          </a:ln>
        </p:spPr>
      </p:sp>
      <p:sp>
        <p:nvSpPr>
          <p:cNvPr id="28" name="Shape 19"/>
          <p:cNvSpPr/>
          <p:nvPr/>
        </p:nvSpPr>
        <p:spPr>
          <a:xfrm>
            <a:off x="4517136" y="2221992"/>
            <a:ext cx="502920" cy="502920"/>
          </a:xfrm>
          <a:prstGeom prst="ellipse">
            <a:avLst/>
          </a:prstGeom>
          <a:solidFill>
            <a:srgbClr val="FFFFFF"/>
          </a:solidFill>
          <a:ln/>
        </p:spPr>
      </p:sp>
      <p:pic>
        <p:nvPicPr>
          <p:cNvPr id="29" name="Image 7" descr="/home/claude/medsev-ppt/icons/quote_00B4A6.png">    </p:cNvPr>
          <p:cNvPicPr>
            <a:picLocks noChangeAspect="1"/>
          </p:cNvPicPr>
          <p:nvPr/>
        </p:nvPicPr>
        <p:blipFill>
          <a:blip r:embed="rId8"/>
          <a:stretch>
            <a:fillRect/>
          </a:stretch>
        </p:blipFill>
        <p:spPr>
          <a:xfrm>
            <a:off x="4642866" y="2347722"/>
            <a:ext cx="251460" cy="251460"/>
          </a:xfrm>
          <a:prstGeom prst="rect">
            <a:avLst/>
          </a:prstGeom>
        </p:spPr>
      </p:pic>
      <p:sp>
        <p:nvSpPr>
          <p:cNvPr id="30" name="Shape 20"/>
          <p:cNvSpPr/>
          <p:nvPr/>
        </p:nvSpPr>
        <p:spPr>
          <a:xfrm>
            <a:off x="4517136" y="2926080"/>
            <a:ext cx="3017520" cy="68580"/>
          </a:xfrm>
          <a:prstGeom prst="roundRect">
            <a:avLst>
              <a:gd name="adj" fmla="val 26667"/>
            </a:avLst>
          </a:prstGeom>
          <a:solidFill>
            <a:srgbClr val="D6E5F2"/>
          </a:solidFill>
          <a:ln/>
        </p:spPr>
      </p:sp>
      <p:sp>
        <p:nvSpPr>
          <p:cNvPr id="31" name="Shape 21"/>
          <p:cNvSpPr/>
          <p:nvPr/>
        </p:nvSpPr>
        <p:spPr>
          <a:xfrm>
            <a:off x="4517136" y="3081528"/>
            <a:ext cx="1961388" cy="54864"/>
          </a:xfrm>
          <a:prstGeom prst="roundRect">
            <a:avLst>
              <a:gd name="adj" fmla="val 33333"/>
            </a:avLst>
          </a:prstGeom>
          <a:solidFill>
            <a:srgbClr val="D6E5F2"/>
          </a:solidFill>
          <a:ln/>
        </p:spPr>
      </p:sp>
      <p:sp>
        <p:nvSpPr>
          <p:cNvPr id="32" name="Shape 22"/>
          <p:cNvSpPr/>
          <p:nvPr/>
        </p:nvSpPr>
        <p:spPr>
          <a:xfrm>
            <a:off x="4517136" y="3200400"/>
            <a:ext cx="3017520" cy="68580"/>
          </a:xfrm>
          <a:prstGeom prst="roundRect">
            <a:avLst>
              <a:gd name="adj" fmla="val 26667"/>
            </a:avLst>
          </a:prstGeom>
          <a:solidFill>
            <a:srgbClr val="D6E5F2"/>
          </a:solidFill>
          <a:ln/>
        </p:spPr>
      </p:sp>
      <p:sp>
        <p:nvSpPr>
          <p:cNvPr id="33" name="Shape 23"/>
          <p:cNvSpPr/>
          <p:nvPr/>
        </p:nvSpPr>
        <p:spPr>
          <a:xfrm>
            <a:off x="4517136" y="3355848"/>
            <a:ext cx="1961388" cy="54864"/>
          </a:xfrm>
          <a:prstGeom prst="roundRect">
            <a:avLst>
              <a:gd name="adj" fmla="val 33333"/>
            </a:avLst>
          </a:prstGeom>
          <a:solidFill>
            <a:srgbClr val="D6E5F2"/>
          </a:solidFill>
          <a:ln/>
        </p:spPr>
      </p:sp>
      <p:sp>
        <p:nvSpPr>
          <p:cNvPr id="34" name="Shape 24"/>
          <p:cNvSpPr/>
          <p:nvPr/>
        </p:nvSpPr>
        <p:spPr>
          <a:xfrm>
            <a:off x="4517136" y="3474720"/>
            <a:ext cx="1810512" cy="68580"/>
          </a:xfrm>
          <a:prstGeom prst="roundRect">
            <a:avLst>
              <a:gd name="adj" fmla="val 26667"/>
            </a:avLst>
          </a:prstGeom>
          <a:solidFill>
            <a:srgbClr val="D6E5F2"/>
          </a:solidFill>
          <a:ln/>
        </p:spPr>
      </p:sp>
      <p:sp>
        <p:nvSpPr>
          <p:cNvPr id="35" name="Shape 25"/>
          <p:cNvSpPr/>
          <p:nvPr/>
        </p:nvSpPr>
        <p:spPr>
          <a:xfrm>
            <a:off x="4517136" y="3630168"/>
            <a:ext cx="1176833" cy="54864"/>
          </a:xfrm>
          <a:prstGeom prst="roundRect">
            <a:avLst>
              <a:gd name="adj" fmla="val 33333"/>
            </a:avLst>
          </a:prstGeom>
          <a:solidFill>
            <a:srgbClr val="D6E5F2"/>
          </a:solidFill>
          <a:ln/>
        </p:spPr>
      </p:sp>
      <p:sp>
        <p:nvSpPr>
          <p:cNvPr id="36" name="Shape 26"/>
          <p:cNvSpPr/>
          <p:nvPr/>
        </p:nvSpPr>
        <p:spPr>
          <a:xfrm>
            <a:off x="4517136" y="3931920"/>
            <a:ext cx="457200" cy="457200"/>
          </a:xfrm>
          <a:prstGeom prst="ellipse">
            <a:avLst/>
          </a:prstGeom>
          <a:solidFill>
            <a:srgbClr val="FFFFFF"/>
          </a:solidFill>
          <a:ln/>
        </p:spPr>
      </p:sp>
      <p:pic>
        <p:nvPicPr>
          <p:cNvPr id="37" name="Image 8" descr="/home/claude/medsev-ppt/icons/user_0B5FA4.png">    </p:cNvPr>
          <p:cNvPicPr>
            <a:picLocks noChangeAspect="1"/>
          </p:cNvPicPr>
          <p:nvPr/>
        </p:nvPicPr>
        <p:blipFill>
          <a:blip r:embed="rId9"/>
          <a:stretch>
            <a:fillRect/>
          </a:stretch>
        </p:blipFill>
        <p:spPr>
          <a:xfrm>
            <a:off x="4620006" y="4034790"/>
            <a:ext cx="251460" cy="251460"/>
          </a:xfrm>
          <a:prstGeom prst="rect">
            <a:avLst/>
          </a:prstGeom>
        </p:spPr>
      </p:pic>
      <p:sp>
        <p:nvSpPr>
          <p:cNvPr id="38" name="Text 27"/>
          <p:cNvSpPr/>
          <p:nvPr/>
        </p:nvSpPr>
        <p:spPr>
          <a:xfrm>
            <a:off x="5102352" y="3977640"/>
            <a:ext cx="2523744" cy="274320"/>
          </a:xfrm>
          <a:prstGeom prst="rect">
            <a:avLst/>
          </a:prstGeom>
          <a:noFill/>
          <a:ln/>
        </p:spPr>
        <p:txBody>
          <a:bodyPr wrap="square" lIns="0" tIns="0" rIns="0" bIns="0" rtlCol="0" anchor="ctr"/>
          <a:lstStyle/>
          <a:p>
            <a:pPr indent="0" marL="0">
              <a:buNone/>
            </a:pPr>
            <a:r>
              <a:rPr lang="en-US" sz="1300" b="1" dirty="0">
                <a:solidFill>
                  <a:srgbClr val="17263D"/>
                </a:solidFill>
                <a:latin typeface="Cambria" pitchFamily="34" charset="0"/>
                <a:ea typeface="Cambria" pitchFamily="34" charset="-122"/>
                <a:cs typeface="Cambria" pitchFamily="34" charset="-120"/>
              </a:rPr>
              <a:t>Adam Smith</a:t>
            </a:r>
            <a:endParaRPr lang="en-US" sz="1300" dirty="0"/>
          </a:p>
        </p:txBody>
      </p:sp>
      <p:sp>
        <p:nvSpPr>
          <p:cNvPr id="39" name="Shape 28"/>
          <p:cNvSpPr/>
          <p:nvPr/>
        </p:nvSpPr>
        <p:spPr>
          <a:xfrm>
            <a:off x="5102352" y="4251960"/>
            <a:ext cx="182880" cy="182880"/>
          </a:xfrm>
          <a:prstGeom prst="ellipse">
            <a:avLst/>
          </a:prstGeom>
          <a:solidFill>
            <a:srgbClr val="F6FAFD"/>
          </a:solidFill>
          <a:ln/>
        </p:spPr>
      </p:sp>
      <p:pic>
        <p:nvPicPr>
          <p:cNvPr id="40" name="Image 9" descr="/home/claude/medsev-ppt/icons/star_00B4A6.png">    </p:cNvPr>
          <p:cNvPicPr>
            <a:picLocks noChangeAspect="1"/>
          </p:cNvPicPr>
          <p:nvPr/>
        </p:nvPicPr>
        <p:blipFill>
          <a:blip r:embed="rId10"/>
          <a:stretch>
            <a:fillRect/>
          </a:stretch>
        </p:blipFill>
        <p:spPr>
          <a:xfrm>
            <a:off x="5111496" y="4261104"/>
            <a:ext cx="164592" cy="164592"/>
          </a:xfrm>
          <a:prstGeom prst="rect">
            <a:avLst/>
          </a:prstGeom>
        </p:spPr>
      </p:pic>
      <p:sp>
        <p:nvSpPr>
          <p:cNvPr id="41" name="Shape 29"/>
          <p:cNvSpPr/>
          <p:nvPr/>
        </p:nvSpPr>
        <p:spPr>
          <a:xfrm>
            <a:off x="5321808" y="4251960"/>
            <a:ext cx="182880" cy="182880"/>
          </a:xfrm>
          <a:prstGeom prst="ellipse">
            <a:avLst/>
          </a:prstGeom>
          <a:solidFill>
            <a:srgbClr val="F6FAFD"/>
          </a:solidFill>
          <a:ln/>
        </p:spPr>
      </p:sp>
      <p:pic>
        <p:nvPicPr>
          <p:cNvPr id="42" name="Image 10" descr="/home/claude/medsev-ppt/icons/star_00B4A6.png">    </p:cNvPr>
          <p:cNvPicPr>
            <a:picLocks noChangeAspect="1"/>
          </p:cNvPicPr>
          <p:nvPr/>
        </p:nvPicPr>
        <p:blipFill>
          <a:blip r:embed="rId11"/>
          <a:stretch>
            <a:fillRect/>
          </a:stretch>
        </p:blipFill>
        <p:spPr>
          <a:xfrm>
            <a:off x="5330952" y="4261104"/>
            <a:ext cx="164592" cy="164592"/>
          </a:xfrm>
          <a:prstGeom prst="rect">
            <a:avLst/>
          </a:prstGeom>
        </p:spPr>
      </p:pic>
      <p:sp>
        <p:nvSpPr>
          <p:cNvPr id="43" name="Shape 30"/>
          <p:cNvSpPr/>
          <p:nvPr/>
        </p:nvSpPr>
        <p:spPr>
          <a:xfrm>
            <a:off x="5541264" y="4251960"/>
            <a:ext cx="182880" cy="182880"/>
          </a:xfrm>
          <a:prstGeom prst="ellipse">
            <a:avLst/>
          </a:prstGeom>
          <a:solidFill>
            <a:srgbClr val="F6FAFD"/>
          </a:solidFill>
          <a:ln/>
        </p:spPr>
      </p:sp>
      <p:pic>
        <p:nvPicPr>
          <p:cNvPr id="44" name="Image 11" descr="/home/claude/medsev-ppt/icons/star_00B4A6.png">    </p:cNvPr>
          <p:cNvPicPr>
            <a:picLocks noChangeAspect="1"/>
          </p:cNvPicPr>
          <p:nvPr/>
        </p:nvPicPr>
        <p:blipFill>
          <a:blip r:embed="rId12"/>
          <a:stretch>
            <a:fillRect/>
          </a:stretch>
        </p:blipFill>
        <p:spPr>
          <a:xfrm>
            <a:off x="5550408" y="4261104"/>
            <a:ext cx="164592" cy="164592"/>
          </a:xfrm>
          <a:prstGeom prst="rect">
            <a:avLst/>
          </a:prstGeom>
        </p:spPr>
      </p:pic>
      <p:sp>
        <p:nvSpPr>
          <p:cNvPr id="45" name="Shape 31"/>
          <p:cNvSpPr/>
          <p:nvPr/>
        </p:nvSpPr>
        <p:spPr>
          <a:xfrm>
            <a:off x="5760720" y="4251960"/>
            <a:ext cx="182880" cy="182880"/>
          </a:xfrm>
          <a:prstGeom prst="ellipse">
            <a:avLst/>
          </a:prstGeom>
          <a:solidFill>
            <a:srgbClr val="F6FAFD"/>
          </a:solidFill>
          <a:ln/>
        </p:spPr>
      </p:sp>
      <p:pic>
        <p:nvPicPr>
          <p:cNvPr id="46" name="Image 12" descr="/home/claude/medsev-ppt/icons/star_00B4A6.png">    </p:cNvPr>
          <p:cNvPicPr>
            <a:picLocks noChangeAspect="1"/>
          </p:cNvPicPr>
          <p:nvPr/>
        </p:nvPicPr>
        <p:blipFill>
          <a:blip r:embed="rId13"/>
          <a:stretch>
            <a:fillRect/>
          </a:stretch>
        </p:blipFill>
        <p:spPr>
          <a:xfrm>
            <a:off x="5769864" y="4261104"/>
            <a:ext cx="164592" cy="164592"/>
          </a:xfrm>
          <a:prstGeom prst="rect">
            <a:avLst/>
          </a:prstGeom>
        </p:spPr>
      </p:pic>
      <p:sp>
        <p:nvSpPr>
          <p:cNvPr id="47" name="Shape 32"/>
          <p:cNvSpPr/>
          <p:nvPr/>
        </p:nvSpPr>
        <p:spPr>
          <a:xfrm>
            <a:off x="5980176" y="4251960"/>
            <a:ext cx="182880" cy="182880"/>
          </a:xfrm>
          <a:prstGeom prst="ellipse">
            <a:avLst/>
          </a:prstGeom>
          <a:solidFill>
            <a:srgbClr val="F6FAFD"/>
          </a:solidFill>
          <a:ln/>
        </p:spPr>
      </p:sp>
      <p:pic>
        <p:nvPicPr>
          <p:cNvPr id="48" name="Image 13" descr="/home/claude/medsev-ppt/icons/star_00B4A6.png">    </p:cNvPr>
          <p:cNvPicPr>
            <a:picLocks noChangeAspect="1"/>
          </p:cNvPicPr>
          <p:nvPr/>
        </p:nvPicPr>
        <p:blipFill>
          <a:blip r:embed="rId14"/>
          <a:stretch>
            <a:fillRect/>
          </a:stretch>
        </p:blipFill>
        <p:spPr>
          <a:xfrm>
            <a:off x="5989320" y="4261104"/>
            <a:ext cx="164592" cy="164592"/>
          </a:xfrm>
          <a:prstGeom prst="rect">
            <a:avLst/>
          </a:prstGeom>
        </p:spPr>
      </p:pic>
      <p:sp>
        <p:nvSpPr>
          <p:cNvPr id="49" name="Shape 33"/>
          <p:cNvSpPr/>
          <p:nvPr/>
        </p:nvSpPr>
        <p:spPr>
          <a:xfrm>
            <a:off x="7973568" y="1965960"/>
            <a:ext cx="3529584" cy="2651760"/>
          </a:xfrm>
          <a:prstGeom prst="roundRect">
            <a:avLst>
              <a:gd name="adj" fmla="val 3448"/>
            </a:avLst>
          </a:prstGeom>
          <a:solidFill>
            <a:srgbClr val="F6FAFD"/>
          </a:solidFill>
          <a:ln w="12700">
            <a:solidFill>
              <a:srgbClr val="D6E5F2"/>
            </a:solidFill>
            <a:prstDash val="solid"/>
          </a:ln>
        </p:spPr>
      </p:sp>
      <p:sp>
        <p:nvSpPr>
          <p:cNvPr id="50" name="Shape 34"/>
          <p:cNvSpPr/>
          <p:nvPr/>
        </p:nvSpPr>
        <p:spPr>
          <a:xfrm>
            <a:off x="8229600" y="2221992"/>
            <a:ext cx="502920" cy="502920"/>
          </a:xfrm>
          <a:prstGeom prst="ellipse">
            <a:avLst/>
          </a:prstGeom>
          <a:solidFill>
            <a:srgbClr val="FFFFFF"/>
          </a:solidFill>
          <a:ln/>
        </p:spPr>
      </p:sp>
      <p:pic>
        <p:nvPicPr>
          <p:cNvPr id="51" name="Image 14" descr="/home/claude/medsev-ppt/icons/quote_00B4A6.png">    </p:cNvPr>
          <p:cNvPicPr>
            <a:picLocks noChangeAspect="1"/>
          </p:cNvPicPr>
          <p:nvPr/>
        </p:nvPicPr>
        <p:blipFill>
          <a:blip r:embed="rId15"/>
          <a:stretch>
            <a:fillRect/>
          </a:stretch>
        </p:blipFill>
        <p:spPr>
          <a:xfrm>
            <a:off x="8355330" y="2347722"/>
            <a:ext cx="251460" cy="251460"/>
          </a:xfrm>
          <a:prstGeom prst="rect">
            <a:avLst/>
          </a:prstGeom>
        </p:spPr>
      </p:pic>
      <p:sp>
        <p:nvSpPr>
          <p:cNvPr id="52" name="Shape 35"/>
          <p:cNvSpPr/>
          <p:nvPr/>
        </p:nvSpPr>
        <p:spPr>
          <a:xfrm>
            <a:off x="8229600" y="2926080"/>
            <a:ext cx="3017520" cy="68580"/>
          </a:xfrm>
          <a:prstGeom prst="roundRect">
            <a:avLst>
              <a:gd name="adj" fmla="val 26667"/>
            </a:avLst>
          </a:prstGeom>
          <a:solidFill>
            <a:srgbClr val="D6E5F2"/>
          </a:solidFill>
          <a:ln/>
        </p:spPr>
      </p:sp>
      <p:sp>
        <p:nvSpPr>
          <p:cNvPr id="53" name="Shape 36"/>
          <p:cNvSpPr/>
          <p:nvPr/>
        </p:nvSpPr>
        <p:spPr>
          <a:xfrm>
            <a:off x="8229600" y="3081528"/>
            <a:ext cx="1961388" cy="54864"/>
          </a:xfrm>
          <a:prstGeom prst="roundRect">
            <a:avLst>
              <a:gd name="adj" fmla="val 33333"/>
            </a:avLst>
          </a:prstGeom>
          <a:solidFill>
            <a:srgbClr val="D6E5F2"/>
          </a:solidFill>
          <a:ln/>
        </p:spPr>
      </p:sp>
      <p:sp>
        <p:nvSpPr>
          <p:cNvPr id="54" name="Shape 37"/>
          <p:cNvSpPr/>
          <p:nvPr/>
        </p:nvSpPr>
        <p:spPr>
          <a:xfrm>
            <a:off x="8229600" y="3200400"/>
            <a:ext cx="3017520" cy="68580"/>
          </a:xfrm>
          <a:prstGeom prst="roundRect">
            <a:avLst>
              <a:gd name="adj" fmla="val 26667"/>
            </a:avLst>
          </a:prstGeom>
          <a:solidFill>
            <a:srgbClr val="D6E5F2"/>
          </a:solidFill>
          <a:ln/>
        </p:spPr>
      </p:sp>
      <p:sp>
        <p:nvSpPr>
          <p:cNvPr id="55" name="Shape 38"/>
          <p:cNvSpPr/>
          <p:nvPr/>
        </p:nvSpPr>
        <p:spPr>
          <a:xfrm>
            <a:off x="8229600" y="3355848"/>
            <a:ext cx="1961388" cy="54864"/>
          </a:xfrm>
          <a:prstGeom prst="roundRect">
            <a:avLst>
              <a:gd name="adj" fmla="val 33333"/>
            </a:avLst>
          </a:prstGeom>
          <a:solidFill>
            <a:srgbClr val="D6E5F2"/>
          </a:solidFill>
          <a:ln/>
        </p:spPr>
      </p:sp>
      <p:sp>
        <p:nvSpPr>
          <p:cNvPr id="56" name="Shape 39"/>
          <p:cNvSpPr/>
          <p:nvPr/>
        </p:nvSpPr>
        <p:spPr>
          <a:xfrm>
            <a:off x="8229600" y="3474720"/>
            <a:ext cx="1810512" cy="68580"/>
          </a:xfrm>
          <a:prstGeom prst="roundRect">
            <a:avLst>
              <a:gd name="adj" fmla="val 26667"/>
            </a:avLst>
          </a:prstGeom>
          <a:solidFill>
            <a:srgbClr val="D6E5F2"/>
          </a:solidFill>
          <a:ln/>
        </p:spPr>
      </p:sp>
      <p:sp>
        <p:nvSpPr>
          <p:cNvPr id="57" name="Shape 40"/>
          <p:cNvSpPr/>
          <p:nvPr/>
        </p:nvSpPr>
        <p:spPr>
          <a:xfrm>
            <a:off x="8229600" y="3630168"/>
            <a:ext cx="1176833" cy="54864"/>
          </a:xfrm>
          <a:prstGeom prst="roundRect">
            <a:avLst>
              <a:gd name="adj" fmla="val 33333"/>
            </a:avLst>
          </a:prstGeom>
          <a:solidFill>
            <a:srgbClr val="D6E5F2"/>
          </a:solidFill>
          <a:ln/>
        </p:spPr>
      </p:sp>
      <p:sp>
        <p:nvSpPr>
          <p:cNvPr id="58" name="Shape 41"/>
          <p:cNvSpPr/>
          <p:nvPr/>
        </p:nvSpPr>
        <p:spPr>
          <a:xfrm>
            <a:off x="8229600" y="3931920"/>
            <a:ext cx="457200" cy="457200"/>
          </a:xfrm>
          <a:prstGeom prst="ellipse">
            <a:avLst/>
          </a:prstGeom>
          <a:solidFill>
            <a:srgbClr val="FFFFFF"/>
          </a:solidFill>
          <a:ln/>
        </p:spPr>
      </p:sp>
      <p:pic>
        <p:nvPicPr>
          <p:cNvPr id="59" name="Image 15" descr="/home/claude/medsev-ppt/icons/user_0B5FA4.png">    </p:cNvPr>
          <p:cNvPicPr>
            <a:picLocks noChangeAspect="1"/>
          </p:cNvPicPr>
          <p:nvPr/>
        </p:nvPicPr>
        <p:blipFill>
          <a:blip r:embed="rId16"/>
          <a:stretch>
            <a:fillRect/>
          </a:stretch>
        </p:blipFill>
        <p:spPr>
          <a:xfrm>
            <a:off x="8332470" y="4034790"/>
            <a:ext cx="251460" cy="251460"/>
          </a:xfrm>
          <a:prstGeom prst="rect">
            <a:avLst/>
          </a:prstGeom>
        </p:spPr>
      </p:pic>
      <p:sp>
        <p:nvSpPr>
          <p:cNvPr id="60" name="Text 42"/>
          <p:cNvSpPr/>
          <p:nvPr/>
        </p:nvSpPr>
        <p:spPr>
          <a:xfrm>
            <a:off x="8814816" y="3977640"/>
            <a:ext cx="2523744" cy="274320"/>
          </a:xfrm>
          <a:prstGeom prst="rect">
            <a:avLst/>
          </a:prstGeom>
          <a:noFill/>
          <a:ln/>
        </p:spPr>
        <p:txBody>
          <a:bodyPr wrap="square" lIns="0" tIns="0" rIns="0" bIns="0" rtlCol="0" anchor="ctr"/>
          <a:lstStyle/>
          <a:p>
            <a:pPr indent="0" marL="0">
              <a:buNone/>
            </a:pPr>
            <a:r>
              <a:rPr lang="en-US" sz="1300" b="1" dirty="0">
                <a:solidFill>
                  <a:srgbClr val="17263D"/>
                </a:solidFill>
                <a:latin typeface="Cambria" pitchFamily="34" charset="0"/>
                <a:ea typeface="Cambria" pitchFamily="34" charset="-122"/>
                <a:cs typeface="Cambria" pitchFamily="34" charset="-120"/>
              </a:rPr>
              <a:t>Jac Jacson</a:t>
            </a:r>
            <a:endParaRPr lang="en-US" sz="1300" dirty="0"/>
          </a:p>
        </p:txBody>
      </p:sp>
      <p:sp>
        <p:nvSpPr>
          <p:cNvPr id="61" name="Shape 43"/>
          <p:cNvSpPr/>
          <p:nvPr/>
        </p:nvSpPr>
        <p:spPr>
          <a:xfrm>
            <a:off x="8814816" y="4251960"/>
            <a:ext cx="182880" cy="182880"/>
          </a:xfrm>
          <a:prstGeom prst="ellipse">
            <a:avLst/>
          </a:prstGeom>
          <a:solidFill>
            <a:srgbClr val="F6FAFD"/>
          </a:solidFill>
          <a:ln/>
        </p:spPr>
      </p:sp>
      <p:pic>
        <p:nvPicPr>
          <p:cNvPr id="62" name="Image 16" descr="/home/claude/medsev-ppt/icons/star_00B4A6.png">    </p:cNvPr>
          <p:cNvPicPr>
            <a:picLocks noChangeAspect="1"/>
          </p:cNvPicPr>
          <p:nvPr/>
        </p:nvPicPr>
        <p:blipFill>
          <a:blip r:embed="rId17"/>
          <a:stretch>
            <a:fillRect/>
          </a:stretch>
        </p:blipFill>
        <p:spPr>
          <a:xfrm>
            <a:off x="8823960" y="4261104"/>
            <a:ext cx="164592" cy="164592"/>
          </a:xfrm>
          <a:prstGeom prst="rect">
            <a:avLst/>
          </a:prstGeom>
        </p:spPr>
      </p:pic>
      <p:sp>
        <p:nvSpPr>
          <p:cNvPr id="63" name="Shape 44"/>
          <p:cNvSpPr/>
          <p:nvPr/>
        </p:nvSpPr>
        <p:spPr>
          <a:xfrm>
            <a:off x="9034272" y="4251960"/>
            <a:ext cx="182880" cy="182880"/>
          </a:xfrm>
          <a:prstGeom prst="ellipse">
            <a:avLst/>
          </a:prstGeom>
          <a:solidFill>
            <a:srgbClr val="F6FAFD"/>
          </a:solidFill>
          <a:ln/>
        </p:spPr>
      </p:sp>
      <p:pic>
        <p:nvPicPr>
          <p:cNvPr id="64" name="Image 17" descr="/home/claude/medsev-ppt/icons/star_00B4A6.png">    </p:cNvPr>
          <p:cNvPicPr>
            <a:picLocks noChangeAspect="1"/>
          </p:cNvPicPr>
          <p:nvPr/>
        </p:nvPicPr>
        <p:blipFill>
          <a:blip r:embed="rId18"/>
          <a:stretch>
            <a:fillRect/>
          </a:stretch>
        </p:blipFill>
        <p:spPr>
          <a:xfrm>
            <a:off x="9043416" y="4261104"/>
            <a:ext cx="164592" cy="164592"/>
          </a:xfrm>
          <a:prstGeom prst="rect">
            <a:avLst/>
          </a:prstGeom>
        </p:spPr>
      </p:pic>
      <p:sp>
        <p:nvSpPr>
          <p:cNvPr id="65" name="Shape 45"/>
          <p:cNvSpPr/>
          <p:nvPr/>
        </p:nvSpPr>
        <p:spPr>
          <a:xfrm>
            <a:off x="9253728" y="4251960"/>
            <a:ext cx="182880" cy="182880"/>
          </a:xfrm>
          <a:prstGeom prst="ellipse">
            <a:avLst/>
          </a:prstGeom>
          <a:solidFill>
            <a:srgbClr val="F6FAFD"/>
          </a:solidFill>
          <a:ln/>
        </p:spPr>
      </p:sp>
      <p:pic>
        <p:nvPicPr>
          <p:cNvPr id="66" name="Image 18" descr="/home/claude/medsev-ppt/icons/star_00B4A6.png">    </p:cNvPr>
          <p:cNvPicPr>
            <a:picLocks noChangeAspect="1"/>
          </p:cNvPicPr>
          <p:nvPr/>
        </p:nvPicPr>
        <p:blipFill>
          <a:blip r:embed="rId19"/>
          <a:stretch>
            <a:fillRect/>
          </a:stretch>
        </p:blipFill>
        <p:spPr>
          <a:xfrm>
            <a:off x="9262872" y="4261104"/>
            <a:ext cx="164592" cy="164592"/>
          </a:xfrm>
          <a:prstGeom prst="rect">
            <a:avLst/>
          </a:prstGeom>
        </p:spPr>
      </p:pic>
      <p:sp>
        <p:nvSpPr>
          <p:cNvPr id="67" name="Shape 46"/>
          <p:cNvSpPr/>
          <p:nvPr/>
        </p:nvSpPr>
        <p:spPr>
          <a:xfrm>
            <a:off x="9473184" y="4251960"/>
            <a:ext cx="182880" cy="182880"/>
          </a:xfrm>
          <a:prstGeom prst="ellipse">
            <a:avLst/>
          </a:prstGeom>
          <a:solidFill>
            <a:srgbClr val="F6FAFD"/>
          </a:solidFill>
          <a:ln/>
        </p:spPr>
      </p:sp>
      <p:pic>
        <p:nvPicPr>
          <p:cNvPr id="68" name="Image 19" descr="/home/claude/medsev-ppt/icons/star_00B4A6.png">    </p:cNvPr>
          <p:cNvPicPr>
            <a:picLocks noChangeAspect="1"/>
          </p:cNvPicPr>
          <p:nvPr/>
        </p:nvPicPr>
        <p:blipFill>
          <a:blip r:embed="rId20"/>
          <a:stretch>
            <a:fillRect/>
          </a:stretch>
        </p:blipFill>
        <p:spPr>
          <a:xfrm>
            <a:off x="9482328" y="4261104"/>
            <a:ext cx="164592" cy="164592"/>
          </a:xfrm>
          <a:prstGeom prst="rect">
            <a:avLst/>
          </a:prstGeom>
        </p:spPr>
      </p:pic>
      <p:sp>
        <p:nvSpPr>
          <p:cNvPr id="69" name="Shape 47"/>
          <p:cNvSpPr/>
          <p:nvPr/>
        </p:nvSpPr>
        <p:spPr>
          <a:xfrm>
            <a:off x="9692640" y="4251960"/>
            <a:ext cx="182880" cy="182880"/>
          </a:xfrm>
          <a:prstGeom prst="ellipse">
            <a:avLst/>
          </a:prstGeom>
          <a:solidFill>
            <a:srgbClr val="F6FAFD"/>
          </a:solidFill>
          <a:ln/>
        </p:spPr>
      </p:sp>
      <p:pic>
        <p:nvPicPr>
          <p:cNvPr id="70" name="Image 20" descr="/home/claude/medsev-ppt/icons/star_00B4A6.png">    </p:cNvPr>
          <p:cNvPicPr>
            <a:picLocks noChangeAspect="1"/>
          </p:cNvPicPr>
          <p:nvPr/>
        </p:nvPicPr>
        <p:blipFill>
          <a:blip r:embed="rId21"/>
          <a:stretch>
            <a:fillRect/>
          </a:stretch>
        </p:blipFill>
        <p:spPr>
          <a:xfrm>
            <a:off x="9701784" y="4261104"/>
            <a:ext cx="164592" cy="164592"/>
          </a:xfrm>
          <a:prstGeom prst="rect">
            <a:avLst/>
          </a:prstGeom>
        </p:spPr>
      </p:pic>
      <p:sp>
        <p:nvSpPr>
          <p:cNvPr id="71" name="Shape 48"/>
          <p:cNvSpPr/>
          <p:nvPr/>
        </p:nvSpPr>
        <p:spPr>
          <a:xfrm>
            <a:off x="548640" y="4937760"/>
            <a:ext cx="11064240" cy="960120"/>
          </a:xfrm>
          <a:prstGeom prst="roundRect">
            <a:avLst>
              <a:gd name="adj" fmla="val 9524"/>
            </a:avLst>
          </a:prstGeom>
          <a:solidFill>
            <a:srgbClr val="EAF3FB"/>
          </a:solidFill>
          <a:ln/>
        </p:spPr>
      </p:sp>
      <p:sp>
        <p:nvSpPr>
          <p:cNvPr id="72" name="Text 49"/>
          <p:cNvSpPr/>
          <p:nvPr/>
        </p:nvSpPr>
        <p:spPr>
          <a:xfrm>
            <a:off x="822960" y="4937760"/>
            <a:ext cx="10515600" cy="960120"/>
          </a:xfrm>
          <a:prstGeom prst="rect">
            <a:avLst/>
          </a:prstGeom>
          <a:noFill/>
          <a:ln/>
        </p:spPr>
        <p:txBody>
          <a:bodyPr wrap="square" lIns="0" tIns="0" rIns="0" bIns="0" rtlCol="0" anchor="ctr"/>
          <a:lstStyle/>
          <a:p>
            <a:pPr indent="0" marL="0">
              <a:buNone/>
            </a:pPr>
            <a:r>
              <a:rPr lang="en-US" sz="1150" i="1" dirty="0">
                <a:solidFill>
                  <a:srgbClr val="17263D"/>
                </a:solidFill>
                <a:latin typeface="Calibri" pitchFamily="34" charset="0"/>
                <a:ea typeface="Calibri" pitchFamily="34" charset="-122"/>
                <a:cs typeface="Calibri" pitchFamily="34" charset="-120"/>
              </a:rPr>
              <a:t>Real quotes, star ratings, and named patients turn an abstract promise ("we provide great care") into evidence a new visitor can actually evaluate — the same reason product reviews work in e-commerce.</a:t>
            </a:r>
            <a:endParaRPr lang="en-US" sz="1150" dirty="0"/>
          </a:p>
        </p:txBody>
      </p:sp>
      <p:sp>
        <p:nvSpPr>
          <p:cNvPr id="73" name="Text 50"/>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74" name="Text 51"/>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Testimonials</a:t>
            </a:r>
            <a:endParaRPr lang="en-US" sz="900" dirty="0"/>
          </a:p>
        </p:txBody>
      </p:sp>
      <p:sp>
        <p:nvSpPr>
          <p:cNvPr id="75" name="Text 52"/>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12 / 23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PAGE WALKTHROUGH · 10</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Blog</a:t>
            </a:r>
            <a:endParaRPr lang="en-US" sz="3000" dirty="0"/>
          </a:p>
        </p:txBody>
      </p:sp>
      <p:sp>
        <p:nvSpPr>
          <p:cNvPr id="4" name="Text 2"/>
          <p:cNvSpPr/>
          <p:nvPr/>
        </p:nvSpPr>
        <p:spPr>
          <a:xfrm>
            <a:off x="548640" y="1371600"/>
            <a:ext cx="9144000" cy="365760"/>
          </a:xfrm>
          <a:prstGeom prst="rect">
            <a:avLst/>
          </a:prstGeom>
          <a:noFill/>
          <a:ln/>
        </p:spPr>
        <p:txBody>
          <a:bodyPr wrap="square" lIns="0" tIns="0" rIns="0" bIns="0" rtlCol="0" anchor="ctr"/>
          <a:lstStyle/>
          <a:p>
            <a:pPr indent="0" marL="0">
              <a:buNone/>
            </a:pPr>
            <a:r>
              <a:rPr lang="en-US" sz="1300" dirty="0">
                <a:solidFill>
                  <a:srgbClr val="55677E"/>
                </a:solidFill>
                <a:latin typeface="Calibri" pitchFamily="34" charset="0"/>
                <a:ea typeface="Calibri" pitchFamily="34" charset="-122"/>
                <a:cs typeface="Calibri" pitchFamily="34" charset="-120"/>
              </a:rPr>
              <a:t>Health awareness content that keeps visitors returning</a:t>
            </a:r>
            <a:endParaRPr lang="en-US" sz="1300" dirty="0"/>
          </a:p>
        </p:txBody>
      </p:sp>
      <p:sp>
        <p:nvSpPr>
          <p:cNvPr id="5" name="Shape 3"/>
          <p:cNvSpPr/>
          <p:nvPr/>
        </p:nvSpPr>
        <p:spPr>
          <a:xfrm>
            <a:off x="548640" y="1965960"/>
            <a:ext cx="3529584" cy="2834640"/>
          </a:xfrm>
          <a:prstGeom prst="roundRect">
            <a:avLst>
              <a:gd name="adj" fmla="val 3226"/>
            </a:avLst>
          </a:prstGeom>
          <a:solidFill>
            <a:srgbClr val="F6FAFD"/>
          </a:solidFill>
          <a:ln w="12700">
            <a:solidFill>
              <a:srgbClr val="D6E5F2"/>
            </a:solidFill>
            <a:prstDash val="solid"/>
          </a:ln>
        </p:spPr>
      </p:sp>
      <p:sp>
        <p:nvSpPr>
          <p:cNvPr id="6" name="Shape 4"/>
          <p:cNvSpPr/>
          <p:nvPr/>
        </p:nvSpPr>
        <p:spPr>
          <a:xfrm>
            <a:off x="685800" y="2103120"/>
            <a:ext cx="3255264" cy="1188720"/>
          </a:xfrm>
          <a:prstGeom prst="roundRect">
            <a:avLst>
              <a:gd name="adj" fmla="val 4615"/>
            </a:avLst>
          </a:prstGeom>
          <a:solidFill>
            <a:srgbClr val="EAF3FB"/>
          </a:solidFill>
          <a:ln/>
        </p:spPr>
      </p:sp>
      <p:sp>
        <p:nvSpPr>
          <p:cNvPr id="7" name="Shape 5"/>
          <p:cNvSpPr/>
          <p:nvPr/>
        </p:nvSpPr>
        <p:spPr>
          <a:xfrm>
            <a:off x="1993392" y="2468880"/>
            <a:ext cx="640080" cy="640080"/>
          </a:xfrm>
          <a:prstGeom prst="ellipse">
            <a:avLst/>
          </a:prstGeom>
          <a:solidFill>
            <a:srgbClr val="FFFFFF"/>
          </a:solidFill>
          <a:ln/>
        </p:spPr>
      </p:sp>
      <p:pic>
        <p:nvPicPr>
          <p:cNvPr id="8" name="Image 0" descr="/home/claude/medsev-ppt/icons/blog_0B5FA4.png">    </p:cNvPr>
          <p:cNvPicPr>
            <a:picLocks noChangeAspect="1"/>
          </p:cNvPicPr>
          <p:nvPr/>
        </p:nvPicPr>
        <p:blipFill>
          <a:blip r:embed="rId1"/>
          <a:stretch>
            <a:fillRect/>
          </a:stretch>
        </p:blipFill>
        <p:spPr>
          <a:xfrm>
            <a:off x="2153412" y="2628900"/>
            <a:ext cx="320040" cy="320040"/>
          </a:xfrm>
          <a:prstGeom prst="rect">
            <a:avLst/>
          </a:prstGeom>
        </p:spPr>
      </p:pic>
      <p:sp>
        <p:nvSpPr>
          <p:cNvPr id="9" name="Text 6"/>
          <p:cNvSpPr/>
          <p:nvPr/>
        </p:nvSpPr>
        <p:spPr>
          <a:xfrm>
            <a:off x="731520" y="3410712"/>
            <a:ext cx="3163824" cy="201168"/>
          </a:xfrm>
          <a:prstGeom prst="rect">
            <a:avLst/>
          </a:prstGeom>
          <a:noFill/>
          <a:ln/>
        </p:spPr>
        <p:txBody>
          <a:bodyPr wrap="square" lIns="0" tIns="0" rIns="0" bIns="0" rtlCol="0" anchor="ctr"/>
          <a:lstStyle/>
          <a:p>
            <a:pPr indent="0" marL="0">
              <a:buNone/>
            </a:pPr>
            <a:r>
              <a:rPr lang="en-US" sz="850" b="1" dirty="0">
                <a:solidFill>
                  <a:srgbClr val="00B4A6"/>
                </a:solidFill>
                <a:latin typeface="Calibri" pitchFamily="34" charset="0"/>
                <a:ea typeface="Calibri" pitchFamily="34" charset="-122"/>
                <a:cs typeface="Calibri" pitchFamily="34" charset="-120"/>
              </a:rPr>
              <a:t>Jan 03, 2024</a:t>
            </a:r>
            <a:endParaRPr lang="en-US" sz="850" dirty="0"/>
          </a:p>
        </p:txBody>
      </p:sp>
      <p:sp>
        <p:nvSpPr>
          <p:cNvPr id="10" name="Text 7"/>
          <p:cNvSpPr/>
          <p:nvPr/>
        </p:nvSpPr>
        <p:spPr>
          <a:xfrm>
            <a:off x="731520" y="3630168"/>
            <a:ext cx="3163824" cy="594360"/>
          </a:xfrm>
          <a:prstGeom prst="rect">
            <a:avLst/>
          </a:prstGeom>
          <a:noFill/>
          <a:ln/>
        </p:spPr>
        <p:txBody>
          <a:bodyPr wrap="square" lIns="0" tIns="0" rIns="0" bIns="0" rtlCol="0" anchor="ctr"/>
          <a:lstStyle/>
          <a:p>
            <a:pPr indent="0" marL="0">
              <a:lnSpc>
                <a:spcPct val="110000"/>
              </a:lnSpc>
              <a:buNone/>
            </a:pPr>
            <a:r>
              <a:rPr lang="en-US" sz="1200" b="1" dirty="0">
                <a:solidFill>
                  <a:srgbClr val="17263D"/>
                </a:solidFill>
                <a:latin typeface="Cambria" pitchFamily="34" charset="0"/>
                <a:ea typeface="Cambria" pitchFamily="34" charset="-122"/>
                <a:cs typeface="Cambria" pitchFamily="34" charset="-120"/>
              </a:rPr>
              <a:t>In this hospital there are special surgeons</a:t>
            </a:r>
            <a:endParaRPr lang="en-US" sz="1200" dirty="0"/>
          </a:p>
        </p:txBody>
      </p:sp>
      <p:sp>
        <p:nvSpPr>
          <p:cNvPr id="11" name="Shape 8"/>
          <p:cNvSpPr/>
          <p:nvPr/>
        </p:nvSpPr>
        <p:spPr>
          <a:xfrm>
            <a:off x="731520" y="4343400"/>
            <a:ext cx="1188720" cy="274320"/>
          </a:xfrm>
          <a:prstGeom prst="roundRect">
            <a:avLst>
              <a:gd name="adj" fmla="val 50000"/>
            </a:avLst>
          </a:prstGeom>
          <a:solidFill>
            <a:srgbClr val="FFFFFF"/>
          </a:solidFill>
          <a:ln/>
        </p:spPr>
      </p:sp>
      <p:sp>
        <p:nvSpPr>
          <p:cNvPr id="12" name="Text 9"/>
          <p:cNvSpPr/>
          <p:nvPr/>
        </p:nvSpPr>
        <p:spPr>
          <a:xfrm>
            <a:off x="731520" y="4343400"/>
            <a:ext cx="1188720" cy="274320"/>
          </a:xfrm>
          <a:prstGeom prst="rect">
            <a:avLst/>
          </a:prstGeom>
          <a:noFill/>
          <a:ln/>
        </p:spPr>
        <p:txBody>
          <a:bodyPr wrap="square" lIns="0" tIns="0" rIns="0" bIns="0" rtlCol="0" anchor="ctr"/>
          <a:lstStyle/>
          <a:p>
            <a:pPr algn="ctr" indent="0" marL="0">
              <a:buNone/>
            </a:pPr>
            <a:r>
              <a:rPr lang="en-US" sz="900" b="1" dirty="0">
                <a:solidFill>
                  <a:srgbClr val="0B5FA4"/>
                </a:solidFill>
                <a:latin typeface="Calibri" pitchFamily="34" charset="0"/>
                <a:ea typeface="Calibri" pitchFamily="34" charset="-122"/>
                <a:cs typeface="Calibri" pitchFamily="34" charset="-120"/>
              </a:rPr>
              <a:t>Read More</a:t>
            </a:r>
            <a:endParaRPr lang="en-US" sz="900" dirty="0"/>
          </a:p>
        </p:txBody>
      </p:sp>
      <p:sp>
        <p:nvSpPr>
          <p:cNvPr id="13" name="Shape 10"/>
          <p:cNvSpPr/>
          <p:nvPr/>
        </p:nvSpPr>
        <p:spPr>
          <a:xfrm>
            <a:off x="4261104" y="1965960"/>
            <a:ext cx="3529584" cy="2834640"/>
          </a:xfrm>
          <a:prstGeom prst="roundRect">
            <a:avLst>
              <a:gd name="adj" fmla="val 3226"/>
            </a:avLst>
          </a:prstGeom>
          <a:solidFill>
            <a:srgbClr val="F6FAFD"/>
          </a:solidFill>
          <a:ln w="12700">
            <a:solidFill>
              <a:srgbClr val="D6E5F2"/>
            </a:solidFill>
            <a:prstDash val="solid"/>
          </a:ln>
        </p:spPr>
      </p:sp>
      <p:sp>
        <p:nvSpPr>
          <p:cNvPr id="14" name="Shape 11"/>
          <p:cNvSpPr/>
          <p:nvPr/>
        </p:nvSpPr>
        <p:spPr>
          <a:xfrm>
            <a:off x="4398264" y="2103120"/>
            <a:ext cx="3255264" cy="1188720"/>
          </a:xfrm>
          <a:prstGeom prst="roundRect">
            <a:avLst>
              <a:gd name="adj" fmla="val 4615"/>
            </a:avLst>
          </a:prstGeom>
          <a:solidFill>
            <a:srgbClr val="EAF3FB"/>
          </a:solidFill>
          <a:ln/>
        </p:spPr>
      </p:sp>
      <p:sp>
        <p:nvSpPr>
          <p:cNvPr id="15" name="Shape 12"/>
          <p:cNvSpPr/>
          <p:nvPr/>
        </p:nvSpPr>
        <p:spPr>
          <a:xfrm>
            <a:off x="5705856" y="2468880"/>
            <a:ext cx="640080" cy="640080"/>
          </a:xfrm>
          <a:prstGeom prst="ellipse">
            <a:avLst/>
          </a:prstGeom>
          <a:solidFill>
            <a:srgbClr val="FFFFFF"/>
          </a:solidFill>
          <a:ln/>
        </p:spPr>
      </p:sp>
      <p:pic>
        <p:nvPicPr>
          <p:cNvPr id="16" name="Image 1" descr="/home/claude/medsev-ppt/icons/blog_0B5FA4.png">    </p:cNvPr>
          <p:cNvPicPr>
            <a:picLocks noChangeAspect="1"/>
          </p:cNvPicPr>
          <p:nvPr/>
        </p:nvPicPr>
        <p:blipFill>
          <a:blip r:embed="rId2"/>
          <a:stretch>
            <a:fillRect/>
          </a:stretch>
        </p:blipFill>
        <p:spPr>
          <a:xfrm>
            <a:off x="5865876" y="2628900"/>
            <a:ext cx="320040" cy="320040"/>
          </a:xfrm>
          <a:prstGeom prst="rect">
            <a:avLst/>
          </a:prstGeom>
        </p:spPr>
      </p:pic>
      <p:sp>
        <p:nvSpPr>
          <p:cNvPr id="17" name="Text 13"/>
          <p:cNvSpPr/>
          <p:nvPr/>
        </p:nvSpPr>
        <p:spPr>
          <a:xfrm>
            <a:off x="4443984" y="3410712"/>
            <a:ext cx="3163824" cy="201168"/>
          </a:xfrm>
          <a:prstGeom prst="rect">
            <a:avLst/>
          </a:prstGeom>
          <a:noFill/>
          <a:ln/>
        </p:spPr>
        <p:txBody>
          <a:bodyPr wrap="square" lIns="0" tIns="0" rIns="0" bIns="0" rtlCol="0" anchor="ctr"/>
          <a:lstStyle/>
          <a:p>
            <a:pPr indent="0" marL="0">
              <a:buNone/>
            </a:pPr>
            <a:r>
              <a:rPr lang="en-US" sz="850" b="1" dirty="0">
                <a:solidFill>
                  <a:srgbClr val="00B4A6"/>
                </a:solidFill>
                <a:latin typeface="Calibri" pitchFamily="34" charset="0"/>
                <a:ea typeface="Calibri" pitchFamily="34" charset="-122"/>
                <a:cs typeface="Calibri" pitchFamily="34" charset="-120"/>
              </a:rPr>
              <a:t>Jan 03, 2024</a:t>
            </a:r>
            <a:endParaRPr lang="en-US" sz="850" dirty="0"/>
          </a:p>
        </p:txBody>
      </p:sp>
      <p:sp>
        <p:nvSpPr>
          <p:cNvPr id="18" name="Text 14"/>
          <p:cNvSpPr/>
          <p:nvPr/>
        </p:nvSpPr>
        <p:spPr>
          <a:xfrm>
            <a:off x="4443984" y="3630168"/>
            <a:ext cx="3163824" cy="594360"/>
          </a:xfrm>
          <a:prstGeom prst="rect">
            <a:avLst/>
          </a:prstGeom>
          <a:noFill/>
          <a:ln/>
        </p:spPr>
        <p:txBody>
          <a:bodyPr wrap="square" lIns="0" tIns="0" rIns="0" bIns="0" rtlCol="0" anchor="ctr"/>
          <a:lstStyle/>
          <a:p>
            <a:pPr indent="0" marL="0">
              <a:lnSpc>
                <a:spcPct val="110000"/>
              </a:lnSpc>
              <a:buNone/>
            </a:pPr>
            <a:r>
              <a:rPr lang="en-US" sz="1200" b="1" dirty="0">
                <a:solidFill>
                  <a:srgbClr val="17263D"/>
                </a:solidFill>
                <a:latin typeface="Cambria" pitchFamily="34" charset="0"/>
                <a:ea typeface="Cambria" pitchFamily="34" charset="-122"/>
                <a:cs typeface="Cambria" pitchFamily="34" charset="-120"/>
              </a:rPr>
              <a:t>World AIDS Day, designated on 1 December</a:t>
            </a:r>
            <a:endParaRPr lang="en-US" sz="1200" dirty="0"/>
          </a:p>
        </p:txBody>
      </p:sp>
      <p:sp>
        <p:nvSpPr>
          <p:cNvPr id="19" name="Shape 15"/>
          <p:cNvSpPr/>
          <p:nvPr/>
        </p:nvSpPr>
        <p:spPr>
          <a:xfrm>
            <a:off x="4443984" y="4343400"/>
            <a:ext cx="1188720" cy="274320"/>
          </a:xfrm>
          <a:prstGeom prst="roundRect">
            <a:avLst>
              <a:gd name="adj" fmla="val 50000"/>
            </a:avLst>
          </a:prstGeom>
          <a:solidFill>
            <a:srgbClr val="FFFFFF"/>
          </a:solidFill>
          <a:ln/>
        </p:spPr>
      </p:sp>
      <p:sp>
        <p:nvSpPr>
          <p:cNvPr id="20" name="Text 16"/>
          <p:cNvSpPr/>
          <p:nvPr/>
        </p:nvSpPr>
        <p:spPr>
          <a:xfrm>
            <a:off x="4443984" y="4343400"/>
            <a:ext cx="1188720" cy="274320"/>
          </a:xfrm>
          <a:prstGeom prst="rect">
            <a:avLst/>
          </a:prstGeom>
          <a:noFill/>
          <a:ln/>
        </p:spPr>
        <p:txBody>
          <a:bodyPr wrap="square" lIns="0" tIns="0" rIns="0" bIns="0" rtlCol="0" anchor="ctr"/>
          <a:lstStyle/>
          <a:p>
            <a:pPr algn="ctr" indent="0" marL="0">
              <a:buNone/>
            </a:pPr>
            <a:r>
              <a:rPr lang="en-US" sz="900" b="1" dirty="0">
                <a:solidFill>
                  <a:srgbClr val="0B5FA4"/>
                </a:solidFill>
                <a:latin typeface="Calibri" pitchFamily="34" charset="0"/>
                <a:ea typeface="Calibri" pitchFamily="34" charset="-122"/>
                <a:cs typeface="Calibri" pitchFamily="34" charset="-120"/>
              </a:rPr>
              <a:t>Read More</a:t>
            </a:r>
            <a:endParaRPr lang="en-US" sz="900" dirty="0"/>
          </a:p>
        </p:txBody>
      </p:sp>
      <p:sp>
        <p:nvSpPr>
          <p:cNvPr id="21" name="Shape 17"/>
          <p:cNvSpPr/>
          <p:nvPr/>
        </p:nvSpPr>
        <p:spPr>
          <a:xfrm>
            <a:off x="7973568" y="1965960"/>
            <a:ext cx="3529584" cy="2834640"/>
          </a:xfrm>
          <a:prstGeom prst="roundRect">
            <a:avLst>
              <a:gd name="adj" fmla="val 3226"/>
            </a:avLst>
          </a:prstGeom>
          <a:solidFill>
            <a:srgbClr val="F6FAFD"/>
          </a:solidFill>
          <a:ln w="12700">
            <a:solidFill>
              <a:srgbClr val="D6E5F2"/>
            </a:solidFill>
            <a:prstDash val="solid"/>
          </a:ln>
        </p:spPr>
      </p:sp>
      <p:sp>
        <p:nvSpPr>
          <p:cNvPr id="22" name="Shape 18"/>
          <p:cNvSpPr/>
          <p:nvPr/>
        </p:nvSpPr>
        <p:spPr>
          <a:xfrm>
            <a:off x="8110728" y="2103120"/>
            <a:ext cx="3255264" cy="1188720"/>
          </a:xfrm>
          <a:prstGeom prst="roundRect">
            <a:avLst>
              <a:gd name="adj" fmla="val 4615"/>
            </a:avLst>
          </a:prstGeom>
          <a:solidFill>
            <a:srgbClr val="EAF3FB"/>
          </a:solidFill>
          <a:ln/>
        </p:spPr>
      </p:sp>
      <p:sp>
        <p:nvSpPr>
          <p:cNvPr id="23" name="Shape 19"/>
          <p:cNvSpPr/>
          <p:nvPr/>
        </p:nvSpPr>
        <p:spPr>
          <a:xfrm>
            <a:off x="9418320" y="2468880"/>
            <a:ext cx="640080" cy="640080"/>
          </a:xfrm>
          <a:prstGeom prst="ellipse">
            <a:avLst/>
          </a:prstGeom>
          <a:solidFill>
            <a:srgbClr val="FFFFFF"/>
          </a:solidFill>
          <a:ln/>
        </p:spPr>
      </p:sp>
      <p:pic>
        <p:nvPicPr>
          <p:cNvPr id="24" name="Image 2" descr="/home/claude/medsev-ppt/icons/blog_0B5FA4.png">    </p:cNvPr>
          <p:cNvPicPr>
            <a:picLocks noChangeAspect="1"/>
          </p:cNvPicPr>
          <p:nvPr/>
        </p:nvPicPr>
        <p:blipFill>
          <a:blip r:embed="rId3"/>
          <a:stretch>
            <a:fillRect/>
          </a:stretch>
        </p:blipFill>
        <p:spPr>
          <a:xfrm>
            <a:off x="9578340" y="2628900"/>
            <a:ext cx="320040" cy="320040"/>
          </a:xfrm>
          <a:prstGeom prst="rect">
            <a:avLst/>
          </a:prstGeom>
        </p:spPr>
      </p:pic>
      <p:sp>
        <p:nvSpPr>
          <p:cNvPr id="25" name="Text 20"/>
          <p:cNvSpPr/>
          <p:nvPr/>
        </p:nvSpPr>
        <p:spPr>
          <a:xfrm>
            <a:off x="8156448" y="3410712"/>
            <a:ext cx="3163824" cy="201168"/>
          </a:xfrm>
          <a:prstGeom prst="rect">
            <a:avLst/>
          </a:prstGeom>
          <a:noFill/>
          <a:ln/>
        </p:spPr>
        <p:txBody>
          <a:bodyPr wrap="square" lIns="0" tIns="0" rIns="0" bIns="0" rtlCol="0" anchor="ctr"/>
          <a:lstStyle/>
          <a:p>
            <a:pPr indent="0" marL="0">
              <a:buNone/>
            </a:pPr>
            <a:r>
              <a:rPr lang="en-US" sz="850" b="1" dirty="0">
                <a:solidFill>
                  <a:srgbClr val="00B4A6"/>
                </a:solidFill>
                <a:latin typeface="Calibri" pitchFamily="34" charset="0"/>
                <a:ea typeface="Calibri" pitchFamily="34" charset="-122"/>
                <a:cs typeface="Calibri" pitchFamily="34" charset="-120"/>
              </a:rPr>
              <a:t>Jan 03, 2024</a:t>
            </a:r>
            <a:endParaRPr lang="en-US" sz="850" dirty="0"/>
          </a:p>
        </p:txBody>
      </p:sp>
      <p:sp>
        <p:nvSpPr>
          <p:cNvPr id="26" name="Text 21"/>
          <p:cNvSpPr/>
          <p:nvPr/>
        </p:nvSpPr>
        <p:spPr>
          <a:xfrm>
            <a:off x="8156448" y="3630168"/>
            <a:ext cx="3163824" cy="594360"/>
          </a:xfrm>
          <a:prstGeom prst="rect">
            <a:avLst/>
          </a:prstGeom>
          <a:noFill/>
          <a:ln/>
        </p:spPr>
        <p:txBody>
          <a:bodyPr wrap="square" lIns="0" tIns="0" rIns="0" bIns="0" rtlCol="0" anchor="ctr"/>
          <a:lstStyle/>
          <a:p>
            <a:pPr indent="0" marL="0">
              <a:lnSpc>
                <a:spcPct val="110000"/>
              </a:lnSpc>
              <a:buNone/>
            </a:pPr>
            <a:r>
              <a:rPr lang="en-US" sz="1200" b="1" dirty="0">
                <a:solidFill>
                  <a:srgbClr val="17263D"/>
                </a:solidFill>
                <a:latin typeface="Cambria" pitchFamily="34" charset="0"/>
                <a:ea typeface="Cambria" pitchFamily="34" charset="-122"/>
                <a:cs typeface="Cambria" pitchFamily="34" charset="-120"/>
              </a:rPr>
              <a:t>80+ clinical trials launched to test coronavirus</a:t>
            </a:r>
            <a:endParaRPr lang="en-US" sz="1200" dirty="0"/>
          </a:p>
        </p:txBody>
      </p:sp>
      <p:sp>
        <p:nvSpPr>
          <p:cNvPr id="27" name="Shape 22"/>
          <p:cNvSpPr/>
          <p:nvPr/>
        </p:nvSpPr>
        <p:spPr>
          <a:xfrm>
            <a:off x="8156448" y="4343400"/>
            <a:ext cx="1188720" cy="274320"/>
          </a:xfrm>
          <a:prstGeom prst="roundRect">
            <a:avLst>
              <a:gd name="adj" fmla="val 50000"/>
            </a:avLst>
          </a:prstGeom>
          <a:solidFill>
            <a:srgbClr val="FFFFFF"/>
          </a:solidFill>
          <a:ln/>
        </p:spPr>
      </p:sp>
      <p:sp>
        <p:nvSpPr>
          <p:cNvPr id="28" name="Text 23"/>
          <p:cNvSpPr/>
          <p:nvPr/>
        </p:nvSpPr>
        <p:spPr>
          <a:xfrm>
            <a:off x="8156448" y="4343400"/>
            <a:ext cx="1188720" cy="274320"/>
          </a:xfrm>
          <a:prstGeom prst="rect">
            <a:avLst/>
          </a:prstGeom>
          <a:noFill/>
          <a:ln/>
        </p:spPr>
        <p:txBody>
          <a:bodyPr wrap="square" lIns="0" tIns="0" rIns="0" bIns="0" rtlCol="0" anchor="ctr"/>
          <a:lstStyle/>
          <a:p>
            <a:pPr algn="ctr" indent="0" marL="0">
              <a:buNone/>
            </a:pPr>
            <a:r>
              <a:rPr lang="en-US" sz="900" b="1" dirty="0">
                <a:solidFill>
                  <a:srgbClr val="0B5FA4"/>
                </a:solidFill>
                <a:latin typeface="Calibri" pitchFamily="34" charset="0"/>
                <a:ea typeface="Calibri" pitchFamily="34" charset="-122"/>
                <a:cs typeface="Calibri" pitchFamily="34" charset="-120"/>
              </a:rPr>
              <a:t>Read More</a:t>
            </a:r>
            <a:endParaRPr lang="en-US" sz="900" dirty="0"/>
          </a:p>
        </p:txBody>
      </p:sp>
      <p:sp>
        <p:nvSpPr>
          <p:cNvPr id="29" name="Text 24"/>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30" name="Text 25"/>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Blog</a:t>
            </a:r>
            <a:endParaRPr lang="en-US" sz="900" dirty="0"/>
          </a:p>
        </p:txBody>
      </p:sp>
      <p:sp>
        <p:nvSpPr>
          <p:cNvPr id="31" name="Text 26"/>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13 / 23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PAGE WALKTHROUGH · 11</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Blog Details</a:t>
            </a:r>
            <a:endParaRPr lang="en-US" sz="3000" dirty="0"/>
          </a:p>
        </p:txBody>
      </p:sp>
      <p:sp>
        <p:nvSpPr>
          <p:cNvPr id="4" name="Shape 2"/>
          <p:cNvSpPr/>
          <p:nvPr/>
        </p:nvSpPr>
        <p:spPr>
          <a:xfrm>
            <a:off x="548640" y="1417320"/>
            <a:ext cx="6949440" cy="4663440"/>
          </a:xfrm>
          <a:prstGeom prst="roundRect">
            <a:avLst>
              <a:gd name="adj" fmla="val 1373"/>
            </a:avLst>
          </a:prstGeom>
          <a:solidFill>
            <a:srgbClr val="FFFFFF"/>
          </a:solidFill>
          <a:ln w="12700">
            <a:solidFill>
              <a:srgbClr val="D6E5F2"/>
            </a:solidFill>
            <a:prstDash val="solid"/>
          </a:ln>
          <a:effectLst>
            <a:outerShdw sx="100000" sy="100000" kx="0" ky="0" algn="bl" rotWithShape="0" blurRad="152400" dist="50800" dir="5400000">
              <a:srgbClr val="0A3B63">
                <a:alpha val="22000"/>
              </a:srgbClr>
            </a:outerShdw>
          </a:effectLst>
        </p:spPr>
      </p:sp>
      <p:sp>
        <p:nvSpPr>
          <p:cNvPr id="5" name="Shape 3"/>
          <p:cNvSpPr/>
          <p:nvPr/>
        </p:nvSpPr>
        <p:spPr>
          <a:xfrm>
            <a:off x="548640" y="1417320"/>
            <a:ext cx="6949440" cy="310896"/>
          </a:xfrm>
          <a:prstGeom prst="rect">
            <a:avLst/>
          </a:prstGeom>
          <a:solidFill>
            <a:srgbClr val="F6FAFD"/>
          </a:solidFill>
          <a:ln/>
        </p:spPr>
      </p:sp>
      <p:sp>
        <p:nvSpPr>
          <p:cNvPr id="6" name="Shape 4"/>
          <p:cNvSpPr/>
          <p:nvPr/>
        </p:nvSpPr>
        <p:spPr>
          <a:xfrm>
            <a:off x="676656" y="1527048"/>
            <a:ext cx="100584" cy="100584"/>
          </a:xfrm>
          <a:prstGeom prst="ellipse">
            <a:avLst/>
          </a:prstGeom>
          <a:solidFill>
            <a:srgbClr val="E27D60"/>
          </a:solidFill>
          <a:ln/>
        </p:spPr>
      </p:sp>
      <p:sp>
        <p:nvSpPr>
          <p:cNvPr id="7" name="Shape 5"/>
          <p:cNvSpPr/>
          <p:nvPr/>
        </p:nvSpPr>
        <p:spPr>
          <a:xfrm>
            <a:off x="859536" y="1527048"/>
            <a:ext cx="100584" cy="100584"/>
          </a:xfrm>
          <a:prstGeom prst="ellipse">
            <a:avLst/>
          </a:prstGeom>
          <a:solidFill>
            <a:srgbClr val="E8C547"/>
          </a:solidFill>
          <a:ln/>
        </p:spPr>
      </p:sp>
      <p:sp>
        <p:nvSpPr>
          <p:cNvPr id="8" name="Shape 6"/>
          <p:cNvSpPr/>
          <p:nvPr/>
        </p:nvSpPr>
        <p:spPr>
          <a:xfrm>
            <a:off x="1042416" y="1527048"/>
            <a:ext cx="100584" cy="100584"/>
          </a:xfrm>
          <a:prstGeom prst="ellipse">
            <a:avLst/>
          </a:prstGeom>
          <a:solidFill>
            <a:srgbClr val="6FCF97"/>
          </a:solidFill>
          <a:ln/>
        </p:spPr>
      </p:sp>
      <p:sp>
        <p:nvSpPr>
          <p:cNvPr id="9" name="Shape 7"/>
          <p:cNvSpPr/>
          <p:nvPr/>
        </p:nvSpPr>
        <p:spPr>
          <a:xfrm>
            <a:off x="1325880" y="1490472"/>
            <a:ext cx="5943600" cy="164592"/>
          </a:xfrm>
          <a:prstGeom prst="roundRect">
            <a:avLst>
              <a:gd name="adj" fmla="val 50000"/>
            </a:avLst>
          </a:prstGeom>
          <a:solidFill>
            <a:srgbClr val="FFFFFF"/>
          </a:solidFill>
          <a:ln w="6350">
            <a:solidFill>
              <a:srgbClr val="D6E5F2"/>
            </a:solidFill>
            <a:prstDash val="solid"/>
          </a:ln>
        </p:spPr>
      </p:sp>
      <p:sp>
        <p:nvSpPr>
          <p:cNvPr id="10" name="Text 8"/>
          <p:cNvSpPr/>
          <p:nvPr/>
        </p:nvSpPr>
        <p:spPr>
          <a:xfrm>
            <a:off x="1417320" y="1485900"/>
            <a:ext cx="5852160" cy="173736"/>
          </a:xfrm>
          <a:prstGeom prst="rect">
            <a:avLst/>
          </a:prstGeom>
          <a:noFill/>
          <a:ln/>
        </p:spPr>
        <p:txBody>
          <a:bodyPr wrap="square" lIns="0" tIns="0" rIns="0" bIns="0" rtlCol="0" anchor="ctr"/>
          <a:lstStyle/>
          <a:p>
            <a:pPr indent="0" marL="0">
              <a:buNone/>
            </a:pPr>
            <a:r>
              <a:rPr lang="en-US" sz="800" dirty="0">
                <a:solidFill>
                  <a:srgbClr val="55677E"/>
                </a:solidFill>
                <a:latin typeface="Calibri" pitchFamily="34" charset="0"/>
                <a:ea typeface="Calibri" pitchFamily="34" charset="-122"/>
                <a:cs typeface="Calibri" pitchFamily="34" charset="-120"/>
              </a:rPr>
              <a:t>medsev/default/blog-details.html</a:t>
            </a:r>
            <a:endParaRPr lang="en-US" sz="800" dirty="0"/>
          </a:p>
        </p:txBody>
      </p:sp>
      <p:sp>
        <p:nvSpPr>
          <p:cNvPr id="11" name="Shape 9"/>
          <p:cNvSpPr/>
          <p:nvPr/>
        </p:nvSpPr>
        <p:spPr>
          <a:xfrm>
            <a:off x="676656" y="1837944"/>
            <a:ext cx="4417649" cy="1371600"/>
          </a:xfrm>
          <a:prstGeom prst="roundRect">
            <a:avLst>
              <a:gd name="adj" fmla="val 4000"/>
            </a:avLst>
          </a:prstGeom>
          <a:solidFill>
            <a:srgbClr val="EAF3FB"/>
          </a:solidFill>
          <a:ln/>
        </p:spPr>
      </p:sp>
      <p:sp>
        <p:nvSpPr>
          <p:cNvPr id="12" name="Shape 10"/>
          <p:cNvSpPr/>
          <p:nvPr/>
        </p:nvSpPr>
        <p:spPr>
          <a:xfrm>
            <a:off x="2519721" y="2221992"/>
            <a:ext cx="731520" cy="731520"/>
          </a:xfrm>
          <a:prstGeom prst="ellipse">
            <a:avLst/>
          </a:prstGeom>
          <a:solidFill>
            <a:srgbClr val="FFFFFF"/>
          </a:solidFill>
          <a:ln/>
        </p:spPr>
      </p:sp>
      <p:pic>
        <p:nvPicPr>
          <p:cNvPr id="13" name="Image 0" descr="/home/claude/medsev-ppt/icons/blog_0B5FA4.png">    </p:cNvPr>
          <p:cNvPicPr>
            <a:picLocks noChangeAspect="1"/>
          </p:cNvPicPr>
          <p:nvPr/>
        </p:nvPicPr>
        <p:blipFill>
          <a:blip r:embed="rId1"/>
          <a:stretch>
            <a:fillRect/>
          </a:stretch>
        </p:blipFill>
        <p:spPr>
          <a:xfrm>
            <a:off x="2702601" y="2404872"/>
            <a:ext cx="365760" cy="365760"/>
          </a:xfrm>
          <a:prstGeom prst="rect">
            <a:avLst/>
          </a:prstGeom>
        </p:spPr>
      </p:pic>
      <p:sp>
        <p:nvSpPr>
          <p:cNvPr id="14" name="Shape 11"/>
          <p:cNvSpPr/>
          <p:nvPr/>
        </p:nvSpPr>
        <p:spPr>
          <a:xfrm>
            <a:off x="676656" y="3374136"/>
            <a:ext cx="4283781" cy="82296"/>
          </a:xfrm>
          <a:prstGeom prst="roundRect">
            <a:avLst>
              <a:gd name="adj" fmla="val 22222"/>
            </a:avLst>
          </a:prstGeom>
          <a:solidFill>
            <a:srgbClr val="D6E5F2"/>
          </a:solidFill>
          <a:ln/>
        </p:spPr>
      </p:sp>
      <p:sp>
        <p:nvSpPr>
          <p:cNvPr id="15" name="Shape 12"/>
          <p:cNvSpPr/>
          <p:nvPr/>
        </p:nvSpPr>
        <p:spPr>
          <a:xfrm>
            <a:off x="676656" y="3557016"/>
            <a:ext cx="2784458" cy="65837"/>
          </a:xfrm>
          <a:prstGeom prst="roundRect">
            <a:avLst>
              <a:gd name="adj" fmla="val 27778"/>
            </a:avLst>
          </a:prstGeom>
          <a:solidFill>
            <a:srgbClr val="D6E5F2"/>
          </a:solidFill>
          <a:ln/>
        </p:spPr>
      </p:sp>
      <p:sp>
        <p:nvSpPr>
          <p:cNvPr id="16" name="Shape 13"/>
          <p:cNvSpPr/>
          <p:nvPr/>
        </p:nvSpPr>
        <p:spPr>
          <a:xfrm>
            <a:off x="676656" y="3758184"/>
            <a:ext cx="4069592" cy="54864"/>
          </a:xfrm>
          <a:prstGeom prst="roundRect">
            <a:avLst>
              <a:gd name="adj" fmla="val 33333"/>
            </a:avLst>
          </a:prstGeom>
          <a:solidFill>
            <a:srgbClr val="D6E5F2"/>
          </a:solidFill>
          <a:ln/>
        </p:spPr>
      </p:sp>
      <p:sp>
        <p:nvSpPr>
          <p:cNvPr id="17" name="Shape 14"/>
          <p:cNvSpPr/>
          <p:nvPr/>
        </p:nvSpPr>
        <p:spPr>
          <a:xfrm>
            <a:off x="676656" y="3895344"/>
            <a:ext cx="2645235" cy="43891"/>
          </a:xfrm>
          <a:prstGeom prst="roundRect">
            <a:avLst>
              <a:gd name="adj" fmla="val 41667"/>
            </a:avLst>
          </a:prstGeom>
          <a:solidFill>
            <a:srgbClr val="D6E5F2"/>
          </a:solidFill>
          <a:ln/>
        </p:spPr>
      </p:sp>
      <p:sp>
        <p:nvSpPr>
          <p:cNvPr id="18" name="Shape 15"/>
          <p:cNvSpPr/>
          <p:nvPr/>
        </p:nvSpPr>
        <p:spPr>
          <a:xfrm>
            <a:off x="676656" y="4078224"/>
            <a:ext cx="4069592" cy="54864"/>
          </a:xfrm>
          <a:prstGeom prst="roundRect">
            <a:avLst>
              <a:gd name="adj" fmla="val 33333"/>
            </a:avLst>
          </a:prstGeom>
          <a:solidFill>
            <a:srgbClr val="D6E5F2"/>
          </a:solidFill>
          <a:ln/>
        </p:spPr>
      </p:sp>
      <p:sp>
        <p:nvSpPr>
          <p:cNvPr id="19" name="Shape 16"/>
          <p:cNvSpPr/>
          <p:nvPr/>
        </p:nvSpPr>
        <p:spPr>
          <a:xfrm>
            <a:off x="676656" y="4215384"/>
            <a:ext cx="2645235" cy="43891"/>
          </a:xfrm>
          <a:prstGeom prst="roundRect">
            <a:avLst>
              <a:gd name="adj" fmla="val 41667"/>
            </a:avLst>
          </a:prstGeom>
          <a:solidFill>
            <a:srgbClr val="D6E5F2"/>
          </a:solidFill>
          <a:ln/>
        </p:spPr>
      </p:sp>
      <p:sp>
        <p:nvSpPr>
          <p:cNvPr id="20" name="Shape 17"/>
          <p:cNvSpPr/>
          <p:nvPr/>
        </p:nvSpPr>
        <p:spPr>
          <a:xfrm>
            <a:off x="676656" y="4398264"/>
            <a:ext cx="4069592" cy="54864"/>
          </a:xfrm>
          <a:prstGeom prst="roundRect">
            <a:avLst>
              <a:gd name="adj" fmla="val 33333"/>
            </a:avLst>
          </a:prstGeom>
          <a:solidFill>
            <a:srgbClr val="D6E5F2"/>
          </a:solidFill>
          <a:ln/>
        </p:spPr>
      </p:sp>
      <p:sp>
        <p:nvSpPr>
          <p:cNvPr id="21" name="Shape 18"/>
          <p:cNvSpPr/>
          <p:nvPr/>
        </p:nvSpPr>
        <p:spPr>
          <a:xfrm>
            <a:off x="676656" y="4535424"/>
            <a:ext cx="2645235" cy="43891"/>
          </a:xfrm>
          <a:prstGeom prst="roundRect">
            <a:avLst>
              <a:gd name="adj" fmla="val 41667"/>
            </a:avLst>
          </a:prstGeom>
          <a:solidFill>
            <a:srgbClr val="D6E5F2"/>
          </a:solidFill>
          <a:ln/>
        </p:spPr>
      </p:sp>
      <p:sp>
        <p:nvSpPr>
          <p:cNvPr id="22" name="Shape 19"/>
          <p:cNvSpPr/>
          <p:nvPr/>
        </p:nvSpPr>
        <p:spPr>
          <a:xfrm>
            <a:off x="676656" y="4718304"/>
            <a:ext cx="2141891" cy="54864"/>
          </a:xfrm>
          <a:prstGeom prst="roundRect">
            <a:avLst>
              <a:gd name="adj" fmla="val 33333"/>
            </a:avLst>
          </a:prstGeom>
          <a:solidFill>
            <a:srgbClr val="D6E5F2"/>
          </a:solidFill>
          <a:ln/>
        </p:spPr>
      </p:sp>
      <p:sp>
        <p:nvSpPr>
          <p:cNvPr id="23" name="Shape 20"/>
          <p:cNvSpPr/>
          <p:nvPr/>
        </p:nvSpPr>
        <p:spPr>
          <a:xfrm>
            <a:off x="676656" y="4855464"/>
            <a:ext cx="1392229" cy="43891"/>
          </a:xfrm>
          <a:prstGeom prst="roundRect">
            <a:avLst>
              <a:gd name="adj" fmla="val 41667"/>
            </a:avLst>
          </a:prstGeom>
          <a:solidFill>
            <a:srgbClr val="D6E5F2"/>
          </a:solidFill>
          <a:ln/>
        </p:spPr>
      </p:sp>
      <p:sp>
        <p:nvSpPr>
          <p:cNvPr id="24" name="Text 21"/>
          <p:cNvSpPr/>
          <p:nvPr/>
        </p:nvSpPr>
        <p:spPr>
          <a:xfrm>
            <a:off x="5362042" y="1837944"/>
            <a:ext cx="1828800" cy="182880"/>
          </a:xfrm>
          <a:prstGeom prst="rect">
            <a:avLst/>
          </a:prstGeom>
          <a:noFill/>
          <a:ln/>
        </p:spPr>
        <p:txBody>
          <a:bodyPr wrap="square" lIns="0" tIns="0" rIns="0" bIns="0" rtlCol="0" anchor="ctr"/>
          <a:lstStyle/>
          <a:p>
            <a:pPr indent="0" marL="0">
              <a:buNone/>
            </a:pPr>
            <a:r>
              <a:rPr lang="en-US" sz="800" b="1" spc="100" kern="0" dirty="0">
                <a:solidFill>
                  <a:srgbClr val="0B5FA4"/>
                </a:solidFill>
                <a:latin typeface="Calibri" pitchFamily="34" charset="0"/>
                <a:ea typeface="Calibri" pitchFamily="34" charset="-122"/>
                <a:cs typeface="Calibri" pitchFamily="34" charset="-120"/>
              </a:rPr>
              <a:t>CATEGORIES</a:t>
            </a:r>
            <a:endParaRPr lang="en-US" sz="800" dirty="0"/>
          </a:p>
        </p:txBody>
      </p:sp>
      <p:sp>
        <p:nvSpPr>
          <p:cNvPr id="25" name="Shape 22"/>
          <p:cNvSpPr/>
          <p:nvPr/>
        </p:nvSpPr>
        <p:spPr>
          <a:xfrm>
            <a:off x="5362042" y="2112264"/>
            <a:ext cx="1737360" cy="274320"/>
          </a:xfrm>
          <a:prstGeom prst="roundRect">
            <a:avLst>
              <a:gd name="adj" fmla="val 50000"/>
            </a:avLst>
          </a:prstGeom>
          <a:solidFill>
            <a:srgbClr val="F6FAFD"/>
          </a:solidFill>
          <a:ln/>
        </p:spPr>
      </p:sp>
      <p:sp>
        <p:nvSpPr>
          <p:cNvPr id="26" name="Text 23"/>
          <p:cNvSpPr/>
          <p:nvPr/>
        </p:nvSpPr>
        <p:spPr>
          <a:xfrm>
            <a:off x="5362042" y="2112264"/>
            <a:ext cx="1737360" cy="274320"/>
          </a:xfrm>
          <a:prstGeom prst="rect">
            <a:avLst/>
          </a:prstGeom>
          <a:noFill/>
          <a:ln/>
        </p:spPr>
        <p:txBody>
          <a:bodyPr wrap="square" lIns="0" tIns="0" rIns="0" bIns="0" rtlCol="0" anchor="ctr"/>
          <a:lstStyle/>
          <a:p>
            <a:pPr algn="ctr" indent="0" marL="0">
              <a:buNone/>
            </a:pPr>
            <a:r>
              <a:rPr lang="en-US" sz="900" b="1" dirty="0">
                <a:solidFill>
                  <a:srgbClr val="17263D"/>
                </a:solidFill>
                <a:latin typeface="Calibri" pitchFamily="34" charset="0"/>
                <a:ea typeface="Calibri" pitchFamily="34" charset="-122"/>
                <a:cs typeface="Calibri" pitchFamily="34" charset="-120"/>
              </a:rPr>
              <a:t>Cardiology</a:t>
            </a:r>
            <a:endParaRPr lang="en-US" sz="900" dirty="0"/>
          </a:p>
        </p:txBody>
      </p:sp>
      <p:sp>
        <p:nvSpPr>
          <p:cNvPr id="27" name="Shape 24"/>
          <p:cNvSpPr/>
          <p:nvPr/>
        </p:nvSpPr>
        <p:spPr>
          <a:xfrm>
            <a:off x="5362042" y="2478024"/>
            <a:ext cx="1737360" cy="274320"/>
          </a:xfrm>
          <a:prstGeom prst="roundRect">
            <a:avLst>
              <a:gd name="adj" fmla="val 50000"/>
            </a:avLst>
          </a:prstGeom>
          <a:solidFill>
            <a:srgbClr val="F6FAFD"/>
          </a:solidFill>
          <a:ln/>
        </p:spPr>
      </p:sp>
      <p:sp>
        <p:nvSpPr>
          <p:cNvPr id="28" name="Text 25"/>
          <p:cNvSpPr/>
          <p:nvPr/>
        </p:nvSpPr>
        <p:spPr>
          <a:xfrm>
            <a:off x="5362042" y="2478024"/>
            <a:ext cx="1737360" cy="274320"/>
          </a:xfrm>
          <a:prstGeom prst="rect">
            <a:avLst/>
          </a:prstGeom>
          <a:noFill/>
          <a:ln/>
        </p:spPr>
        <p:txBody>
          <a:bodyPr wrap="square" lIns="0" tIns="0" rIns="0" bIns="0" rtlCol="0" anchor="ctr"/>
          <a:lstStyle/>
          <a:p>
            <a:pPr algn="ctr" indent="0" marL="0">
              <a:buNone/>
            </a:pPr>
            <a:r>
              <a:rPr lang="en-US" sz="900" b="1" dirty="0">
                <a:solidFill>
                  <a:srgbClr val="17263D"/>
                </a:solidFill>
                <a:latin typeface="Calibri" pitchFamily="34" charset="0"/>
                <a:ea typeface="Calibri" pitchFamily="34" charset="-122"/>
                <a:cs typeface="Calibri" pitchFamily="34" charset="-120"/>
              </a:rPr>
              <a:t>Dental</a:t>
            </a:r>
            <a:endParaRPr lang="en-US" sz="900" dirty="0"/>
          </a:p>
        </p:txBody>
      </p:sp>
      <p:sp>
        <p:nvSpPr>
          <p:cNvPr id="29" name="Shape 26"/>
          <p:cNvSpPr/>
          <p:nvPr/>
        </p:nvSpPr>
        <p:spPr>
          <a:xfrm>
            <a:off x="5362042" y="2843784"/>
            <a:ext cx="1737360" cy="274320"/>
          </a:xfrm>
          <a:prstGeom prst="roundRect">
            <a:avLst>
              <a:gd name="adj" fmla="val 50000"/>
            </a:avLst>
          </a:prstGeom>
          <a:solidFill>
            <a:srgbClr val="F6FAFD"/>
          </a:solidFill>
          <a:ln/>
        </p:spPr>
      </p:sp>
      <p:sp>
        <p:nvSpPr>
          <p:cNvPr id="30" name="Text 27"/>
          <p:cNvSpPr/>
          <p:nvPr/>
        </p:nvSpPr>
        <p:spPr>
          <a:xfrm>
            <a:off x="5362042" y="2843784"/>
            <a:ext cx="1737360" cy="274320"/>
          </a:xfrm>
          <a:prstGeom prst="rect">
            <a:avLst/>
          </a:prstGeom>
          <a:noFill/>
          <a:ln/>
        </p:spPr>
        <p:txBody>
          <a:bodyPr wrap="square" lIns="0" tIns="0" rIns="0" bIns="0" rtlCol="0" anchor="ctr"/>
          <a:lstStyle/>
          <a:p>
            <a:pPr algn="ctr" indent="0" marL="0">
              <a:buNone/>
            </a:pPr>
            <a:r>
              <a:rPr lang="en-US" sz="900" b="1" dirty="0">
                <a:solidFill>
                  <a:srgbClr val="17263D"/>
                </a:solidFill>
                <a:latin typeface="Calibri" pitchFamily="34" charset="0"/>
                <a:ea typeface="Calibri" pitchFamily="34" charset="-122"/>
                <a:cs typeface="Calibri" pitchFamily="34" charset="-120"/>
              </a:rPr>
              <a:t>Awareness</a:t>
            </a:r>
            <a:endParaRPr lang="en-US" sz="900" dirty="0"/>
          </a:p>
        </p:txBody>
      </p:sp>
      <p:sp>
        <p:nvSpPr>
          <p:cNvPr id="31" name="Text 28"/>
          <p:cNvSpPr/>
          <p:nvPr/>
        </p:nvSpPr>
        <p:spPr>
          <a:xfrm>
            <a:off x="5362042" y="3438144"/>
            <a:ext cx="1828800" cy="182880"/>
          </a:xfrm>
          <a:prstGeom prst="rect">
            <a:avLst/>
          </a:prstGeom>
          <a:noFill/>
          <a:ln/>
        </p:spPr>
        <p:txBody>
          <a:bodyPr wrap="square" lIns="0" tIns="0" rIns="0" bIns="0" rtlCol="0" anchor="ctr"/>
          <a:lstStyle/>
          <a:p>
            <a:pPr indent="0" marL="0">
              <a:buNone/>
            </a:pPr>
            <a:r>
              <a:rPr lang="en-US" sz="800" b="1" spc="100" kern="0" dirty="0">
                <a:solidFill>
                  <a:srgbClr val="0B5FA4"/>
                </a:solidFill>
                <a:latin typeface="Calibri" pitchFamily="34" charset="0"/>
                <a:ea typeface="Calibri" pitchFamily="34" charset="-122"/>
                <a:cs typeface="Calibri" pitchFamily="34" charset="-120"/>
              </a:rPr>
              <a:t>RECENT POSTS</a:t>
            </a:r>
            <a:endParaRPr lang="en-US" sz="800" dirty="0"/>
          </a:p>
        </p:txBody>
      </p:sp>
      <p:sp>
        <p:nvSpPr>
          <p:cNvPr id="32" name="Shape 29"/>
          <p:cNvSpPr/>
          <p:nvPr/>
        </p:nvSpPr>
        <p:spPr>
          <a:xfrm>
            <a:off x="5362042" y="3712464"/>
            <a:ext cx="1737360" cy="54864"/>
          </a:xfrm>
          <a:prstGeom prst="roundRect">
            <a:avLst>
              <a:gd name="adj" fmla="val 33333"/>
            </a:avLst>
          </a:prstGeom>
          <a:solidFill>
            <a:srgbClr val="D6E5F2"/>
          </a:solidFill>
          <a:ln/>
        </p:spPr>
      </p:sp>
      <p:sp>
        <p:nvSpPr>
          <p:cNvPr id="33" name="Shape 30"/>
          <p:cNvSpPr/>
          <p:nvPr/>
        </p:nvSpPr>
        <p:spPr>
          <a:xfrm>
            <a:off x="5362042" y="3858768"/>
            <a:ext cx="1129284" cy="43891"/>
          </a:xfrm>
          <a:prstGeom prst="roundRect">
            <a:avLst>
              <a:gd name="adj" fmla="val 41667"/>
            </a:avLst>
          </a:prstGeom>
          <a:solidFill>
            <a:srgbClr val="D6E5F2"/>
          </a:solidFill>
          <a:ln/>
        </p:spPr>
      </p:sp>
      <p:sp>
        <p:nvSpPr>
          <p:cNvPr id="34" name="Shape 31"/>
          <p:cNvSpPr/>
          <p:nvPr/>
        </p:nvSpPr>
        <p:spPr>
          <a:xfrm>
            <a:off x="5362042" y="3986784"/>
            <a:ext cx="1737360" cy="54864"/>
          </a:xfrm>
          <a:prstGeom prst="roundRect">
            <a:avLst>
              <a:gd name="adj" fmla="val 33333"/>
            </a:avLst>
          </a:prstGeom>
          <a:solidFill>
            <a:srgbClr val="D6E5F2"/>
          </a:solidFill>
          <a:ln/>
        </p:spPr>
      </p:sp>
      <p:sp>
        <p:nvSpPr>
          <p:cNvPr id="35" name="Shape 32"/>
          <p:cNvSpPr/>
          <p:nvPr/>
        </p:nvSpPr>
        <p:spPr>
          <a:xfrm>
            <a:off x="5362042" y="4133088"/>
            <a:ext cx="1129284" cy="43891"/>
          </a:xfrm>
          <a:prstGeom prst="roundRect">
            <a:avLst>
              <a:gd name="adj" fmla="val 41667"/>
            </a:avLst>
          </a:prstGeom>
          <a:solidFill>
            <a:srgbClr val="D6E5F2"/>
          </a:solidFill>
          <a:ln/>
        </p:spPr>
      </p:sp>
      <p:sp>
        <p:nvSpPr>
          <p:cNvPr id="36" name="Shape 33"/>
          <p:cNvSpPr/>
          <p:nvPr/>
        </p:nvSpPr>
        <p:spPr>
          <a:xfrm>
            <a:off x="5362042" y="4261104"/>
            <a:ext cx="1737360" cy="54864"/>
          </a:xfrm>
          <a:prstGeom prst="roundRect">
            <a:avLst>
              <a:gd name="adj" fmla="val 33333"/>
            </a:avLst>
          </a:prstGeom>
          <a:solidFill>
            <a:srgbClr val="D6E5F2"/>
          </a:solidFill>
          <a:ln/>
        </p:spPr>
      </p:sp>
      <p:sp>
        <p:nvSpPr>
          <p:cNvPr id="37" name="Shape 34"/>
          <p:cNvSpPr/>
          <p:nvPr/>
        </p:nvSpPr>
        <p:spPr>
          <a:xfrm>
            <a:off x="5362042" y="4407408"/>
            <a:ext cx="1129284" cy="43891"/>
          </a:xfrm>
          <a:prstGeom prst="roundRect">
            <a:avLst>
              <a:gd name="adj" fmla="val 41667"/>
            </a:avLst>
          </a:prstGeom>
          <a:solidFill>
            <a:srgbClr val="D6E5F2"/>
          </a:solidFill>
          <a:ln/>
        </p:spPr>
      </p:sp>
      <p:sp>
        <p:nvSpPr>
          <p:cNvPr id="38" name="Text 35"/>
          <p:cNvSpPr/>
          <p:nvPr/>
        </p:nvSpPr>
        <p:spPr>
          <a:xfrm>
            <a:off x="7863840" y="1508760"/>
            <a:ext cx="3840480" cy="640080"/>
          </a:xfrm>
          <a:prstGeom prst="rect">
            <a:avLst/>
          </a:prstGeom>
          <a:noFill/>
          <a:ln/>
        </p:spPr>
        <p:txBody>
          <a:bodyPr wrap="square" lIns="0" tIns="0" rIns="0" bIns="0" rtlCol="0" anchor="ctr"/>
          <a:lstStyle/>
          <a:p>
            <a:pPr indent="0" marL="0">
              <a:buNone/>
            </a:pPr>
            <a:r>
              <a:rPr lang="en-US" sz="1550" b="1" dirty="0">
                <a:solidFill>
                  <a:srgbClr val="17263D"/>
                </a:solidFill>
                <a:latin typeface="Cambria" pitchFamily="34" charset="0"/>
                <a:ea typeface="Cambria" pitchFamily="34" charset="-122"/>
                <a:cs typeface="Cambria" pitchFamily="34" charset="-120"/>
              </a:rPr>
              <a:t>Depth on demand, without cluttering the list view</a:t>
            </a:r>
            <a:endParaRPr lang="en-US" sz="1550" dirty="0"/>
          </a:p>
        </p:txBody>
      </p:sp>
      <p:sp>
        <p:nvSpPr>
          <p:cNvPr id="39" name="Shape 36"/>
          <p:cNvSpPr/>
          <p:nvPr/>
        </p:nvSpPr>
        <p:spPr>
          <a:xfrm>
            <a:off x="7863840" y="2331720"/>
            <a:ext cx="274320" cy="274320"/>
          </a:xfrm>
          <a:prstGeom prst="ellipse">
            <a:avLst/>
          </a:prstGeom>
          <a:solidFill>
            <a:srgbClr val="EAF3FB"/>
          </a:solidFill>
          <a:ln/>
        </p:spPr>
      </p:sp>
      <p:pic>
        <p:nvPicPr>
          <p:cNvPr id="40" name="Image 1" descr="/home/claude/medsev-ppt/icons/check_00B4A6.png">    </p:cNvPr>
          <p:cNvPicPr>
            <a:picLocks noChangeAspect="1"/>
          </p:cNvPicPr>
          <p:nvPr/>
        </p:nvPicPr>
        <p:blipFill>
          <a:blip r:embed="rId2"/>
          <a:stretch>
            <a:fillRect/>
          </a:stretch>
        </p:blipFill>
        <p:spPr>
          <a:xfrm>
            <a:off x="7918704" y="2386584"/>
            <a:ext cx="164592" cy="164592"/>
          </a:xfrm>
          <a:prstGeom prst="rect">
            <a:avLst/>
          </a:prstGeom>
        </p:spPr>
      </p:pic>
      <p:sp>
        <p:nvSpPr>
          <p:cNvPr id="41" name="Text 37"/>
          <p:cNvSpPr/>
          <p:nvPr/>
        </p:nvSpPr>
        <p:spPr>
          <a:xfrm>
            <a:off x="8247888" y="2304288"/>
            <a:ext cx="3749040" cy="457200"/>
          </a:xfrm>
          <a:prstGeom prst="rect">
            <a:avLst/>
          </a:prstGeom>
          <a:noFill/>
          <a:ln/>
        </p:spPr>
        <p:txBody>
          <a:bodyPr wrap="square" lIns="0" tIns="0" rIns="0" bIns="0" rtlCol="0" anchor="ctr"/>
          <a:lstStyle/>
          <a:p>
            <a:pPr indent="0" marL="0">
              <a:buNone/>
            </a:pPr>
            <a:r>
              <a:rPr lang="en-US" sz="1080" dirty="0">
                <a:solidFill>
                  <a:srgbClr val="17263D"/>
                </a:solidFill>
                <a:latin typeface="Calibri" pitchFamily="34" charset="0"/>
                <a:ea typeface="Calibri" pitchFamily="34" charset="-122"/>
                <a:cs typeface="Calibri" pitchFamily="34" charset="-120"/>
              </a:rPr>
              <a:t>Full article layout with a lead image</a:t>
            </a:r>
            <a:endParaRPr lang="en-US" sz="1080" dirty="0"/>
          </a:p>
        </p:txBody>
      </p:sp>
      <p:sp>
        <p:nvSpPr>
          <p:cNvPr id="42" name="Shape 38"/>
          <p:cNvSpPr/>
          <p:nvPr/>
        </p:nvSpPr>
        <p:spPr>
          <a:xfrm>
            <a:off x="7863840" y="2898648"/>
            <a:ext cx="274320" cy="274320"/>
          </a:xfrm>
          <a:prstGeom prst="ellipse">
            <a:avLst/>
          </a:prstGeom>
          <a:solidFill>
            <a:srgbClr val="EAF3FB"/>
          </a:solidFill>
          <a:ln/>
        </p:spPr>
      </p:sp>
      <p:pic>
        <p:nvPicPr>
          <p:cNvPr id="43" name="Image 2" descr="/home/claude/medsev-ppt/icons/check_00B4A6.png">    </p:cNvPr>
          <p:cNvPicPr>
            <a:picLocks noChangeAspect="1"/>
          </p:cNvPicPr>
          <p:nvPr/>
        </p:nvPicPr>
        <p:blipFill>
          <a:blip r:embed="rId3"/>
          <a:stretch>
            <a:fillRect/>
          </a:stretch>
        </p:blipFill>
        <p:spPr>
          <a:xfrm>
            <a:off x="7918704" y="2953512"/>
            <a:ext cx="164592" cy="164592"/>
          </a:xfrm>
          <a:prstGeom prst="rect">
            <a:avLst/>
          </a:prstGeom>
        </p:spPr>
      </p:pic>
      <p:sp>
        <p:nvSpPr>
          <p:cNvPr id="44" name="Text 39"/>
          <p:cNvSpPr/>
          <p:nvPr/>
        </p:nvSpPr>
        <p:spPr>
          <a:xfrm>
            <a:off x="8247888" y="2871216"/>
            <a:ext cx="3749040" cy="457200"/>
          </a:xfrm>
          <a:prstGeom prst="rect">
            <a:avLst/>
          </a:prstGeom>
          <a:noFill/>
          <a:ln/>
        </p:spPr>
        <p:txBody>
          <a:bodyPr wrap="square" lIns="0" tIns="0" rIns="0" bIns="0" rtlCol="0" anchor="ctr"/>
          <a:lstStyle/>
          <a:p>
            <a:pPr indent="0" marL="0">
              <a:buNone/>
            </a:pPr>
            <a:r>
              <a:rPr lang="en-US" sz="1080" dirty="0">
                <a:solidFill>
                  <a:srgbClr val="17263D"/>
                </a:solidFill>
                <a:latin typeface="Calibri" pitchFamily="34" charset="0"/>
                <a:ea typeface="Calibri" pitchFamily="34" charset="-122"/>
                <a:cs typeface="Calibri" pitchFamily="34" charset="-120"/>
              </a:rPr>
              <a:t>Category tags for topic-based browsing</a:t>
            </a:r>
            <a:endParaRPr lang="en-US" sz="1080" dirty="0"/>
          </a:p>
        </p:txBody>
      </p:sp>
      <p:sp>
        <p:nvSpPr>
          <p:cNvPr id="45" name="Shape 40"/>
          <p:cNvSpPr/>
          <p:nvPr/>
        </p:nvSpPr>
        <p:spPr>
          <a:xfrm>
            <a:off x="7863840" y="3465576"/>
            <a:ext cx="274320" cy="274320"/>
          </a:xfrm>
          <a:prstGeom prst="ellipse">
            <a:avLst/>
          </a:prstGeom>
          <a:solidFill>
            <a:srgbClr val="EAF3FB"/>
          </a:solidFill>
          <a:ln/>
        </p:spPr>
      </p:sp>
      <p:pic>
        <p:nvPicPr>
          <p:cNvPr id="46" name="Image 3" descr="/home/claude/medsev-ppt/icons/check_00B4A6.png">    </p:cNvPr>
          <p:cNvPicPr>
            <a:picLocks noChangeAspect="1"/>
          </p:cNvPicPr>
          <p:nvPr/>
        </p:nvPicPr>
        <p:blipFill>
          <a:blip r:embed="rId4"/>
          <a:stretch>
            <a:fillRect/>
          </a:stretch>
        </p:blipFill>
        <p:spPr>
          <a:xfrm>
            <a:off x="7918704" y="3520440"/>
            <a:ext cx="164592" cy="164592"/>
          </a:xfrm>
          <a:prstGeom prst="rect">
            <a:avLst/>
          </a:prstGeom>
        </p:spPr>
      </p:pic>
      <p:sp>
        <p:nvSpPr>
          <p:cNvPr id="47" name="Text 41"/>
          <p:cNvSpPr/>
          <p:nvPr/>
        </p:nvSpPr>
        <p:spPr>
          <a:xfrm>
            <a:off x="8247888" y="3438144"/>
            <a:ext cx="3749040" cy="457200"/>
          </a:xfrm>
          <a:prstGeom prst="rect">
            <a:avLst/>
          </a:prstGeom>
          <a:noFill/>
          <a:ln/>
        </p:spPr>
        <p:txBody>
          <a:bodyPr wrap="square" lIns="0" tIns="0" rIns="0" bIns="0" rtlCol="0" anchor="ctr"/>
          <a:lstStyle/>
          <a:p>
            <a:pPr indent="0" marL="0">
              <a:buNone/>
            </a:pPr>
            <a:r>
              <a:rPr lang="en-US" sz="1080" dirty="0">
                <a:solidFill>
                  <a:srgbClr val="17263D"/>
                </a:solidFill>
                <a:latin typeface="Calibri" pitchFamily="34" charset="0"/>
                <a:ea typeface="Calibri" pitchFamily="34" charset="-122"/>
                <a:cs typeface="Calibri" pitchFamily="34" charset="-120"/>
              </a:rPr>
              <a:t>A recent-posts sidebar to extend the visit</a:t>
            </a:r>
            <a:endParaRPr lang="en-US" sz="1080" dirty="0"/>
          </a:p>
        </p:txBody>
      </p:sp>
      <p:sp>
        <p:nvSpPr>
          <p:cNvPr id="48" name="Shape 42"/>
          <p:cNvSpPr/>
          <p:nvPr/>
        </p:nvSpPr>
        <p:spPr>
          <a:xfrm>
            <a:off x="7863840" y="4032504"/>
            <a:ext cx="274320" cy="274320"/>
          </a:xfrm>
          <a:prstGeom prst="ellipse">
            <a:avLst/>
          </a:prstGeom>
          <a:solidFill>
            <a:srgbClr val="EAF3FB"/>
          </a:solidFill>
          <a:ln/>
        </p:spPr>
      </p:sp>
      <p:pic>
        <p:nvPicPr>
          <p:cNvPr id="49" name="Image 4" descr="/home/claude/medsev-ppt/icons/check_00B4A6.png">    </p:cNvPr>
          <p:cNvPicPr>
            <a:picLocks noChangeAspect="1"/>
          </p:cNvPicPr>
          <p:nvPr/>
        </p:nvPicPr>
        <p:blipFill>
          <a:blip r:embed="rId5"/>
          <a:stretch>
            <a:fillRect/>
          </a:stretch>
        </p:blipFill>
        <p:spPr>
          <a:xfrm>
            <a:off x="7918704" y="4087368"/>
            <a:ext cx="164592" cy="164592"/>
          </a:xfrm>
          <a:prstGeom prst="rect">
            <a:avLst/>
          </a:prstGeom>
        </p:spPr>
      </p:pic>
      <p:sp>
        <p:nvSpPr>
          <p:cNvPr id="50" name="Text 43"/>
          <p:cNvSpPr/>
          <p:nvPr/>
        </p:nvSpPr>
        <p:spPr>
          <a:xfrm>
            <a:off x="8247888" y="4005072"/>
            <a:ext cx="3749040" cy="457200"/>
          </a:xfrm>
          <a:prstGeom prst="rect">
            <a:avLst/>
          </a:prstGeom>
          <a:noFill/>
          <a:ln/>
        </p:spPr>
        <p:txBody>
          <a:bodyPr wrap="square" lIns="0" tIns="0" rIns="0" bIns="0" rtlCol="0" anchor="ctr"/>
          <a:lstStyle/>
          <a:p>
            <a:pPr indent="0" marL="0">
              <a:buNone/>
            </a:pPr>
            <a:r>
              <a:rPr lang="en-US" sz="1080" dirty="0">
                <a:solidFill>
                  <a:srgbClr val="17263D"/>
                </a:solidFill>
                <a:latin typeface="Calibri" pitchFamily="34" charset="0"/>
                <a:ea typeface="Calibri" pitchFamily="34" charset="-122"/>
                <a:cs typeface="Calibri" pitchFamily="34" charset="-120"/>
              </a:rPr>
              <a:t>Comment section for patient engagement</a:t>
            </a:r>
            <a:endParaRPr lang="en-US" sz="1080" dirty="0"/>
          </a:p>
        </p:txBody>
      </p:sp>
      <p:sp>
        <p:nvSpPr>
          <p:cNvPr id="51" name="Text 44"/>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52" name="Text 45"/>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Blog Details</a:t>
            </a:r>
            <a:endParaRPr lang="en-US" sz="900" dirty="0"/>
          </a:p>
        </p:txBody>
      </p:sp>
      <p:sp>
        <p:nvSpPr>
          <p:cNvPr id="53" name="Text 46"/>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14 / 23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PAGE WALKTHROUGH · 12</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Contact Us</a:t>
            </a:r>
            <a:endParaRPr lang="en-US" sz="3000" dirty="0"/>
          </a:p>
        </p:txBody>
      </p:sp>
      <p:sp>
        <p:nvSpPr>
          <p:cNvPr id="4" name="Text 2"/>
          <p:cNvSpPr/>
          <p:nvPr/>
        </p:nvSpPr>
        <p:spPr>
          <a:xfrm>
            <a:off x="548640" y="1463040"/>
            <a:ext cx="5486400" cy="365760"/>
          </a:xfrm>
          <a:prstGeom prst="rect">
            <a:avLst/>
          </a:prstGeom>
          <a:noFill/>
          <a:ln/>
        </p:spPr>
        <p:txBody>
          <a:bodyPr wrap="square" lIns="0" tIns="0" rIns="0" bIns="0" rtlCol="0" anchor="ctr"/>
          <a:lstStyle/>
          <a:p>
            <a:pPr indent="0" marL="0">
              <a:buNone/>
            </a:pPr>
            <a:r>
              <a:rPr lang="en-US" sz="1650" b="1" dirty="0">
                <a:solidFill>
                  <a:srgbClr val="17263D"/>
                </a:solidFill>
                <a:latin typeface="Cambria" pitchFamily="34" charset="0"/>
                <a:ea typeface="Cambria" pitchFamily="34" charset="-122"/>
                <a:cs typeface="Cambria" pitchFamily="34" charset="-120"/>
              </a:rPr>
              <a:t>Multiple paths to reach the hospital</a:t>
            </a:r>
            <a:endParaRPr lang="en-US" sz="1650" dirty="0"/>
          </a:p>
        </p:txBody>
      </p:sp>
      <p:sp>
        <p:nvSpPr>
          <p:cNvPr id="5" name="Shape 3"/>
          <p:cNvSpPr/>
          <p:nvPr/>
        </p:nvSpPr>
        <p:spPr>
          <a:xfrm>
            <a:off x="548640" y="2057400"/>
            <a:ext cx="502920" cy="502920"/>
          </a:xfrm>
          <a:prstGeom prst="ellipse">
            <a:avLst/>
          </a:prstGeom>
          <a:solidFill>
            <a:srgbClr val="EAF3FB"/>
          </a:solidFill>
          <a:ln/>
        </p:spPr>
      </p:sp>
      <p:pic>
        <p:nvPicPr>
          <p:cNvPr id="6" name="Image 0" descr="/home/claude/medsev-ppt/icons/phone_0B5FA4.png">    </p:cNvPr>
          <p:cNvPicPr>
            <a:picLocks noChangeAspect="1"/>
          </p:cNvPicPr>
          <p:nvPr/>
        </p:nvPicPr>
        <p:blipFill>
          <a:blip r:embed="rId1"/>
          <a:stretch>
            <a:fillRect/>
          </a:stretch>
        </p:blipFill>
        <p:spPr>
          <a:xfrm>
            <a:off x="661797" y="2170557"/>
            <a:ext cx="276606" cy="276606"/>
          </a:xfrm>
          <a:prstGeom prst="rect">
            <a:avLst/>
          </a:prstGeom>
        </p:spPr>
      </p:pic>
      <p:sp>
        <p:nvSpPr>
          <p:cNvPr id="7" name="Text 4"/>
          <p:cNvSpPr/>
          <p:nvPr/>
        </p:nvSpPr>
        <p:spPr>
          <a:xfrm>
            <a:off x="1234440" y="2039112"/>
            <a:ext cx="5029200" cy="274320"/>
          </a:xfrm>
          <a:prstGeom prst="rect">
            <a:avLst/>
          </a:prstGeom>
          <a:noFill/>
          <a:ln/>
        </p:spPr>
        <p:txBody>
          <a:bodyPr wrap="square" lIns="0" tIns="0" rIns="0" bIns="0" rtlCol="0" anchor="ctr"/>
          <a:lstStyle/>
          <a:p>
            <a:pPr indent="0" marL="0">
              <a:buNone/>
            </a:pPr>
            <a:r>
              <a:rPr lang="en-US" sz="1400" b="1" dirty="0">
                <a:solidFill>
                  <a:srgbClr val="17263D"/>
                </a:solidFill>
                <a:latin typeface="Cambria" pitchFamily="34" charset="0"/>
                <a:ea typeface="Cambria" pitchFamily="34" charset="-122"/>
                <a:cs typeface="Cambria" pitchFamily="34" charset="-120"/>
              </a:rPr>
              <a:t>Phone</a:t>
            </a:r>
            <a:endParaRPr lang="en-US" sz="1400" dirty="0"/>
          </a:p>
        </p:txBody>
      </p:sp>
      <p:sp>
        <p:nvSpPr>
          <p:cNvPr id="8" name="Text 5"/>
          <p:cNvSpPr/>
          <p:nvPr/>
        </p:nvSpPr>
        <p:spPr>
          <a:xfrm>
            <a:off x="1234440" y="2304288"/>
            <a:ext cx="5120640" cy="365760"/>
          </a:xfrm>
          <a:prstGeom prst="rect">
            <a:avLst/>
          </a:prstGeom>
          <a:noFill/>
          <a:ln/>
        </p:spPr>
        <p:txBody>
          <a:bodyPr wrap="square" lIns="0" tIns="0" rIns="0" bIns="0" rtlCol="0" anchor="ctr"/>
          <a:lstStyle/>
          <a:p>
            <a:pPr indent="0" marL="0">
              <a:buNone/>
            </a:pPr>
            <a:r>
              <a:rPr lang="en-US" sz="1080" dirty="0">
                <a:solidFill>
                  <a:srgbClr val="55677E"/>
                </a:solidFill>
                <a:latin typeface="Calibri" pitchFamily="34" charset="0"/>
                <a:ea typeface="Calibri" pitchFamily="34" charset="-122"/>
                <a:cs typeface="Calibri" pitchFamily="34" charset="-120"/>
              </a:rPr>
              <a:t>+07 554 332 322  ·  +236 256 256 365</a:t>
            </a:r>
            <a:endParaRPr lang="en-US" sz="1080" dirty="0"/>
          </a:p>
        </p:txBody>
      </p:sp>
      <p:sp>
        <p:nvSpPr>
          <p:cNvPr id="9" name="Shape 6"/>
          <p:cNvSpPr/>
          <p:nvPr/>
        </p:nvSpPr>
        <p:spPr>
          <a:xfrm>
            <a:off x="548640" y="2971800"/>
            <a:ext cx="502920" cy="502920"/>
          </a:xfrm>
          <a:prstGeom prst="ellipse">
            <a:avLst/>
          </a:prstGeom>
          <a:solidFill>
            <a:srgbClr val="EAF3FB"/>
          </a:solidFill>
          <a:ln/>
        </p:spPr>
      </p:sp>
      <p:pic>
        <p:nvPicPr>
          <p:cNvPr id="10" name="Image 1" descr="/home/claude/medsev-ppt/icons/envelope_0B5FA4.png">    </p:cNvPr>
          <p:cNvPicPr>
            <a:picLocks noChangeAspect="1"/>
          </p:cNvPicPr>
          <p:nvPr/>
        </p:nvPicPr>
        <p:blipFill>
          <a:blip r:embed="rId2"/>
          <a:stretch>
            <a:fillRect/>
          </a:stretch>
        </p:blipFill>
        <p:spPr>
          <a:xfrm>
            <a:off x="661797" y="3084957"/>
            <a:ext cx="276606" cy="276606"/>
          </a:xfrm>
          <a:prstGeom prst="rect">
            <a:avLst/>
          </a:prstGeom>
        </p:spPr>
      </p:pic>
      <p:sp>
        <p:nvSpPr>
          <p:cNvPr id="11" name="Text 7"/>
          <p:cNvSpPr/>
          <p:nvPr/>
        </p:nvSpPr>
        <p:spPr>
          <a:xfrm>
            <a:off x="1234440" y="2953512"/>
            <a:ext cx="5029200" cy="274320"/>
          </a:xfrm>
          <a:prstGeom prst="rect">
            <a:avLst/>
          </a:prstGeom>
          <a:noFill/>
          <a:ln/>
        </p:spPr>
        <p:txBody>
          <a:bodyPr wrap="square" lIns="0" tIns="0" rIns="0" bIns="0" rtlCol="0" anchor="ctr"/>
          <a:lstStyle/>
          <a:p>
            <a:pPr indent="0" marL="0">
              <a:buNone/>
            </a:pPr>
            <a:r>
              <a:rPr lang="en-US" sz="1400" b="1" dirty="0">
                <a:solidFill>
                  <a:srgbClr val="17263D"/>
                </a:solidFill>
                <a:latin typeface="Cambria" pitchFamily="34" charset="0"/>
                <a:ea typeface="Cambria" pitchFamily="34" charset="-122"/>
                <a:cs typeface="Cambria" pitchFamily="34" charset="-120"/>
              </a:rPr>
              <a:t>Email</a:t>
            </a:r>
            <a:endParaRPr lang="en-US" sz="1400" dirty="0"/>
          </a:p>
        </p:txBody>
      </p:sp>
      <p:sp>
        <p:nvSpPr>
          <p:cNvPr id="12" name="Text 8"/>
          <p:cNvSpPr/>
          <p:nvPr/>
        </p:nvSpPr>
        <p:spPr>
          <a:xfrm>
            <a:off x="1234440" y="3218688"/>
            <a:ext cx="5120640" cy="365760"/>
          </a:xfrm>
          <a:prstGeom prst="rect">
            <a:avLst/>
          </a:prstGeom>
          <a:noFill/>
          <a:ln/>
        </p:spPr>
        <p:txBody>
          <a:bodyPr wrap="square" lIns="0" tIns="0" rIns="0" bIns="0" rtlCol="0" anchor="ctr"/>
          <a:lstStyle/>
          <a:p>
            <a:pPr indent="0" marL="0">
              <a:buNone/>
            </a:pPr>
            <a:r>
              <a:rPr lang="en-US" sz="1080" dirty="0">
                <a:solidFill>
                  <a:srgbClr val="55677E"/>
                </a:solidFill>
                <a:latin typeface="Calibri" pitchFamily="34" charset="0"/>
                <a:ea typeface="Calibri" pitchFamily="34" charset="-122"/>
                <a:cs typeface="Calibri" pitchFamily="34" charset="-120"/>
              </a:rPr>
              <a:t>Two dedicated addresses for general &amp; support queries</a:t>
            </a:r>
            <a:endParaRPr lang="en-US" sz="1080" dirty="0"/>
          </a:p>
        </p:txBody>
      </p:sp>
      <p:sp>
        <p:nvSpPr>
          <p:cNvPr id="13" name="Shape 9"/>
          <p:cNvSpPr/>
          <p:nvPr/>
        </p:nvSpPr>
        <p:spPr>
          <a:xfrm>
            <a:off x="548640" y="3886200"/>
            <a:ext cx="502920" cy="502920"/>
          </a:xfrm>
          <a:prstGeom prst="ellipse">
            <a:avLst/>
          </a:prstGeom>
          <a:solidFill>
            <a:srgbClr val="EAF3FB"/>
          </a:solidFill>
          <a:ln/>
        </p:spPr>
      </p:sp>
      <p:pic>
        <p:nvPicPr>
          <p:cNvPr id="14" name="Image 2" descr="/home/claude/medsev-ppt/icons/map_0B5FA4.png">    </p:cNvPr>
          <p:cNvPicPr>
            <a:picLocks noChangeAspect="1"/>
          </p:cNvPicPr>
          <p:nvPr/>
        </p:nvPicPr>
        <p:blipFill>
          <a:blip r:embed="rId3"/>
          <a:stretch>
            <a:fillRect/>
          </a:stretch>
        </p:blipFill>
        <p:spPr>
          <a:xfrm>
            <a:off x="661797" y="3999357"/>
            <a:ext cx="276606" cy="276606"/>
          </a:xfrm>
          <a:prstGeom prst="rect">
            <a:avLst/>
          </a:prstGeom>
        </p:spPr>
      </p:pic>
      <p:sp>
        <p:nvSpPr>
          <p:cNvPr id="15" name="Text 10"/>
          <p:cNvSpPr/>
          <p:nvPr/>
        </p:nvSpPr>
        <p:spPr>
          <a:xfrm>
            <a:off x="1234440" y="3867912"/>
            <a:ext cx="5029200" cy="274320"/>
          </a:xfrm>
          <a:prstGeom prst="rect">
            <a:avLst/>
          </a:prstGeom>
          <a:noFill/>
          <a:ln/>
        </p:spPr>
        <p:txBody>
          <a:bodyPr wrap="square" lIns="0" tIns="0" rIns="0" bIns="0" rtlCol="0" anchor="ctr"/>
          <a:lstStyle/>
          <a:p>
            <a:pPr indent="0" marL="0">
              <a:buNone/>
            </a:pPr>
            <a:r>
              <a:rPr lang="en-US" sz="1400" b="1" dirty="0">
                <a:solidFill>
                  <a:srgbClr val="17263D"/>
                </a:solidFill>
                <a:latin typeface="Cambria" pitchFamily="34" charset="0"/>
                <a:ea typeface="Cambria" pitchFamily="34" charset="-122"/>
                <a:cs typeface="Cambria" pitchFamily="34" charset="-120"/>
              </a:rPr>
              <a:t>Address</a:t>
            </a:r>
            <a:endParaRPr lang="en-US" sz="1400" dirty="0"/>
          </a:p>
        </p:txBody>
      </p:sp>
      <p:sp>
        <p:nvSpPr>
          <p:cNvPr id="16" name="Text 11"/>
          <p:cNvSpPr/>
          <p:nvPr/>
        </p:nvSpPr>
        <p:spPr>
          <a:xfrm>
            <a:off x="1234440" y="4133088"/>
            <a:ext cx="5120640" cy="365760"/>
          </a:xfrm>
          <a:prstGeom prst="rect">
            <a:avLst/>
          </a:prstGeom>
          <a:noFill/>
          <a:ln/>
        </p:spPr>
        <p:txBody>
          <a:bodyPr wrap="square" lIns="0" tIns="0" rIns="0" bIns="0" rtlCol="0" anchor="ctr"/>
          <a:lstStyle/>
          <a:p>
            <a:pPr indent="0" marL="0">
              <a:buNone/>
            </a:pPr>
            <a:r>
              <a:rPr lang="en-US" sz="1080" dirty="0">
                <a:solidFill>
                  <a:srgbClr val="55677E"/>
                </a:solidFill>
                <a:latin typeface="Calibri" pitchFamily="34" charset="0"/>
                <a:ea typeface="Calibri" pitchFamily="34" charset="-122"/>
                <a:cs typeface="Calibri" pitchFamily="34" charset="-120"/>
              </a:rPr>
              <a:t>210-27 Quadra, Market Street, Victoria, Canada</a:t>
            </a:r>
            <a:endParaRPr lang="en-US" sz="1080" dirty="0"/>
          </a:p>
        </p:txBody>
      </p:sp>
      <p:sp>
        <p:nvSpPr>
          <p:cNvPr id="17" name="Shape 12"/>
          <p:cNvSpPr/>
          <p:nvPr/>
        </p:nvSpPr>
        <p:spPr>
          <a:xfrm>
            <a:off x="548640" y="4800600"/>
            <a:ext cx="502920" cy="502920"/>
          </a:xfrm>
          <a:prstGeom prst="ellipse">
            <a:avLst/>
          </a:prstGeom>
          <a:solidFill>
            <a:srgbClr val="EAF3FB"/>
          </a:solidFill>
          <a:ln/>
        </p:spPr>
      </p:sp>
      <p:pic>
        <p:nvPicPr>
          <p:cNvPr id="18" name="Image 3" descr="/home/claude/medsev-ppt/icons/clock_0B5FA4.png">    </p:cNvPr>
          <p:cNvPicPr>
            <a:picLocks noChangeAspect="1"/>
          </p:cNvPicPr>
          <p:nvPr/>
        </p:nvPicPr>
        <p:blipFill>
          <a:blip r:embed="rId4"/>
          <a:stretch>
            <a:fillRect/>
          </a:stretch>
        </p:blipFill>
        <p:spPr>
          <a:xfrm>
            <a:off x="661797" y="4913757"/>
            <a:ext cx="276606" cy="276606"/>
          </a:xfrm>
          <a:prstGeom prst="rect">
            <a:avLst/>
          </a:prstGeom>
        </p:spPr>
      </p:pic>
      <p:sp>
        <p:nvSpPr>
          <p:cNvPr id="19" name="Text 13"/>
          <p:cNvSpPr/>
          <p:nvPr/>
        </p:nvSpPr>
        <p:spPr>
          <a:xfrm>
            <a:off x="1234440" y="4782312"/>
            <a:ext cx="5029200" cy="274320"/>
          </a:xfrm>
          <a:prstGeom prst="rect">
            <a:avLst/>
          </a:prstGeom>
          <a:noFill/>
          <a:ln/>
        </p:spPr>
        <p:txBody>
          <a:bodyPr wrap="square" lIns="0" tIns="0" rIns="0" bIns="0" rtlCol="0" anchor="ctr"/>
          <a:lstStyle/>
          <a:p>
            <a:pPr indent="0" marL="0">
              <a:buNone/>
            </a:pPr>
            <a:r>
              <a:rPr lang="en-US" sz="1400" b="1" dirty="0">
                <a:solidFill>
                  <a:srgbClr val="17263D"/>
                </a:solidFill>
                <a:latin typeface="Cambria" pitchFamily="34" charset="0"/>
                <a:ea typeface="Cambria" pitchFamily="34" charset="-122"/>
                <a:cs typeface="Cambria" pitchFamily="34" charset="-120"/>
              </a:rPr>
              <a:t>Response time</a:t>
            </a:r>
            <a:endParaRPr lang="en-US" sz="1400" dirty="0"/>
          </a:p>
        </p:txBody>
      </p:sp>
      <p:sp>
        <p:nvSpPr>
          <p:cNvPr id="20" name="Text 14"/>
          <p:cNvSpPr/>
          <p:nvPr/>
        </p:nvSpPr>
        <p:spPr>
          <a:xfrm>
            <a:off x="1234440" y="5047488"/>
            <a:ext cx="5120640" cy="365760"/>
          </a:xfrm>
          <a:prstGeom prst="rect">
            <a:avLst/>
          </a:prstGeom>
          <a:noFill/>
          <a:ln/>
        </p:spPr>
        <p:txBody>
          <a:bodyPr wrap="square" lIns="0" tIns="0" rIns="0" bIns="0" rtlCol="0" anchor="ctr"/>
          <a:lstStyle/>
          <a:p>
            <a:pPr indent="0" marL="0">
              <a:buNone/>
            </a:pPr>
            <a:r>
              <a:rPr lang="en-US" sz="1080" dirty="0">
                <a:solidFill>
                  <a:srgbClr val="55677E"/>
                </a:solidFill>
                <a:latin typeface="Calibri" pitchFamily="34" charset="0"/>
                <a:ea typeface="Calibri" pitchFamily="34" charset="-122"/>
                <a:cs typeface="Calibri" pitchFamily="34" charset="-120"/>
              </a:rPr>
              <a:t>Contact form submissions routed to the front desk</a:t>
            </a:r>
            <a:endParaRPr lang="en-US" sz="1080" dirty="0"/>
          </a:p>
        </p:txBody>
      </p:sp>
      <p:sp>
        <p:nvSpPr>
          <p:cNvPr id="21" name="Shape 15"/>
          <p:cNvSpPr/>
          <p:nvPr/>
        </p:nvSpPr>
        <p:spPr>
          <a:xfrm>
            <a:off x="6492240" y="1417320"/>
            <a:ext cx="5166360" cy="4663440"/>
          </a:xfrm>
          <a:prstGeom prst="roundRect">
            <a:avLst>
              <a:gd name="adj" fmla="val 1373"/>
            </a:avLst>
          </a:prstGeom>
          <a:solidFill>
            <a:srgbClr val="FFFFFF"/>
          </a:solidFill>
          <a:ln w="12700">
            <a:solidFill>
              <a:srgbClr val="D6E5F2"/>
            </a:solidFill>
            <a:prstDash val="solid"/>
          </a:ln>
          <a:effectLst>
            <a:outerShdw sx="100000" sy="100000" kx="0" ky="0" algn="bl" rotWithShape="0" blurRad="152400" dist="50800" dir="5400000">
              <a:srgbClr val="0A3B63">
                <a:alpha val="22000"/>
              </a:srgbClr>
            </a:outerShdw>
          </a:effectLst>
        </p:spPr>
      </p:sp>
      <p:sp>
        <p:nvSpPr>
          <p:cNvPr id="22" name="Shape 16"/>
          <p:cNvSpPr/>
          <p:nvPr/>
        </p:nvSpPr>
        <p:spPr>
          <a:xfrm>
            <a:off x="6492240" y="1417320"/>
            <a:ext cx="5166360" cy="310896"/>
          </a:xfrm>
          <a:prstGeom prst="rect">
            <a:avLst/>
          </a:prstGeom>
          <a:solidFill>
            <a:srgbClr val="F6FAFD"/>
          </a:solidFill>
          <a:ln/>
        </p:spPr>
      </p:sp>
      <p:sp>
        <p:nvSpPr>
          <p:cNvPr id="23" name="Shape 17"/>
          <p:cNvSpPr/>
          <p:nvPr/>
        </p:nvSpPr>
        <p:spPr>
          <a:xfrm>
            <a:off x="6620256" y="1527048"/>
            <a:ext cx="100584" cy="100584"/>
          </a:xfrm>
          <a:prstGeom prst="ellipse">
            <a:avLst/>
          </a:prstGeom>
          <a:solidFill>
            <a:srgbClr val="E27D60"/>
          </a:solidFill>
          <a:ln/>
        </p:spPr>
      </p:sp>
      <p:sp>
        <p:nvSpPr>
          <p:cNvPr id="24" name="Shape 18"/>
          <p:cNvSpPr/>
          <p:nvPr/>
        </p:nvSpPr>
        <p:spPr>
          <a:xfrm>
            <a:off x="6803136" y="1527048"/>
            <a:ext cx="100584" cy="100584"/>
          </a:xfrm>
          <a:prstGeom prst="ellipse">
            <a:avLst/>
          </a:prstGeom>
          <a:solidFill>
            <a:srgbClr val="E8C547"/>
          </a:solidFill>
          <a:ln/>
        </p:spPr>
      </p:sp>
      <p:sp>
        <p:nvSpPr>
          <p:cNvPr id="25" name="Shape 19"/>
          <p:cNvSpPr/>
          <p:nvPr/>
        </p:nvSpPr>
        <p:spPr>
          <a:xfrm>
            <a:off x="6986016" y="1527048"/>
            <a:ext cx="100584" cy="100584"/>
          </a:xfrm>
          <a:prstGeom prst="ellipse">
            <a:avLst/>
          </a:prstGeom>
          <a:solidFill>
            <a:srgbClr val="6FCF97"/>
          </a:solidFill>
          <a:ln/>
        </p:spPr>
      </p:sp>
      <p:sp>
        <p:nvSpPr>
          <p:cNvPr id="26" name="Shape 20"/>
          <p:cNvSpPr/>
          <p:nvPr/>
        </p:nvSpPr>
        <p:spPr>
          <a:xfrm>
            <a:off x="7269480" y="1490472"/>
            <a:ext cx="4160520" cy="164592"/>
          </a:xfrm>
          <a:prstGeom prst="roundRect">
            <a:avLst>
              <a:gd name="adj" fmla="val 50000"/>
            </a:avLst>
          </a:prstGeom>
          <a:solidFill>
            <a:srgbClr val="FFFFFF"/>
          </a:solidFill>
          <a:ln w="6350">
            <a:solidFill>
              <a:srgbClr val="D6E5F2"/>
            </a:solidFill>
            <a:prstDash val="solid"/>
          </a:ln>
        </p:spPr>
      </p:sp>
      <p:sp>
        <p:nvSpPr>
          <p:cNvPr id="27" name="Text 21"/>
          <p:cNvSpPr/>
          <p:nvPr/>
        </p:nvSpPr>
        <p:spPr>
          <a:xfrm>
            <a:off x="7360920" y="1485900"/>
            <a:ext cx="4069080" cy="173736"/>
          </a:xfrm>
          <a:prstGeom prst="rect">
            <a:avLst/>
          </a:prstGeom>
          <a:noFill/>
          <a:ln/>
        </p:spPr>
        <p:txBody>
          <a:bodyPr wrap="square" lIns="0" tIns="0" rIns="0" bIns="0" rtlCol="0" anchor="ctr"/>
          <a:lstStyle/>
          <a:p>
            <a:pPr indent="0" marL="0">
              <a:buNone/>
            </a:pPr>
            <a:r>
              <a:rPr lang="en-US" sz="800" dirty="0">
                <a:solidFill>
                  <a:srgbClr val="55677E"/>
                </a:solidFill>
                <a:latin typeface="Calibri" pitchFamily="34" charset="0"/>
                <a:ea typeface="Calibri" pitchFamily="34" charset="-122"/>
                <a:cs typeface="Calibri" pitchFamily="34" charset="-120"/>
              </a:rPr>
              <a:t>medsev/default/contact.html</a:t>
            </a:r>
            <a:endParaRPr lang="en-US" sz="800" dirty="0"/>
          </a:p>
        </p:txBody>
      </p:sp>
      <p:sp>
        <p:nvSpPr>
          <p:cNvPr id="28" name="Shape 22"/>
          <p:cNvSpPr/>
          <p:nvPr/>
        </p:nvSpPr>
        <p:spPr>
          <a:xfrm>
            <a:off x="6620256" y="1837944"/>
            <a:ext cx="4910328" cy="1737360"/>
          </a:xfrm>
          <a:prstGeom prst="roundRect">
            <a:avLst>
              <a:gd name="adj" fmla="val 3158"/>
            </a:avLst>
          </a:prstGeom>
          <a:solidFill>
            <a:srgbClr val="EAF3FB"/>
          </a:solidFill>
          <a:ln/>
        </p:spPr>
      </p:sp>
      <p:sp>
        <p:nvSpPr>
          <p:cNvPr id="29" name="Shape 23"/>
          <p:cNvSpPr/>
          <p:nvPr/>
        </p:nvSpPr>
        <p:spPr>
          <a:xfrm>
            <a:off x="8709660" y="2340864"/>
            <a:ext cx="731520" cy="731520"/>
          </a:xfrm>
          <a:prstGeom prst="ellipse">
            <a:avLst/>
          </a:prstGeom>
          <a:solidFill>
            <a:srgbClr val="FFFFFF"/>
          </a:solidFill>
          <a:ln/>
        </p:spPr>
      </p:sp>
      <p:pic>
        <p:nvPicPr>
          <p:cNvPr id="30" name="Image 4" descr="/home/claude/medsev-ppt/icons/map_0B5FA4.png">    </p:cNvPr>
          <p:cNvPicPr>
            <a:picLocks noChangeAspect="1"/>
          </p:cNvPicPr>
          <p:nvPr/>
        </p:nvPicPr>
        <p:blipFill>
          <a:blip r:embed="rId5"/>
          <a:stretch>
            <a:fillRect/>
          </a:stretch>
        </p:blipFill>
        <p:spPr>
          <a:xfrm>
            <a:off x="8874252" y="2505456"/>
            <a:ext cx="402336" cy="402336"/>
          </a:xfrm>
          <a:prstGeom prst="rect">
            <a:avLst/>
          </a:prstGeom>
        </p:spPr>
      </p:pic>
      <p:sp>
        <p:nvSpPr>
          <p:cNvPr id="31" name="Text 24"/>
          <p:cNvSpPr/>
          <p:nvPr/>
        </p:nvSpPr>
        <p:spPr>
          <a:xfrm>
            <a:off x="6620256" y="3209544"/>
            <a:ext cx="4910328" cy="228600"/>
          </a:xfrm>
          <a:prstGeom prst="rect">
            <a:avLst/>
          </a:prstGeom>
          <a:noFill/>
          <a:ln/>
        </p:spPr>
        <p:txBody>
          <a:bodyPr wrap="square" lIns="0" tIns="0" rIns="0" bIns="0" rtlCol="0" anchor="ctr"/>
          <a:lstStyle/>
          <a:p>
            <a:pPr algn="ctr" indent="0" marL="0">
              <a:buNone/>
            </a:pPr>
            <a:r>
              <a:rPr lang="en-US" sz="900" dirty="0">
                <a:solidFill>
                  <a:srgbClr val="55677E"/>
                </a:solidFill>
                <a:latin typeface="Calibri" pitchFamily="34" charset="0"/>
                <a:ea typeface="Calibri" pitchFamily="34" charset="-122"/>
                <a:cs typeface="Calibri" pitchFamily="34" charset="-120"/>
              </a:rPr>
              <a:t>Google Map Embed</a:t>
            </a:r>
            <a:endParaRPr lang="en-US" sz="900" dirty="0"/>
          </a:p>
        </p:txBody>
      </p:sp>
      <p:sp>
        <p:nvSpPr>
          <p:cNvPr id="32" name="Text 25"/>
          <p:cNvSpPr/>
          <p:nvPr/>
        </p:nvSpPr>
        <p:spPr>
          <a:xfrm>
            <a:off x="6620256" y="3758184"/>
            <a:ext cx="4910328" cy="256032"/>
          </a:xfrm>
          <a:prstGeom prst="rect">
            <a:avLst/>
          </a:prstGeom>
          <a:noFill/>
          <a:ln/>
        </p:spPr>
        <p:txBody>
          <a:bodyPr wrap="square" lIns="0" tIns="0" rIns="0" bIns="0" rtlCol="0" anchor="ctr"/>
          <a:lstStyle/>
          <a:p>
            <a:pPr indent="0" marL="0">
              <a:buNone/>
            </a:pPr>
            <a:r>
              <a:rPr lang="en-US" sz="1250" b="1" dirty="0">
                <a:solidFill>
                  <a:srgbClr val="17263D"/>
                </a:solidFill>
                <a:latin typeface="Cambria" pitchFamily="34" charset="0"/>
                <a:ea typeface="Cambria" pitchFamily="34" charset="-122"/>
                <a:cs typeface="Cambria" pitchFamily="34" charset="-120"/>
              </a:rPr>
              <a:t>Send us a message</a:t>
            </a:r>
            <a:endParaRPr lang="en-US" sz="1250" dirty="0"/>
          </a:p>
        </p:txBody>
      </p:sp>
      <p:sp>
        <p:nvSpPr>
          <p:cNvPr id="33" name="Shape 26"/>
          <p:cNvSpPr/>
          <p:nvPr/>
        </p:nvSpPr>
        <p:spPr>
          <a:xfrm>
            <a:off x="6620256" y="4123944"/>
            <a:ext cx="4910328" cy="274320"/>
          </a:xfrm>
          <a:prstGeom prst="roundRect">
            <a:avLst>
              <a:gd name="adj" fmla="val 13333"/>
            </a:avLst>
          </a:prstGeom>
          <a:solidFill>
            <a:srgbClr val="F6FAFD"/>
          </a:solidFill>
          <a:ln w="9525">
            <a:solidFill>
              <a:srgbClr val="D6E5F2"/>
            </a:solidFill>
            <a:prstDash val="solid"/>
          </a:ln>
        </p:spPr>
      </p:sp>
      <p:sp>
        <p:nvSpPr>
          <p:cNvPr id="34" name="Shape 27"/>
          <p:cNvSpPr/>
          <p:nvPr/>
        </p:nvSpPr>
        <p:spPr>
          <a:xfrm>
            <a:off x="6620256" y="4535424"/>
            <a:ext cx="4910328" cy="274320"/>
          </a:xfrm>
          <a:prstGeom prst="roundRect">
            <a:avLst>
              <a:gd name="adj" fmla="val 13333"/>
            </a:avLst>
          </a:prstGeom>
          <a:solidFill>
            <a:srgbClr val="F6FAFD"/>
          </a:solidFill>
          <a:ln w="9525">
            <a:solidFill>
              <a:srgbClr val="D6E5F2"/>
            </a:solidFill>
            <a:prstDash val="solid"/>
          </a:ln>
        </p:spPr>
      </p:sp>
      <p:sp>
        <p:nvSpPr>
          <p:cNvPr id="35" name="Shape 28"/>
          <p:cNvSpPr/>
          <p:nvPr/>
        </p:nvSpPr>
        <p:spPr>
          <a:xfrm>
            <a:off x="6620256" y="4946904"/>
            <a:ext cx="4910328" cy="548640"/>
          </a:xfrm>
          <a:prstGeom prst="roundRect">
            <a:avLst>
              <a:gd name="adj" fmla="val 6667"/>
            </a:avLst>
          </a:prstGeom>
          <a:solidFill>
            <a:srgbClr val="F6FAFD"/>
          </a:solidFill>
          <a:ln w="9525">
            <a:solidFill>
              <a:srgbClr val="D6E5F2"/>
            </a:solidFill>
            <a:prstDash val="solid"/>
          </a:ln>
        </p:spPr>
      </p:sp>
      <p:sp>
        <p:nvSpPr>
          <p:cNvPr id="36" name="Text 29"/>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37" name="Text 30"/>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Contact Us</a:t>
            </a:r>
            <a:endParaRPr lang="en-US" sz="900" dirty="0"/>
          </a:p>
        </p:txBody>
      </p:sp>
      <p:sp>
        <p:nvSpPr>
          <p:cNvPr id="38" name="Text 31"/>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15 / 23</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PAGE WALKTHROUGH · 13</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Sign Up &amp; Login</a:t>
            </a:r>
            <a:endParaRPr lang="en-US" sz="3000" dirty="0"/>
          </a:p>
        </p:txBody>
      </p:sp>
      <p:sp>
        <p:nvSpPr>
          <p:cNvPr id="4" name="Text 2"/>
          <p:cNvSpPr/>
          <p:nvPr/>
        </p:nvSpPr>
        <p:spPr>
          <a:xfrm>
            <a:off x="548640" y="1371600"/>
            <a:ext cx="9144000" cy="365760"/>
          </a:xfrm>
          <a:prstGeom prst="rect">
            <a:avLst/>
          </a:prstGeom>
          <a:noFill/>
          <a:ln/>
        </p:spPr>
        <p:txBody>
          <a:bodyPr wrap="square" lIns="0" tIns="0" rIns="0" bIns="0" rtlCol="0" anchor="ctr"/>
          <a:lstStyle/>
          <a:p>
            <a:pPr indent="0" marL="0">
              <a:buNone/>
            </a:pPr>
            <a:r>
              <a:rPr lang="en-US" sz="1300" dirty="0">
                <a:solidFill>
                  <a:srgbClr val="55677E"/>
                </a:solidFill>
                <a:latin typeface="Calibri" pitchFamily="34" charset="0"/>
                <a:ea typeface="Calibri" pitchFamily="34" charset="-122"/>
                <a:cs typeface="Calibri" pitchFamily="34" charset="-120"/>
              </a:rPr>
              <a:t>A lightweight patient account layer</a:t>
            </a:r>
            <a:endParaRPr lang="en-US" sz="1300" dirty="0"/>
          </a:p>
        </p:txBody>
      </p:sp>
      <p:sp>
        <p:nvSpPr>
          <p:cNvPr id="5" name="Shape 3"/>
          <p:cNvSpPr/>
          <p:nvPr/>
        </p:nvSpPr>
        <p:spPr>
          <a:xfrm>
            <a:off x="1188720" y="1874520"/>
            <a:ext cx="2788920" cy="3931920"/>
          </a:xfrm>
          <a:prstGeom prst="roundRect">
            <a:avLst>
              <a:gd name="adj" fmla="val 2951"/>
            </a:avLst>
          </a:prstGeom>
          <a:solidFill>
            <a:srgbClr val="F6FAFD"/>
          </a:solidFill>
          <a:ln w="12700">
            <a:solidFill>
              <a:srgbClr val="D6E5F2"/>
            </a:solidFill>
            <a:prstDash val="solid"/>
          </a:ln>
        </p:spPr>
      </p:sp>
      <p:sp>
        <p:nvSpPr>
          <p:cNvPr id="6" name="Shape 4"/>
          <p:cNvSpPr/>
          <p:nvPr/>
        </p:nvSpPr>
        <p:spPr>
          <a:xfrm>
            <a:off x="2217420" y="2103120"/>
            <a:ext cx="731520" cy="731520"/>
          </a:xfrm>
          <a:prstGeom prst="ellipse">
            <a:avLst/>
          </a:prstGeom>
          <a:solidFill>
            <a:srgbClr val="FFFFFF"/>
          </a:solidFill>
          <a:ln/>
        </p:spPr>
      </p:sp>
      <p:pic>
        <p:nvPicPr>
          <p:cNvPr id="7" name="Image 0" descr="/home/claude/medsev-ppt/icons/user_0B5FA4.png">    </p:cNvPr>
          <p:cNvPicPr>
            <a:picLocks noChangeAspect="1"/>
          </p:cNvPicPr>
          <p:nvPr/>
        </p:nvPicPr>
        <p:blipFill>
          <a:blip r:embed="rId1"/>
          <a:stretch>
            <a:fillRect/>
          </a:stretch>
        </p:blipFill>
        <p:spPr>
          <a:xfrm>
            <a:off x="2400300" y="2286000"/>
            <a:ext cx="365760" cy="365760"/>
          </a:xfrm>
          <a:prstGeom prst="rect">
            <a:avLst/>
          </a:prstGeom>
        </p:spPr>
      </p:pic>
      <p:sp>
        <p:nvSpPr>
          <p:cNvPr id="8" name="Text 5"/>
          <p:cNvSpPr/>
          <p:nvPr/>
        </p:nvSpPr>
        <p:spPr>
          <a:xfrm>
            <a:off x="1325880" y="2971800"/>
            <a:ext cx="2514600" cy="274320"/>
          </a:xfrm>
          <a:prstGeom prst="rect">
            <a:avLst/>
          </a:prstGeom>
          <a:noFill/>
          <a:ln/>
        </p:spPr>
        <p:txBody>
          <a:bodyPr wrap="square" lIns="0" tIns="0" rIns="0" bIns="0" rtlCol="0" anchor="ctr"/>
          <a:lstStyle/>
          <a:p>
            <a:pPr algn="ctr" indent="0" marL="0">
              <a:buNone/>
            </a:pPr>
            <a:r>
              <a:rPr lang="en-US" sz="1450" b="1" dirty="0">
                <a:solidFill>
                  <a:srgbClr val="17263D"/>
                </a:solidFill>
                <a:latin typeface="Cambria" pitchFamily="34" charset="0"/>
                <a:ea typeface="Cambria" pitchFamily="34" charset="-122"/>
                <a:cs typeface="Cambria" pitchFamily="34" charset="-120"/>
              </a:rPr>
              <a:t>Create Account</a:t>
            </a:r>
            <a:endParaRPr lang="en-US" sz="1450" dirty="0"/>
          </a:p>
        </p:txBody>
      </p:sp>
      <p:sp>
        <p:nvSpPr>
          <p:cNvPr id="9" name="Text 6"/>
          <p:cNvSpPr/>
          <p:nvPr/>
        </p:nvSpPr>
        <p:spPr>
          <a:xfrm>
            <a:off x="1417320" y="3429000"/>
            <a:ext cx="2331720" cy="164592"/>
          </a:xfrm>
          <a:prstGeom prst="rect">
            <a:avLst/>
          </a:prstGeom>
          <a:noFill/>
          <a:ln/>
        </p:spPr>
        <p:txBody>
          <a:bodyPr wrap="square" lIns="0" tIns="0" rIns="0" bIns="0" rtlCol="0" anchor="ctr"/>
          <a:lstStyle/>
          <a:p>
            <a:pPr indent="0" marL="0">
              <a:buNone/>
            </a:pPr>
            <a:r>
              <a:rPr lang="en-US" sz="800" dirty="0">
                <a:solidFill>
                  <a:srgbClr val="55677E"/>
                </a:solidFill>
                <a:latin typeface="Calibri" pitchFamily="34" charset="0"/>
                <a:ea typeface="Calibri" pitchFamily="34" charset="-122"/>
                <a:cs typeface="Calibri" pitchFamily="34" charset="-120"/>
              </a:rPr>
              <a:t>Full Name</a:t>
            </a:r>
            <a:endParaRPr lang="en-US" sz="800" dirty="0"/>
          </a:p>
        </p:txBody>
      </p:sp>
      <p:sp>
        <p:nvSpPr>
          <p:cNvPr id="10" name="Shape 7"/>
          <p:cNvSpPr/>
          <p:nvPr/>
        </p:nvSpPr>
        <p:spPr>
          <a:xfrm>
            <a:off x="1417320" y="3611880"/>
            <a:ext cx="2331720" cy="292608"/>
          </a:xfrm>
          <a:prstGeom prst="roundRect">
            <a:avLst>
              <a:gd name="adj" fmla="val 12500"/>
            </a:avLst>
          </a:prstGeom>
          <a:solidFill>
            <a:srgbClr val="FFFFFF"/>
          </a:solidFill>
          <a:ln w="9525">
            <a:solidFill>
              <a:srgbClr val="D6E5F2"/>
            </a:solidFill>
            <a:prstDash val="solid"/>
          </a:ln>
        </p:spPr>
      </p:sp>
      <p:sp>
        <p:nvSpPr>
          <p:cNvPr id="11" name="Text 8"/>
          <p:cNvSpPr/>
          <p:nvPr/>
        </p:nvSpPr>
        <p:spPr>
          <a:xfrm>
            <a:off x="1417320" y="3941064"/>
            <a:ext cx="2331720" cy="164592"/>
          </a:xfrm>
          <a:prstGeom prst="rect">
            <a:avLst/>
          </a:prstGeom>
          <a:noFill/>
          <a:ln/>
        </p:spPr>
        <p:txBody>
          <a:bodyPr wrap="square" lIns="0" tIns="0" rIns="0" bIns="0" rtlCol="0" anchor="ctr"/>
          <a:lstStyle/>
          <a:p>
            <a:pPr indent="0" marL="0">
              <a:buNone/>
            </a:pPr>
            <a:r>
              <a:rPr lang="en-US" sz="800" dirty="0">
                <a:solidFill>
                  <a:srgbClr val="55677E"/>
                </a:solidFill>
                <a:latin typeface="Calibri" pitchFamily="34" charset="0"/>
                <a:ea typeface="Calibri" pitchFamily="34" charset="-122"/>
                <a:cs typeface="Calibri" pitchFamily="34" charset="-120"/>
              </a:rPr>
              <a:t>Email Address</a:t>
            </a:r>
            <a:endParaRPr lang="en-US" sz="800" dirty="0"/>
          </a:p>
        </p:txBody>
      </p:sp>
      <p:sp>
        <p:nvSpPr>
          <p:cNvPr id="12" name="Shape 9"/>
          <p:cNvSpPr/>
          <p:nvPr/>
        </p:nvSpPr>
        <p:spPr>
          <a:xfrm>
            <a:off x="1417320" y="4123944"/>
            <a:ext cx="2331720" cy="292608"/>
          </a:xfrm>
          <a:prstGeom prst="roundRect">
            <a:avLst>
              <a:gd name="adj" fmla="val 12500"/>
            </a:avLst>
          </a:prstGeom>
          <a:solidFill>
            <a:srgbClr val="FFFFFF"/>
          </a:solidFill>
          <a:ln w="9525">
            <a:solidFill>
              <a:srgbClr val="D6E5F2"/>
            </a:solidFill>
            <a:prstDash val="solid"/>
          </a:ln>
        </p:spPr>
      </p:sp>
      <p:sp>
        <p:nvSpPr>
          <p:cNvPr id="13" name="Text 10"/>
          <p:cNvSpPr/>
          <p:nvPr/>
        </p:nvSpPr>
        <p:spPr>
          <a:xfrm>
            <a:off x="1417320" y="4453128"/>
            <a:ext cx="2331720" cy="164592"/>
          </a:xfrm>
          <a:prstGeom prst="rect">
            <a:avLst/>
          </a:prstGeom>
          <a:noFill/>
          <a:ln/>
        </p:spPr>
        <p:txBody>
          <a:bodyPr wrap="square" lIns="0" tIns="0" rIns="0" bIns="0" rtlCol="0" anchor="ctr"/>
          <a:lstStyle/>
          <a:p>
            <a:pPr indent="0" marL="0">
              <a:buNone/>
            </a:pPr>
            <a:r>
              <a:rPr lang="en-US" sz="800" dirty="0">
                <a:solidFill>
                  <a:srgbClr val="55677E"/>
                </a:solidFill>
                <a:latin typeface="Calibri" pitchFamily="34" charset="0"/>
                <a:ea typeface="Calibri" pitchFamily="34" charset="-122"/>
                <a:cs typeface="Calibri" pitchFamily="34" charset="-120"/>
              </a:rPr>
              <a:t>Password</a:t>
            </a:r>
            <a:endParaRPr lang="en-US" sz="800" dirty="0"/>
          </a:p>
        </p:txBody>
      </p:sp>
      <p:sp>
        <p:nvSpPr>
          <p:cNvPr id="14" name="Shape 11"/>
          <p:cNvSpPr/>
          <p:nvPr/>
        </p:nvSpPr>
        <p:spPr>
          <a:xfrm>
            <a:off x="1417320" y="4636008"/>
            <a:ext cx="2331720" cy="292608"/>
          </a:xfrm>
          <a:prstGeom prst="roundRect">
            <a:avLst>
              <a:gd name="adj" fmla="val 12500"/>
            </a:avLst>
          </a:prstGeom>
          <a:solidFill>
            <a:srgbClr val="FFFFFF"/>
          </a:solidFill>
          <a:ln w="9525">
            <a:solidFill>
              <a:srgbClr val="D6E5F2"/>
            </a:solidFill>
            <a:prstDash val="solid"/>
          </a:ln>
        </p:spPr>
      </p:sp>
      <p:sp>
        <p:nvSpPr>
          <p:cNvPr id="15" name="Shape 12"/>
          <p:cNvSpPr/>
          <p:nvPr/>
        </p:nvSpPr>
        <p:spPr>
          <a:xfrm>
            <a:off x="1417320" y="5056632"/>
            <a:ext cx="2331720" cy="310896"/>
          </a:xfrm>
          <a:prstGeom prst="roundRect">
            <a:avLst>
              <a:gd name="adj" fmla="val 50000"/>
            </a:avLst>
          </a:prstGeom>
          <a:solidFill>
            <a:srgbClr val="0B5FA4"/>
          </a:solidFill>
          <a:ln/>
        </p:spPr>
      </p:sp>
      <p:sp>
        <p:nvSpPr>
          <p:cNvPr id="16" name="Text 13"/>
          <p:cNvSpPr/>
          <p:nvPr/>
        </p:nvSpPr>
        <p:spPr>
          <a:xfrm>
            <a:off x="1417320" y="5056632"/>
            <a:ext cx="233172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Sign Up</a:t>
            </a:r>
            <a:endParaRPr lang="en-US" sz="900" dirty="0"/>
          </a:p>
        </p:txBody>
      </p:sp>
      <p:sp>
        <p:nvSpPr>
          <p:cNvPr id="17" name="Shape 14"/>
          <p:cNvSpPr/>
          <p:nvPr/>
        </p:nvSpPr>
        <p:spPr>
          <a:xfrm>
            <a:off x="4480560" y="1874520"/>
            <a:ext cx="2788920" cy="3931920"/>
          </a:xfrm>
          <a:prstGeom prst="roundRect">
            <a:avLst>
              <a:gd name="adj" fmla="val 2951"/>
            </a:avLst>
          </a:prstGeom>
          <a:solidFill>
            <a:srgbClr val="F6FAFD"/>
          </a:solidFill>
          <a:ln w="12700">
            <a:solidFill>
              <a:srgbClr val="D6E5F2"/>
            </a:solidFill>
            <a:prstDash val="solid"/>
          </a:ln>
        </p:spPr>
      </p:sp>
      <p:sp>
        <p:nvSpPr>
          <p:cNvPr id="18" name="Shape 15"/>
          <p:cNvSpPr/>
          <p:nvPr/>
        </p:nvSpPr>
        <p:spPr>
          <a:xfrm>
            <a:off x="5509260" y="2103120"/>
            <a:ext cx="731520" cy="731520"/>
          </a:xfrm>
          <a:prstGeom prst="ellipse">
            <a:avLst/>
          </a:prstGeom>
          <a:solidFill>
            <a:srgbClr val="FFFFFF"/>
          </a:solidFill>
          <a:ln/>
        </p:spPr>
      </p:sp>
      <p:pic>
        <p:nvPicPr>
          <p:cNvPr id="19" name="Image 1" descr="/home/claude/medsev-ppt/icons/lock_0B5FA4.png">    </p:cNvPr>
          <p:cNvPicPr>
            <a:picLocks noChangeAspect="1"/>
          </p:cNvPicPr>
          <p:nvPr/>
        </p:nvPicPr>
        <p:blipFill>
          <a:blip r:embed="rId2"/>
          <a:stretch>
            <a:fillRect/>
          </a:stretch>
        </p:blipFill>
        <p:spPr>
          <a:xfrm>
            <a:off x="5692140" y="2286000"/>
            <a:ext cx="365760" cy="365760"/>
          </a:xfrm>
          <a:prstGeom prst="rect">
            <a:avLst/>
          </a:prstGeom>
        </p:spPr>
      </p:pic>
      <p:sp>
        <p:nvSpPr>
          <p:cNvPr id="20" name="Text 16"/>
          <p:cNvSpPr/>
          <p:nvPr/>
        </p:nvSpPr>
        <p:spPr>
          <a:xfrm>
            <a:off x="4617720" y="2971800"/>
            <a:ext cx="2514600" cy="274320"/>
          </a:xfrm>
          <a:prstGeom prst="rect">
            <a:avLst/>
          </a:prstGeom>
          <a:noFill/>
          <a:ln/>
        </p:spPr>
        <p:txBody>
          <a:bodyPr wrap="square" lIns="0" tIns="0" rIns="0" bIns="0" rtlCol="0" anchor="ctr"/>
          <a:lstStyle/>
          <a:p>
            <a:pPr algn="ctr" indent="0" marL="0">
              <a:buNone/>
            </a:pPr>
            <a:r>
              <a:rPr lang="en-US" sz="1450" b="1" dirty="0">
                <a:solidFill>
                  <a:srgbClr val="17263D"/>
                </a:solidFill>
                <a:latin typeface="Cambria" pitchFamily="34" charset="0"/>
                <a:ea typeface="Cambria" pitchFamily="34" charset="-122"/>
                <a:cs typeface="Cambria" pitchFamily="34" charset="-120"/>
              </a:rPr>
              <a:t>Welcome Back</a:t>
            </a:r>
            <a:endParaRPr lang="en-US" sz="1450" dirty="0"/>
          </a:p>
        </p:txBody>
      </p:sp>
      <p:sp>
        <p:nvSpPr>
          <p:cNvPr id="21" name="Text 17"/>
          <p:cNvSpPr/>
          <p:nvPr/>
        </p:nvSpPr>
        <p:spPr>
          <a:xfrm>
            <a:off x="4709160" y="3429000"/>
            <a:ext cx="2331720" cy="164592"/>
          </a:xfrm>
          <a:prstGeom prst="rect">
            <a:avLst/>
          </a:prstGeom>
          <a:noFill/>
          <a:ln/>
        </p:spPr>
        <p:txBody>
          <a:bodyPr wrap="square" lIns="0" tIns="0" rIns="0" bIns="0" rtlCol="0" anchor="ctr"/>
          <a:lstStyle/>
          <a:p>
            <a:pPr indent="0" marL="0">
              <a:buNone/>
            </a:pPr>
            <a:r>
              <a:rPr lang="en-US" sz="800" dirty="0">
                <a:solidFill>
                  <a:srgbClr val="55677E"/>
                </a:solidFill>
                <a:latin typeface="Calibri" pitchFamily="34" charset="0"/>
                <a:ea typeface="Calibri" pitchFamily="34" charset="-122"/>
                <a:cs typeface="Calibri" pitchFamily="34" charset="-120"/>
              </a:rPr>
              <a:t>Email Address</a:t>
            </a:r>
            <a:endParaRPr lang="en-US" sz="800" dirty="0"/>
          </a:p>
        </p:txBody>
      </p:sp>
      <p:sp>
        <p:nvSpPr>
          <p:cNvPr id="22" name="Shape 18"/>
          <p:cNvSpPr/>
          <p:nvPr/>
        </p:nvSpPr>
        <p:spPr>
          <a:xfrm>
            <a:off x="4709160" y="3611880"/>
            <a:ext cx="2331720" cy="292608"/>
          </a:xfrm>
          <a:prstGeom prst="roundRect">
            <a:avLst>
              <a:gd name="adj" fmla="val 12500"/>
            </a:avLst>
          </a:prstGeom>
          <a:solidFill>
            <a:srgbClr val="FFFFFF"/>
          </a:solidFill>
          <a:ln w="9525">
            <a:solidFill>
              <a:srgbClr val="D6E5F2"/>
            </a:solidFill>
            <a:prstDash val="solid"/>
          </a:ln>
        </p:spPr>
      </p:sp>
      <p:sp>
        <p:nvSpPr>
          <p:cNvPr id="23" name="Text 19"/>
          <p:cNvSpPr/>
          <p:nvPr/>
        </p:nvSpPr>
        <p:spPr>
          <a:xfrm>
            <a:off x="4709160" y="3941064"/>
            <a:ext cx="2331720" cy="164592"/>
          </a:xfrm>
          <a:prstGeom prst="rect">
            <a:avLst/>
          </a:prstGeom>
          <a:noFill/>
          <a:ln/>
        </p:spPr>
        <p:txBody>
          <a:bodyPr wrap="square" lIns="0" tIns="0" rIns="0" bIns="0" rtlCol="0" anchor="ctr"/>
          <a:lstStyle/>
          <a:p>
            <a:pPr indent="0" marL="0">
              <a:buNone/>
            </a:pPr>
            <a:r>
              <a:rPr lang="en-US" sz="800" dirty="0">
                <a:solidFill>
                  <a:srgbClr val="55677E"/>
                </a:solidFill>
                <a:latin typeface="Calibri" pitchFamily="34" charset="0"/>
                <a:ea typeface="Calibri" pitchFamily="34" charset="-122"/>
                <a:cs typeface="Calibri" pitchFamily="34" charset="-120"/>
              </a:rPr>
              <a:t>Password</a:t>
            </a:r>
            <a:endParaRPr lang="en-US" sz="800" dirty="0"/>
          </a:p>
        </p:txBody>
      </p:sp>
      <p:sp>
        <p:nvSpPr>
          <p:cNvPr id="24" name="Shape 20"/>
          <p:cNvSpPr/>
          <p:nvPr/>
        </p:nvSpPr>
        <p:spPr>
          <a:xfrm>
            <a:off x="4709160" y="4123944"/>
            <a:ext cx="2331720" cy="292608"/>
          </a:xfrm>
          <a:prstGeom prst="roundRect">
            <a:avLst>
              <a:gd name="adj" fmla="val 12500"/>
            </a:avLst>
          </a:prstGeom>
          <a:solidFill>
            <a:srgbClr val="FFFFFF"/>
          </a:solidFill>
          <a:ln w="9525">
            <a:solidFill>
              <a:srgbClr val="D6E5F2"/>
            </a:solidFill>
            <a:prstDash val="solid"/>
          </a:ln>
        </p:spPr>
      </p:sp>
      <p:sp>
        <p:nvSpPr>
          <p:cNvPr id="25" name="Shape 21"/>
          <p:cNvSpPr/>
          <p:nvPr/>
        </p:nvSpPr>
        <p:spPr>
          <a:xfrm>
            <a:off x="4709160" y="4544568"/>
            <a:ext cx="2331720" cy="310896"/>
          </a:xfrm>
          <a:prstGeom prst="roundRect">
            <a:avLst>
              <a:gd name="adj" fmla="val 50000"/>
            </a:avLst>
          </a:prstGeom>
          <a:solidFill>
            <a:srgbClr val="0B5FA4"/>
          </a:solidFill>
          <a:ln/>
        </p:spPr>
      </p:sp>
      <p:sp>
        <p:nvSpPr>
          <p:cNvPr id="26" name="Text 22"/>
          <p:cNvSpPr/>
          <p:nvPr/>
        </p:nvSpPr>
        <p:spPr>
          <a:xfrm>
            <a:off x="4709160" y="4544568"/>
            <a:ext cx="233172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Login</a:t>
            </a:r>
            <a:endParaRPr lang="en-US" sz="900" dirty="0"/>
          </a:p>
        </p:txBody>
      </p:sp>
      <p:sp>
        <p:nvSpPr>
          <p:cNvPr id="27" name="Text 23"/>
          <p:cNvSpPr/>
          <p:nvPr/>
        </p:nvSpPr>
        <p:spPr>
          <a:xfrm>
            <a:off x="7955280" y="1965960"/>
            <a:ext cx="3657600" cy="320040"/>
          </a:xfrm>
          <a:prstGeom prst="rect">
            <a:avLst/>
          </a:prstGeom>
          <a:noFill/>
          <a:ln/>
        </p:spPr>
        <p:txBody>
          <a:bodyPr wrap="square" lIns="0" tIns="0" rIns="0" bIns="0" rtlCol="0" anchor="ctr"/>
          <a:lstStyle/>
          <a:p>
            <a:pPr indent="0" marL="0">
              <a:buNone/>
            </a:pPr>
            <a:r>
              <a:rPr lang="en-US" sz="1550" b="1" dirty="0">
                <a:solidFill>
                  <a:srgbClr val="17263D"/>
                </a:solidFill>
                <a:latin typeface="Cambria" pitchFamily="34" charset="0"/>
                <a:ea typeface="Cambria" pitchFamily="34" charset="-122"/>
                <a:cs typeface="Cambria" pitchFamily="34" charset="-120"/>
              </a:rPr>
              <a:t>Why it matters</a:t>
            </a:r>
            <a:endParaRPr lang="en-US" sz="1550" dirty="0"/>
          </a:p>
        </p:txBody>
      </p:sp>
      <p:sp>
        <p:nvSpPr>
          <p:cNvPr id="28" name="Shape 24"/>
          <p:cNvSpPr/>
          <p:nvPr/>
        </p:nvSpPr>
        <p:spPr>
          <a:xfrm>
            <a:off x="7955280" y="2514600"/>
            <a:ext cx="274320" cy="274320"/>
          </a:xfrm>
          <a:prstGeom prst="ellipse">
            <a:avLst/>
          </a:prstGeom>
          <a:solidFill>
            <a:srgbClr val="EAF3FB"/>
          </a:solidFill>
          <a:ln/>
        </p:spPr>
      </p:sp>
      <p:pic>
        <p:nvPicPr>
          <p:cNvPr id="29" name="Image 2" descr="/home/claude/medsev-ppt/icons/check_00B4A6.png">    </p:cNvPr>
          <p:cNvPicPr>
            <a:picLocks noChangeAspect="1"/>
          </p:cNvPicPr>
          <p:nvPr/>
        </p:nvPicPr>
        <p:blipFill>
          <a:blip r:embed="rId3"/>
          <a:stretch>
            <a:fillRect/>
          </a:stretch>
        </p:blipFill>
        <p:spPr>
          <a:xfrm>
            <a:off x="8010144" y="2569464"/>
            <a:ext cx="164592" cy="164592"/>
          </a:xfrm>
          <a:prstGeom prst="rect">
            <a:avLst/>
          </a:prstGeom>
        </p:spPr>
      </p:pic>
      <p:sp>
        <p:nvSpPr>
          <p:cNvPr id="30" name="Text 25"/>
          <p:cNvSpPr/>
          <p:nvPr/>
        </p:nvSpPr>
        <p:spPr>
          <a:xfrm>
            <a:off x="8339328" y="2478024"/>
            <a:ext cx="3291840" cy="548640"/>
          </a:xfrm>
          <a:prstGeom prst="rect">
            <a:avLst/>
          </a:prstGeom>
          <a:noFill/>
          <a:ln/>
        </p:spPr>
        <p:txBody>
          <a:bodyPr wrap="square" lIns="0" tIns="0" rIns="0" bIns="0" rtlCol="0" anchor="ctr"/>
          <a:lstStyle/>
          <a:p>
            <a:pPr indent="0" marL="0">
              <a:buNone/>
            </a:pPr>
            <a:r>
              <a:rPr lang="en-US" sz="1060" dirty="0">
                <a:solidFill>
                  <a:srgbClr val="17263D"/>
                </a:solidFill>
                <a:latin typeface="Calibri" pitchFamily="34" charset="0"/>
                <a:ea typeface="Calibri" pitchFamily="34" charset="-122"/>
                <a:cs typeface="Calibri" pitchFamily="34" charset="-120"/>
              </a:rPr>
              <a:t>Lets returning patients skip re-entering details each visit</a:t>
            </a:r>
            <a:endParaRPr lang="en-US" sz="1060" dirty="0"/>
          </a:p>
        </p:txBody>
      </p:sp>
      <p:sp>
        <p:nvSpPr>
          <p:cNvPr id="31" name="Shape 26"/>
          <p:cNvSpPr/>
          <p:nvPr/>
        </p:nvSpPr>
        <p:spPr>
          <a:xfrm>
            <a:off x="7955280" y="3291840"/>
            <a:ext cx="274320" cy="274320"/>
          </a:xfrm>
          <a:prstGeom prst="ellipse">
            <a:avLst/>
          </a:prstGeom>
          <a:solidFill>
            <a:srgbClr val="EAF3FB"/>
          </a:solidFill>
          <a:ln/>
        </p:spPr>
      </p:sp>
      <p:pic>
        <p:nvPicPr>
          <p:cNvPr id="32" name="Image 3" descr="/home/claude/medsev-ppt/icons/check_00B4A6.png">    </p:cNvPr>
          <p:cNvPicPr>
            <a:picLocks noChangeAspect="1"/>
          </p:cNvPicPr>
          <p:nvPr/>
        </p:nvPicPr>
        <p:blipFill>
          <a:blip r:embed="rId4"/>
          <a:stretch>
            <a:fillRect/>
          </a:stretch>
        </p:blipFill>
        <p:spPr>
          <a:xfrm>
            <a:off x="8010144" y="3346704"/>
            <a:ext cx="164592" cy="164592"/>
          </a:xfrm>
          <a:prstGeom prst="rect">
            <a:avLst/>
          </a:prstGeom>
        </p:spPr>
      </p:pic>
      <p:sp>
        <p:nvSpPr>
          <p:cNvPr id="33" name="Text 27"/>
          <p:cNvSpPr/>
          <p:nvPr/>
        </p:nvSpPr>
        <p:spPr>
          <a:xfrm>
            <a:off x="8339328" y="3255264"/>
            <a:ext cx="3291840" cy="548640"/>
          </a:xfrm>
          <a:prstGeom prst="rect">
            <a:avLst/>
          </a:prstGeom>
          <a:noFill/>
          <a:ln/>
        </p:spPr>
        <p:txBody>
          <a:bodyPr wrap="square" lIns="0" tIns="0" rIns="0" bIns="0" rtlCol="0" anchor="ctr"/>
          <a:lstStyle/>
          <a:p>
            <a:pPr indent="0" marL="0">
              <a:buNone/>
            </a:pPr>
            <a:r>
              <a:rPr lang="en-US" sz="1060" dirty="0">
                <a:solidFill>
                  <a:srgbClr val="17263D"/>
                </a:solidFill>
                <a:latin typeface="Calibri" pitchFamily="34" charset="0"/>
                <a:ea typeface="Calibri" pitchFamily="34" charset="-122"/>
                <a:cs typeface="Calibri" pitchFamily="34" charset="-120"/>
              </a:rPr>
              <a:t>Foundation for a future "my appointments" dashboard</a:t>
            </a:r>
            <a:endParaRPr lang="en-US" sz="1060" dirty="0"/>
          </a:p>
        </p:txBody>
      </p:sp>
      <p:sp>
        <p:nvSpPr>
          <p:cNvPr id="34" name="Shape 28"/>
          <p:cNvSpPr/>
          <p:nvPr/>
        </p:nvSpPr>
        <p:spPr>
          <a:xfrm>
            <a:off x="7955280" y="4069080"/>
            <a:ext cx="274320" cy="274320"/>
          </a:xfrm>
          <a:prstGeom prst="ellipse">
            <a:avLst/>
          </a:prstGeom>
          <a:solidFill>
            <a:srgbClr val="EAF3FB"/>
          </a:solidFill>
          <a:ln/>
        </p:spPr>
      </p:sp>
      <p:pic>
        <p:nvPicPr>
          <p:cNvPr id="35" name="Image 4" descr="/home/claude/medsev-ppt/icons/check_00B4A6.png">    </p:cNvPr>
          <p:cNvPicPr>
            <a:picLocks noChangeAspect="1"/>
          </p:cNvPicPr>
          <p:nvPr/>
        </p:nvPicPr>
        <p:blipFill>
          <a:blip r:embed="rId5"/>
          <a:stretch>
            <a:fillRect/>
          </a:stretch>
        </p:blipFill>
        <p:spPr>
          <a:xfrm>
            <a:off x="8010144" y="4123944"/>
            <a:ext cx="164592" cy="164592"/>
          </a:xfrm>
          <a:prstGeom prst="rect">
            <a:avLst/>
          </a:prstGeom>
        </p:spPr>
      </p:pic>
      <p:sp>
        <p:nvSpPr>
          <p:cNvPr id="36" name="Text 29"/>
          <p:cNvSpPr/>
          <p:nvPr/>
        </p:nvSpPr>
        <p:spPr>
          <a:xfrm>
            <a:off x="8339328" y="4032504"/>
            <a:ext cx="3291840" cy="548640"/>
          </a:xfrm>
          <a:prstGeom prst="rect">
            <a:avLst/>
          </a:prstGeom>
          <a:noFill/>
          <a:ln/>
        </p:spPr>
        <p:txBody>
          <a:bodyPr wrap="square" lIns="0" tIns="0" rIns="0" bIns="0" rtlCol="0" anchor="ctr"/>
          <a:lstStyle/>
          <a:p>
            <a:pPr indent="0" marL="0">
              <a:buNone/>
            </a:pPr>
            <a:r>
              <a:rPr lang="en-US" sz="1060" dirty="0">
                <a:solidFill>
                  <a:srgbClr val="17263D"/>
                </a:solidFill>
                <a:latin typeface="Calibri" pitchFamily="34" charset="0"/>
                <a:ea typeface="Calibri" pitchFamily="34" charset="-122"/>
                <a:cs typeface="Calibri" pitchFamily="34" charset="-120"/>
              </a:rPr>
              <a:t>Kept intentionally short — two fields to log in, three to join</a:t>
            </a:r>
            <a:endParaRPr lang="en-US" sz="1060" dirty="0"/>
          </a:p>
        </p:txBody>
      </p:sp>
      <p:sp>
        <p:nvSpPr>
          <p:cNvPr id="37" name="Shape 30"/>
          <p:cNvSpPr/>
          <p:nvPr/>
        </p:nvSpPr>
        <p:spPr>
          <a:xfrm>
            <a:off x="7955280" y="4846320"/>
            <a:ext cx="274320" cy="274320"/>
          </a:xfrm>
          <a:prstGeom prst="ellipse">
            <a:avLst/>
          </a:prstGeom>
          <a:solidFill>
            <a:srgbClr val="EAF3FB"/>
          </a:solidFill>
          <a:ln/>
        </p:spPr>
      </p:sp>
      <p:pic>
        <p:nvPicPr>
          <p:cNvPr id="38" name="Image 5" descr="/home/claude/medsev-ppt/icons/check_00B4A6.png">    </p:cNvPr>
          <p:cNvPicPr>
            <a:picLocks noChangeAspect="1"/>
          </p:cNvPicPr>
          <p:nvPr/>
        </p:nvPicPr>
        <p:blipFill>
          <a:blip r:embed="rId6"/>
          <a:stretch>
            <a:fillRect/>
          </a:stretch>
        </p:blipFill>
        <p:spPr>
          <a:xfrm>
            <a:off x="8010144" y="4901184"/>
            <a:ext cx="164592" cy="164592"/>
          </a:xfrm>
          <a:prstGeom prst="rect">
            <a:avLst/>
          </a:prstGeom>
        </p:spPr>
      </p:pic>
      <p:sp>
        <p:nvSpPr>
          <p:cNvPr id="39" name="Text 31"/>
          <p:cNvSpPr/>
          <p:nvPr/>
        </p:nvSpPr>
        <p:spPr>
          <a:xfrm>
            <a:off x="8339328" y="4809744"/>
            <a:ext cx="3291840" cy="548640"/>
          </a:xfrm>
          <a:prstGeom prst="rect">
            <a:avLst/>
          </a:prstGeom>
          <a:noFill/>
          <a:ln/>
        </p:spPr>
        <p:txBody>
          <a:bodyPr wrap="square" lIns="0" tIns="0" rIns="0" bIns="0" rtlCol="0" anchor="ctr"/>
          <a:lstStyle/>
          <a:p>
            <a:pPr indent="0" marL="0">
              <a:buNone/>
            </a:pPr>
            <a:r>
              <a:rPr lang="en-US" sz="1060" dirty="0">
                <a:solidFill>
                  <a:srgbClr val="17263D"/>
                </a:solidFill>
                <a:latin typeface="Calibri" pitchFamily="34" charset="0"/>
                <a:ea typeface="Calibri" pitchFamily="34" charset="-122"/>
                <a:cs typeface="Calibri" pitchFamily="34" charset="-120"/>
              </a:rPr>
              <a:t>Mirrors the same card-and-button visual language as the rest of the site</a:t>
            </a:r>
            <a:endParaRPr lang="en-US" sz="1060" dirty="0"/>
          </a:p>
        </p:txBody>
      </p:sp>
      <p:sp>
        <p:nvSpPr>
          <p:cNvPr id="40" name="Text 32"/>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41" name="Text 33"/>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Sign Up &amp; Login</a:t>
            </a:r>
            <a:endParaRPr lang="en-US" sz="900" dirty="0"/>
          </a:p>
        </p:txBody>
      </p:sp>
      <p:sp>
        <p:nvSpPr>
          <p:cNvPr id="42" name="Text 34"/>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16 / 23</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PAGE WALKTHROUGH · 14</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FAQ</a:t>
            </a:r>
            <a:endParaRPr lang="en-US" sz="3000" dirty="0"/>
          </a:p>
        </p:txBody>
      </p:sp>
      <p:sp>
        <p:nvSpPr>
          <p:cNvPr id="4" name="Text 2"/>
          <p:cNvSpPr/>
          <p:nvPr/>
        </p:nvSpPr>
        <p:spPr>
          <a:xfrm>
            <a:off x="548640" y="1371600"/>
            <a:ext cx="9144000" cy="365760"/>
          </a:xfrm>
          <a:prstGeom prst="rect">
            <a:avLst/>
          </a:prstGeom>
          <a:noFill/>
          <a:ln/>
        </p:spPr>
        <p:txBody>
          <a:bodyPr wrap="square" lIns="0" tIns="0" rIns="0" bIns="0" rtlCol="0" anchor="ctr"/>
          <a:lstStyle/>
          <a:p>
            <a:pPr indent="0" marL="0">
              <a:buNone/>
            </a:pPr>
            <a:r>
              <a:rPr lang="en-US" sz="1300" dirty="0">
                <a:solidFill>
                  <a:srgbClr val="55677E"/>
                </a:solidFill>
                <a:latin typeface="Calibri" pitchFamily="34" charset="0"/>
                <a:ea typeface="Calibri" pitchFamily="34" charset="-122"/>
                <a:cs typeface="Calibri" pitchFamily="34" charset="-120"/>
              </a:rPr>
              <a:t>Answering objections before they become phone calls</a:t>
            </a:r>
            <a:endParaRPr lang="en-US" sz="1300" dirty="0"/>
          </a:p>
        </p:txBody>
      </p:sp>
      <p:sp>
        <p:nvSpPr>
          <p:cNvPr id="5" name="Shape 3"/>
          <p:cNvSpPr/>
          <p:nvPr/>
        </p:nvSpPr>
        <p:spPr>
          <a:xfrm>
            <a:off x="548640" y="1920240"/>
            <a:ext cx="7452360" cy="914400"/>
          </a:xfrm>
          <a:prstGeom prst="roundRect">
            <a:avLst>
              <a:gd name="adj" fmla="val 8000"/>
            </a:avLst>
          </a:prstGeom>
          <a:solidFill>
            <a:srgbClr val="EAF3FB"/>
          </a:solidFill>
          <a:ln w="12700">
            <a:solidFill>
              <a:srgbClr val="D6E5F2"/>
            </a:solidFill>
            <a:prstDash val="solid"/>
          </a:ln>
        </p:spPr>
      </p:sp>
      <p:sp>
        <p:nvSpPr>
          <p:cNvPr id="6" name="Shape 4"/>
          <p:cNvSpPr/>
          <p:nvPr/>
        </p:nvSpPr>
        <p:spPr>
          <a:xfrm>
            <a:off x="749808" y="2048256"/>
            <a:ext cx="310896" cy="310896"/>
          </a:xfrm>
          <a:prstGeom prst="ellipse">
            <a:avLst/>
          </a:prstGeom>
          <a:solidFill>
            <a:srgbClr val="FFFFFF"/>
          </a:solidFill>
          <a:ln/>
        </p:spPr>
      </p:sp>
      <p:pic>
        <p:nvPicPr>
          <p:cNvPr id="7" name="Image 0" descr="/home/claude/medsev-ppt/icons/comment_0B5FA4.png">    </p:cNvPr>
          <p:cNvPicPr>
            <a:picLocks noChangeAspect="1"/>
          </p:cNvPicPr>
          <p:nvPr/>
        </p:nvPicPr>
        <p:blipFill>
          <a:blip r:embed="rId1"/>
          <a:stretch>
            <a:fillRect/>
          </a:stretch>
        </p:blipFill>
        <p:spPr>
          <a:xfrm>
            <a:off x="819760" y="2118208"/>
            <a:ext cx="170993" cy="170993"/>
          </a:xfrm>
          <a:prstGeom prst="rect">
            <a:avLst/>
          </a:prstGeom>
        </p:spPr>
      </p:pic>
      <p:sp>
        <p:nvSpPr>
          <p:cNvPr id="8" name="Text 5"/>
          <p:cNvSpPr/>
          <p:nvPr/>
        </p:nvSpPr>
        <p:spPr>
          <a:xfrm>
            <a:off x="1188720" y="2029968"/>
            <a:ext cx="5669280" cy="320040"/>
          </a:xfrm>
          <a:prstGeom prst="rect">
            <a:avLst/>
          </a:prstGeom>
          <a:noFill/>
          <a:ln/>
        </p:spPr>
        <p:txBody>
          <a:bodyPr wrap="square" lIns="0" tIns="0" rIns="0" bIns="0" rtlCol="0" anchor="ctr"/>
          <a:lstStyle/>
          <a:p>
            <a:pPr indent="0" marL="0">
              <a:buNone/>
            </a:pPr>
            <a:r>
              <a:rPr lang="en-US" sz="1250" b="1" dirty="0">
                <a:solidFill>
                  <a:srgbClr val="17263D"/>
                </a:solidFill>
                <a:latin typeface="Cambria" pitchFamily="34" charset="0"/>
                <a:ea typeface="Cambria" pitchFamily="34" charset="-122"/>
                <a:cs typeface="Cambria" pitchFamily="34" charset="-120"/>
              </a:rPr>
              <a:t>How do I book an appointment online?</a:t>
            </a:r>
            <a:endParaRPr lang="en-US" sz="1250" dirty="0"/>
          </a:p>
        </p:txBody>
      </p:sp>
      <p:sp>
        <p:nvSpPr>
          <p:cNvPr id="9" name="Text 6"/>
          <p:cNvSpPr/>
          <p:nvPr/>
        </p:nvSpPr>
        <p:spPr>
          <a:xfrm>
            <a:off x="6903720" y="2011680"/>
            <a:ext cx="365760" cy="365760"/>
          </a:xfrm>
          <a:prstGeom prst="rect">
            <a:avLst/>
          </a:prstGeom>
          <a:noFill/>
          <a:ln/>
        </p:spPr>
        <p:txBody>
          <a:bodyPr wrap="square" lIns="0" tIns="0" rIns="0" bIns="0" rtlCol="0" anchor="ctr"/>
          <a:lstStyle/>
          <a:p>
            <a:pPr algn="ctr" indent="0" marL="0">
              <a:buNone/>
            </a:pPr>
            <a:r>
              <a:rPr lang="en-US" sz="1800" b="1" dirty="0">
                <a:solidFill>
                  <a:srgbClr val="0B5FA4"/>
                </a:solidFill>
                <a:latin typeface="Cambria" pitchFamily="34" charset="0"/>
                <a:ea typeface="Cambria" pitchFamily="34" charset="-122"/>
                <a:cs typeface="Cambria" pitchFamily="34" charset="-120"/>
              </a:rPr>
              <a:t>+</a:t>
            </a:r>
            <a:endParaRPr lang="en-US" sz="1800" dirty="0"/>
          </a:p>
        </p:txBody>
      </p:sp>
      <p:sp>
        <p:nvSpPr>
          <p:cNvPr id="10" name="Shape 7"/>
          <p:cNvSpPr/>
          <p:nvPr/>
        </p:nvSpPr>
        <p:spPr>
          <a:xfrm>
            <a:off x="1188720" y="2450592"/>
            <a:ext cx="5852160" cy="54864"/>
          </a:xfrm>
          <a:prstGeom prst="roundRect">
            <a:avLst>
              <a:gd name="adj" fmla="val 33333"/>
            </a:avLst>
          </a:prstGeom>
          <a:solidFill>
            <a:srgbClr val="D6E5F2"/>
          </a:solidFill>
          <a:ln/>
        </p:spPr>
      </p:sp>
      <p:sp>
        <p:nvSpPr>
          <p:cNvPr id="11" name="Shape 8"/>
          <p:cNvSpPr/>
          <p:nvPr/>
        </p:nvSpPr>
        <p:spPr>
          <a:xfrm>
            <a:off x="1188720" y="2587752"/>
            <a:ext cx="3511296" cy="43891"/>
          </a:xfrm>
          <a:prstGeom prst="roundRect">
            <a:avLst>
              <a:gd name="adj" fmla="val 41667"/>
            </a:avLst>
          </a:prstGeom>
          <a:solidFill>
            <a:srgbClr val="D6E5F2"/>
          </a:solidFill>
          <a:ln/>
        </p:spPr>
      </p:sp>
      <p:sp>
        <p:nvSpPr>
          <p:cNvPr id="12" name="Shape 9"/>
          <p:cNvSpPr/>
          <p:nvPr/>
        </p:nvSpPr>
        <p:spPr>
          <a:xfrm>
            <a:off x="548640" y="2962656"/>
            <a:ext cx="7452360" cy="566928"/>
          </a:xfrm>
          <a:prstGeom prst="roundRect">
            <a:avLst>
              <a:gd name="adj" fmla="val 12903"/>
            </a:avLst>
          </a:prstGeom>
          <a:solidFill>
            <a:srgbClr val="F6FAFD"/>
          </a:solidFill>
          <a:ln w="12700">
            <a:solidFill>
              <a:srgbClr val="D6E5F2"/>
            </a:solidFill>
            <a:prstDash val="solid"/>
          </a:ln>
        </p:spPr>
      </p:sp>
      <p:sp>
        <p:nvSpPr>
          <p:cNvPr id="13" name="Shape 10"/>
          <p:cNvSpPr/>
          <p:nvPr/>
        </p:nvSpPr>
        <p:spPr>
          <a:xfrm>
            <a:off x="749808" y="3090672"/>
            <a:ext cx="310896" cy="310896"/>
          </a:xfrm>
          <a:prstGeom prst="ellipse">
            <a:avLst/>
          </a:prstGeom>
          <a:solidFill>
            <a:srgbClr val="FFFFFF"/>
          </a:solidFill>
          <a:ln/>
        </p:spPr>
      </p:sp>
      <p:pic>
        <p:nvPicPr>
          <p:cNvPr id="14" name="Image 1" descr="/home/claude/medsev-ppt/icons/comment_0B5FA4.png">    </p:cNvPr>
          <p:cNvPicPr>
            <a:picLocks noChangeAspect="1"/>
          </p:cNvPicPr>
          <p:nvPr/>
        </p:nvPicPr>
        <p:blipFill>
          <a:blip r:embed="rId2"/>
          <a:stretch>
            <a:fillRect/>
          </a:stretch>
        </p:blipFill>
        <p:spPr>
          <a:xfrm>
            <a:off x="819760" y="3160624"/>
            <a:ext cx="170993" cy="170993"/>
          </a:xfrm>
          <a:prstGeom prst="rect">
            <a:avLst/>
          </a:prstGeom>
        </p:spPr>
      </p:pic>
      <p:sp>
        <p:nvSpPr>
          <p:cNvPr id="15" name="Text 11"/>
          <p:cNvSpPr/>
          <p:nvPr/>
        </p:nvSpPr>
        <p:spPr>
          <a:xfrm>
            <a:off x="1188720" y="3072384"/>
            <a:ext cx="5669280" cy="320040"/>
          </a:xfrm>
          <a:prstGeom prst="rect">
            <a:avLst/>
          </a:prstGeom>
          <a:noFill/>
          <a:ln/>
        </p:spPr>
        <p:txBody>
          <a:bodyPr wrap="square" lIns="0" tIns="0" rIns="0" bIns="0" rtlCol="0" anchor="ctr"/>
          <a:lstStyle/>
          <a:p>
            <a:pPr indent="0" marL="0">
              <a:buNone/>
            </a:pPr>
            <a:r>
              <a:rPr lang="en-US" sz="1250" b="1" dirty="0">
                <a:solidFill>
                  <a:srgbClr val="17263D"/>
                </a:solidFill>
                <a:latin typeface="Cambria" pitchFamily="34" charset="0"/>
                <a:ea typeface="Cambria" pitchFamily="34" charset="-122"/>
                <a:cs typeface="Cambria" pitchFamily="34" charset="-120"/>
              </a:rPr>
              <a:t>Can I choose a specific doctor?</a:t>
            </a:r>
            <a:endParaRPr lang="en-US" sz="1250" dirty="0"/>
          </a:p>
        </p:txBody>
      </p:sp>
      <p:sp>
        <p:nvSpPr>
          <p:cNvPr id="16" name="Text 12"/>
          <p:cNvSpPr/>
          <p:nvPr/>
        </p:nvSpPr>
        <p:spPr>
          <a:xfrm>
            <a:off x="6903720" y="3054096"/>
            <a:ext cx="365760" cy="365760"/>
          </a:xfrm>
          <a:prstGeom prst="rect">
            <a:avLst/>
          </a:prstGeom>
          <a:noFill/>
          <a:ln/>
        </p:spPr>
        <p:txBody>
          <a:bodyPr wrap="square" lIns="0" tIns="0" rIns="0" bIns="0" rtlCol="0" anchor="ctr"/>
          <a:lstStyle/>
          <a:p>
            <a:pPr algn="ctr" indent="0" marL="0">
              <a:buNone/>
            </a:pPr>
            <a:r>
              <a:rPr lang="en-US" sz="1800" b="1" dirty="0">
                <a:solidFill>
                  <a:srgbClr val="0B5FA4"/>
                </a:solidFill>
                <a:latin typeface="Cambria" pitchFamily="34" charset="0"/>
                <a:ea typeface="Cambria" pitchFamily="34" charset="-122"/>
                <a:cs typeface="Cambria" pitchFamily="34" charset="-120"/>
              </a:rPr>
              <a:t>+</a:t>
            </a:r>
            <a:endParaRPr lang="en-US" sz="1800" dirty="0"/>
          </a:p>
        </p:txBody>
      </p:sp>
      <p:sp>
        <p:nvSpPr>
          <p:cNvPr id="17" name="Shape 13"/>
          <p:cNvSpPr/>
          <p:nvPr/>
        </p:nvSpPr>
        <p:spPr>
          <a:xfrm>
            <a:off x="548640" y="3657600"/>
            <a:ext cx="7452360" cy="566928"/>
          </a:xfrm>
          <a:prstGeom prst="roundRect">
            <a:avLst>
              <a:gd name="adj" fmla="val 12903"/>
            </a:avLst>
          </a:prstGeom>
          <a:solidFill>
            <a:srgbClr val="F6FAFD"/>
          </a:solidFill>
          <a:ln w="12700">
            <a:solidFill>
              <a:srgbClr val="D6E5F2"/>
            </a:solidFill>
            <a:prstDash val="solid"/>
          </a:ln>
        </p:spPr>
      </p:sp>
      <p:sp>
        <p:nvSpPr>
          <p:cNvPr id="18" name="Shape 14"/>
          <p:cNvSpPr/>
          <p:nvPr/>
        </p:nvSpPr>
        <p:spPr>
          <a:xfrm>
            <a:off x="749808" y="3785616"/>
            <a:ext cx="310896" cy="310896"/>
          </a:xfrm>
          <a:prstGeom prst="ellipse">
            <a:avLst/>
          </a:prstGeom>
          <a:solidFill>
            <a:srgbClr val="FFFFFF"/>
          </a:solidFill>
          <a:ln/>
        </p:spPr>
      </p:sp>
      <p:pic>
        <p:nvPicPr>
          <p:cNvPr id="19" name="Image 2" descr="/home/claude/medsev-ppt/icons/comment_0B5FA4.png">    </p:cNvPr>
          <p:cNvPicPr>
            <a:picLocks noChangeAspect="1"/>
          </p:cNvPicPr>
          <p:nvPr/>
        </p:nvPicPr>
        <p:blipFill>
          <a:blip r:embed="rId3"/>
          <a:stretch>
            <a:fillRect/>
          </a:stretch>
        </p:blipFill>
        <p:spPr>
          <a:xfrm>
            <a:off x="819760" y="3855568"/>
            <a:ext cx="170993" cy="170993"/>
          </a:xfrm>
          <a:prstGeom prst="rect">
            <a:avLst/>
          </a:prstGeom>
        </p:spPr>
      </p:pic>
      <p:sp>
        <p:nvSpPr>
          <p:cNvPr id="20" name="Text 15"/>
          <p:cNvSpPr/>
          <p:nvPr/>
        </p:nvSpPr>
        <p:spPr>
          <a:xfrm>
            <a:off x="1188720" y="3767328"/>
            <a:ext cx="5669280" cy="320040"/>
          </a:xfrm>
          <a:prstGeom prst="rect">
            <a:avLst/>
          </a:prstGeom>
          <a:noFill/>
          <a:ln/>
        </p:spPr>
        <p:txBody>
          <a:bodyPr wrap="square" lIns="0" tIns="0" rIns="0" bIns="0" rtlCol="0" anchor="ctr"/>
          <a:lstStyle/>
          <a:p>
            <a:pPr indent="0" marL="0">
              <a:buNone/>
            </a:pPr>
            <a:r>
              <a:rPr lang="en-US" sz="1250" b="1" dirty="0">
                <a:solidFill>
                  <a:srgbClr val="17263D"/>
                </a:solidFill>
                <a:latin typeface="Cambria" pitchFamily="34" charset="0"/>
                <a:ea typeface="Cambria" pitchFamily="34" charset="-122"/>
                <a:cs typeface="Cambria" pitchFamily="34" charset="-120"/>
              </a:rPr>
              <a:t>What should I bring to my first visit?</a:t>
            </a:r>
            <a:endParaRPr lang="en-US" sz="1250" dirty="0"/>
          </a:p>
        </p:txBody>
      </p:sp>
      <p:sp>
        <p:nvSpPr>
          <p:cNvPr id="21" name="Text 16"/>
          <p:cNvSpPr/>
          <p:nvPr/>
        </p:nvSpPr>
        <p:spPr>
          <a:xfrm>
            <a:off x="6903720" y="3749040"/>
            <a:ext cx="365760" cy="365760"/>
          </a:xfrm>
          <a:prstGeom prst="rect">
            <a:avLst/>
          </a:prstGeom>
          <a:noFill/>
          <a:ln/>
        </p:spPr>
        <p:txBody>
          <a:bodyPr wrap="square" lIns="0" tIns="0" rIns="0" bIns="0" rtlCol="0" anchor="ctr"/>
          <a:lstStyle/>
          <a:p>
            <a:pPr algn="ctr" indent="0" marL="0">
              <a:buNone/>
            </a:pPr>
            <a:r>
              <a:rPr lang="en-US" sz="1800" b="1" dirty="0">
                <a:solidFill>
                  <a:srgbClr val="0B5FA4"/>
                </a:solidFill>
                <a:latin typeface="Cambria" pitchFamily="34" charset="0"/>
                <a:ea typeface="Cambria" pitchFamily="34" charset="-122"/>
                <a:cs typeface="Cambria" pitchFamily="34" charset="-120"/>
              </a:rPr>
              <a:t>+</a:t>
            </a:r>
            <a:endParaRPr lang="en-US" sz="1800" dirty="0"/>
          </a:p>
        </p:txBody>
      </p:sp>
      <p:sp>
        <p:nvSpPr>
          <p:cNvPr id="22" name="Shape 17"/>
          <p:cNvSpPr/>
          <p:nvPr/>
        </p:nvSpPr>
        <p:spPr>
          <a:xfrm>
            <a:off x="548640" y="4352544"/>
            <a:ext cx="7452360" cy="566928"/>
          </a:xfrm>
          <a:prstGeom prst="roundRect">
            <a:avLst>
              <a:gd name="adj" fmla="val 12903"/>
            </a:avLst>
          </a:prstGeom>
          <a:solidFill>
            <a:srgbClr val="F6FAFD"/>
          </a:solidFill>
          <a:ln w="12700">
            <a:solidFill>
              <a:srgbClr val="D6E5F2"/>
            </a:solidFill>
            <a:prstDash val="solid"/>
          </a:ln>
        </p:spPr>
      </p:sp>
      <p:sp>
        <p:nvSpPr>
          <p:cNvPr id="23" name="Shape 18"/>
          <p:cNvSpPr/>
          <p:nvPr/>
        </p:nvSpPr>
        <p:spPr>
          <a:xfrm>
            <a:off x="749808" y="4480560"/>
            <a:ext cx="310896" cy="310896"/>
          </a:xfrm>
          <a:prstGeom prst="ellipse">
            <a:avLst/>
          </a:prstGeom>
          <a:solidFill>
            <a:srgbClr val="FFFFFF"/>
          </a:solidFill>
          <a:ln/>
        </p:spPr>
      </p:sp>
      <p:pic>
        <p:nvPicPr>
          <p:cNvPr id="24" name="Image 3" descr="/home/claude/medsev-ppt/icons/comment_0B5FA4.png">    </p:cNvPr>
          <p:cNvPicPr>
            <a:picLocks noChangeAspect="1"/>
          </p:cNvPicPr>
          <p:nvPr/>
        </p:nvPicPr>
        <p:blipFill>
          <a:blip r:embed="rId4"/>
          <a:stretch>
            <a:fillRect/>
          </a:stretch>
        </p:blipFill>
        <p:spPr>
          <a:xfrm>
            <a:off x="819760" y="4550512"/>
            <a:ext cx="170993" cy="170993"/>
          </a:xfrm>
          <a:prstGeom prst="rect">
            <a:avLst/>
          </a:prstGeom>
        </p:spPr>
      </p:pic>
      <p:sp>
        <p:nvSpPr>
          <p:cNvPr id="25" name="Text 19"/>
          <p:cNvSpPr/>
          <p:nvPr/>
        </p:nvSpPr>
        <p:spPr>
          <a:xfrm>
            <a:off x="1188720" y="4462272"/>
            <a:ext cx="5669280" cy="320040"/>
          </a:xfrm>
          <a:prstGeom prst="rect">
            <a:avLst/>
          </a:prstGeom>
          <a:noFill/>
          <a:ln/>
        </p:spPr>
        <p:txBody>
          <a:bodyPr wrap="square" lIns="0" tIns="0" rIns="0" bIns="0" rtlCol="0" anchor="ctr"/>
          <a:lstStyle/>
          <a:p>
            <a:pPr indent="0" marL="0">
              <a:buNone/>
            </a:pPr>
            <a:r>
              <a:rPr lang="en-US" sz="1250" b="1" dirty="0">
                <a:solidFill>
                  <a:srgbClr val="17263D"/>
                </a:solidFill>
                <a:latin typeface="Cambria" pitchFamily="34" charset="0"/>
                <a:ea typeface="Cambria" pitchFamily="34" charset="-122"/>
                <a:cs typeface="Cambria" pitchFamily="34" charset="-120"/>
              </a:rPr>
              <a:t>Is emergency care available 24/7?</a:t>
            </a:r>
            <a:endParaRPr lang="en-US" sz="1250" dirty="0"/>
          </a:p>
        </p:txBody>
      </p:sp>
      <p:sp>
        <p:nvSpPr>
          <p:cNvPr id="26" name="Text 20"/>
          <p:cNvSpPr/>
          <p:nvPr/>
        </p:nvSpPr>
        <p:spPr>
          <a:xfrm>
            <a:off x="6903720" y="4443984"/>
            <a:ext cx="365760" cy="365760"/>
          </a:xfrm>
          <a:prstGeom prst="rect">
            <a:avLst/>
          </a:prstGeom>
          <a:noFill/>
          <a:ln/>
        </p:spPr>
        <p:txBody>
          <a:bodyPr wrap="square" lIns="0" tIns="0" rIns="0" bIns="0" rtlCol="0" anchor="ctr"/>
          <a:lstStyle/>
          <a:p>
            <a:pPr algn="ctr" indent="0" marL="0">
              <a:buNone/>
            </a:pPr>
            <a:r>
              <a:rPr lang="en-US" sz="1800" b="1" dirty="0">
                <a:solidFill>
                  <a:srgbClr val="0B5FA4"/>
                </a:solidFill>
                <a:latin typeface="Cambria" pitchFamily="34" charset="0"/>
                <a:ea typeface="Cambria" pitchFamily="34" charset="-122"/>
                <a:cs typeface="Cambria" pitchFamily="34" charset="-120"/>
              </a:rPr>
              <a:t>+</a:t>
            </a:r>
            <a:endParaRPr lang="en-US" sz="1800" dirty="0"/>
          </a:p>
        </p:txBody>
      </p:sp>
      <p:sp>
        <p:nvSpPr>
          <p:cNvPr id="27" name="Shape 21"/>
          <p:cNvSpPr/>
          <p:nvPr/>
        </p:nvSpPr>
        <p:spPr>
          <a:xfrm>
            <a:off x="548640" y="5047488"/>
            <a:ext cx="7452360" cy="566928"/>
          </a:xfrm>
          <a:prstGeom prst="roundRect">
            <a:avLst>
              <a:gd name="adj" fmla="val 12903"/>
            </a:avLst>
          </a:prstGeom>
          <a:solidFill>
            <a:srgbClr val="F6FAFD"/>
          </a:solidFill>
          <a:ln w="12700">
            <a:solidFill>
              <a:srgbClr val="D6E5F2"/>
            </a:solidFill>
            <a:prstDash val="solid"/>
          </a:ln>
        </p:spPr>
      </p:sp>
      <p:sp>
        <p:nvSpPr>
          <p:cNvPr id="28" name="Shape 22"/>
          <p:cNvSpPr/>
          <p:nvPr/>
        </p:nvSpPr>
        <p:spPr>
          <a:xfrm>
            <a:off x="749808" y="5175504"/>
            <a:ext cx="310896" cy="310896"/>
          </a:xfrm>
          <a:prstGeom prst="ellipse">
            <a:avLst/>
          </a:prstGeom>
          <a:solidFill>
            <a:srgbClr val="FFFFFF"/>
          </a:solidFill>
          <a:ln/>
        </p:spPr>
      </p:sp>
      <p:pic>
        <p:nvPicPr>
          <p:cNvPr id="29" name="Image 4" descr="/home/claude/medsev-ppt/icons/comment_0B5FA4.png">    </p:cNvPr>
          <p:cNvPicPr>
            <a:picLocks noChangeAspect="1"/>
          </p:cNvPicPr>
          <p:nvPr/>
        </p:nvPicPr>
        <p:blipFill>
          <a:blip r:embed="rId5"/>
          <a:stretch>
            <a:fillRect/>
          </a:stretch>
        </p:blipFill>
        <p:spPr>
          <a:xfrm>
            <a:off x="819760" y="5245456"/>
            <a:ext cx="170993" cy="170993"/>
          </a:xfrm>
          <a:prstGeom prst="rect">
            <a:avLst/>
          </a:prstGeom>
        </p:spPr>
      </p:pic>
      <p:sp>
        <p:nvSpPr>
          <p:cNvPr id="30" name="Text 23"/>
          <p:cNvSpPr/>
          <p:nvPr/>
        </p:nvSpPr>
        <p:spPr>
          <a:xfrm>
            <a:off x="1188720" y="5157216"/>
            <a:ext cx="5669280" cy="320040"/>
          </a:xfrm>
          <a:prstGeom prst="rect">
            <a:avLst/>
          </a:prstGeom>
          <a:noFill/>
          <a:ln/>
        </p:spPr>
        <p:txBody>
          <a:bodyPr wrap="square" lIns="0" tIns="0" rIns="0" bIns="0" rtlCol="0" anchor="ctr"/>
          <a:lstStyle/>
          <a:p>
            <a:pPr indent="0" marL="0">
              <a:buNone/>
            </a:pPr>
            <a:r>
              <a:rPr lang="en-US" sz="1250" b="1" dirty="0">
                <a:solidFill>
                  <a:srgbClr val="17263D"/>
                </a:solidFill>
                <a:latin typeface="Cambria" pitchFamily="34" charset="0"/>
                <a:ea typeface="Cambria" pitchFamily="34" charset="-122"/>
                <a:cs typeface="Cambria" pitchFamily="34" charset="-120"/>
              </a:rPr>
              <a:t>Can I reschedule or cancel a booking?</a:t>
            </a:r>
            <a:endParaRPr lang="en-US" sz="1250" dirty="0"/>
          </a:p>
        </p:txBody>
      </p:sp>
      <p:sp>
        <p:nvSpPr>
          <p:cNvPr id="31" name="Text 24"/>
          <p:cNvSpPr/>
          <p:nvPr/>
        </p:nvSpPr>
        <p:spPr>
          <a:xfrm>
            <a:off x="6903720" y="5138928"/>
            <a:ext cx="365760" cy="365760"/>
          </a:xfrm>
          <a:prstGeom prst="rect">
            <a:avLst/>
          </a:prstGeom>
          <a:noFill/>
          <a:ln/>
        </p:spPr>
        <p:txBody>
          <a:bodyPr wrap="square" lIns="0" tIns="0" rIns="0" bIns="0" rtlCol="0" anchor="ctr"/>
          <a:lstStyle/>
          <a:p>
            <a:pPr algn="ctr" indent="0" marL="0">
              <a:buNone/>
            </a:pPr>
            <a:r>
              <a:rPr lang="en-US" sz="1800" b="1" dirty="0">
                <a:solidFill>
                  <a:srgbClr val="0B5FA4"/>
                </a:solidFill>
                <a:latin typeface="Cambria" pitchFamily="34" charset="0"/>
                <a:ea typeface="Cambria" pitchFamily="34" charset="-122"/>
                <a:cs typeface="Cambria" pitchFamily="34" charset="-120"/>
              </a:rPr>
              <a:t>+</a:t>
            </a:r>
            <a:endParaRPr lang="en-US" sz="1800" dirty="0"/>
          </a:p>
        </p:txBody>
      </p:sp>
      <p:sp>
        <p:nvSpPr>
          <p:cNvPr id="32" name="Shape 25"/>
          <p:cNvSpPr/>
          <p:nvPr/>
        </p:nvSpPr>
        <p:spPr>
          <a:xfrm>
            <a:off x="8366760" y="1920240"/>
            <a:ext cx="3291840" cy="4114800"/>
          </a:xfrm>
          <a:prstGeom prst="roundRect">
            <a:avLst>
              <a:gd name="adj" fmla="val 2778"/>
            </a:avLst>
          </a:prstGeom>
          <a:solidFill>
            <a:srgbClr val="0A3B63"/>
          </a:solidFill>
          <a:ln/>
        </p:spPr>
      </p:sp>
      <p:sp>
        <p:nvSpPr>
          <p:cNvPr id="33" name="Shape 26"/>
          <p:cNvSpPr/>
          <p:nvPr/>
        </p:nvSpPr>
        <p:spPr>
          <a:xfrm>
            <a:off x="8641080" y="2194560"/>
            <a:ext cx="548640" cy="548640"/>
          </a:xfrm>
          <a:prstGeom prst="ellipse">
            <a:avLst/>
          </a:prstGeom>
          <a:solidFill>
            <a:srgbClr val="FFFFFF"/>
          </a:solidFill>
          <a:ln/>
        </p:spPr>
      </p:sp>
      <p:pic>
        <p:nvPicPr>
          <p:cNvPr id="34" name="Image 5" descr="/home/claude/medsev-ppt/icons/comment_0B5FA4.png">    </p:cNvPr>
          <p:cNvPicPr>
            <a:picLocks noChangeAspect="1"/>
          </p:cNvPicPr>
          <p:nvPr/>
        </p:nvPicPr>
        <p:blipFill>
          <a:blip r:embed="rId6"/>
          <a:stretch>
            <a:fillRect/>
          </a:stretch>
        </p:blipFill>
        <p:spPr>
          <a:xfrm>
            <a:off x="8764524" y="2318004"/>
            <a:ext cx="301752" cy="301752"/>
          </a:xfrm>
          <a:prstGeom prst="rect">
            <a:avLst/>
          </a:prstGeom>
        </p:spPr>
      </p:pic>
      <p:sp>
        <p:nvSpPr>
          <p:cNvPr id="35" name="Text 27"/>
          <p:cNvSpPr/>
          <p:nvPr/>
        </p:nvSpPr>
        <p:spPr>
          <a:xfrm>
            <a:off x="8641080" y="2880360"/>
            <a:ext cx="2743200" cy="45720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Reduces support load</a:t>
            </a:r>
            <a:endParaRPr lang="en-US" sz="1450" dirty="0"/>
          </a:p>
        </p:txBody>
      </p:sp>
      <p:sp>
        <p:nvSpPr>
          <p:cNvPr id="36" name="Text 28"/>
          <p:cNvSpPr/>
          <p:nvPr/>
        </p:nvSpPr>
        <p:spPr>
          <a:xfrm>
            <a:off x="8641080" y="3337560"/>
            <a:ext cx="2743200" cy="1463040"/>
          </a:xfrm>
          <a:prstGeom prst="rect">
            <a:avLst/>
          </a:prstGeom>
          <a:noFill/>
          <a:ln/>
        </p:spPr>
        <p:txBody>
          <a:bodyPr wrap="square" lIns="0" tIns="0" rIns="0" bIns="0" rtlCol="0" anchor="ctr"/>
          <a:lstStyle/>
          <a:p>
            <a:pPr indent="0" marL="0">
              <a:lnSpc>
                <a:spcPct val="120000"/>
              </a:lnSpc>
              <a:buNone/>
            </a:pPr>
            <a:r>
              <a:rPr lang="en-US" sz="1080" dirty="0">
                <a:solidFill>
                  <a:srgbClr val="CFE3F7"/>
                </a:solidFill>
                <a:latin typeface="Calibri" pitchFamily="34" charset="0"/>
                <a:ea typeface="Calibri" pitchFamily="34" charset="-122"/>
                <a:cs typeface="Calibri" pitchFamily="34" charset="-120"/>
              </a:rPr>
              <a:t>A well-written FAQ intercepts the same handful of questions every clinic gets by phone — booking process, walk-ins, insurance, cancellations — before they ever reach the front desk.</a:t>
            </a:r>
            <a:endParaRPr lang="en-US" sz="1080" dirty="0"/>
          </a:p>
        </p:txBody>
      </p:sp>
      <p:sp>
        <p:nvSpPr>
          <p:cNvPr id="37" name="Text 29"/>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38" name="Text 30"/>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FAQ</a:t>
            </a:r>
            <a:endParaRPr lang="en-US" sz="900" dirty="0"/>
          </a:p>
        </p:txBody>
      </p:sp>
      <p:sp>
        <p:nvSpPr>
          <p:cNvPr id="39" name="Text 31"/>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17 / 23</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DESIGN ANALYSIS</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Website UI / UX Analysis</a:t>
            </a:r>
            <a:endParaRPr lang="en-US" sz="3000" dirty="0"/>
          </a:p>
        </p:txBody>
      </p:sp>
      <p:sp>
        <p:nvSpPr>
          <p:cNvPr id="4" name="Text 2"/>
          <p:cNvSpPr/>
          <p:nvPr/>
        </p:nvSpPr>
        <p:spPr>
          <a:xfrm>
            <a:off x="548640" y="1417320"/>
            <a:ext cx="3657600" cy="228600"/>
          </a:xfrm>
          <a:prstGeom prst="rect">
            <a:avLst/>
          </a:prstGeom>
          <a:noFill/>
          <a:ln/>
        </p:spPr>
        <p:txBody>
          <a:bodyPr wrap="square" lIns="0" tIns="0" rIns="0" bIns="0" rtlCol="0" anchor="ctr"/>
          <a:lstStyle/>
          <a:p>
            <a:pPr indent="0" marL="0">
              <a:buNone/>
            </a:pPr>
            <a:r>
              <a:rPr lang="en-US" sz="1100" b="1" spc="120" kern="0" dirty="0">
                <a:solidFill>
                  <a:srgbClr val="0B5FA4"/>
                </a:solidFill>
                <a:latin typeface="Calibri" pitchFamily="34" charset="0"/>
                <a:ea typeface="Calibri" pitchFamily="34" charset="-122"/>
                <a:cs typeface="Calibri" pitchFamily="34" charset="-120"/>
              </a:rPr>
              <a:t>COLOR PALETTE</a:t>
            </a:r>
            <a:endParaRPr lang="en-US" sz="1100" dirty="0"/>
          </a:p>
        </p:txBody>
      </p:sp>
      <p:sp>
        <p:nvSpPr>
          <p:cNvPr id="5" name="Shape 3"/>
          <p:cNvSpPr/>
          <p:nvPr/>
        </p:nvSpPr>
        <p:spPr>
          <a:xfrm>
            <a:off x="548640" y="1737360"/>
            <a:ext cx="1170432" cy="914400"/>
          </a:xfrm>
          <a:prstGeom prst="roundRect">
            <a:avLst>
              <a:gd name="adj" fmla="val 8000"/>
            </a:avLst>
          </a:prstGeom>
          <a:solidFill>
            <a:srgbClr val="0B5FA4"/>
          </a:solidFill>
          <a:ln w="12700">
            <a:solidFill>
              <a:srgbClr val="D6E5F2"/>
            </a:solidFill>
            <a:prstDash val="solid"/>
          </a:ln>
        </p:spPr>
      </p:sp>
      <p:sp>
        <p:nvSpPr>
          <p:cNvPr id="6" name="Text 4"/>
          <p:cNvSpPr/>
          <p:nvPr/>
        </p:nvSpPr>
        <p:spPr>
          <a:xfrm>
            <a:off x="548640" y="2697480"/>
            <a:ext cx="1170432" cy="182880"/>
          </a:xfrm>
          <a:prstGeom prst="rect">
            <a:avLst/>
          </a:prstGeom>
          <a:noFill/>
          <a:ln/>
        </p:spPr>
        <p:txBody>
          <a:bodyPr wrap="square" lIns="0" tIns="0" rIns="0" bIns="0" rtlCol="0" anchor="ctr"/>
          <a:lstStyle/>
          <a:p>
            <a:pPr algn="ctr" indent="0" marL="0">
              <a:buNone/>
            </a:pPr>
            <a:r>
              <a:rPr lang="en-US" sz="750" dirty="0">
                <a:solidFill>
                  <a:srgbClr val="55677E"/>
                </a:solidFill>
                <a:latin typeface="Calibri" pitchFamily="34" charset="0"/>
                <a:ea typeface="Calibri" pitchFamily="34" charset="-122"/>
                <a:cs typeface="Calibri" pitchFamily="34" charset="-120"/>
              </a:rPr>
              <a:t>#0B5FA4</a:t>
            </a:r>
            <a:endParaRPr lang="en-US" sz="750" dirty="0"/>
          </a:p>
        </p:txBody>
      </p:sp>
      <p:sp>
        <p:nvSpPr>
          <p:cNvPr id="7" name="Text 5"/>
          <p:cNvSpPr/>
          <p:nvPr/>
        </p:nvSpPr>
        <p:spPr>
          <a:xfrm>
            <a:off x="548640" y="2880360"/>
            <a:ext cx="1170432" cy="274320"/>
          </a:xfrm>
          <a:prstGeom prst="rect">
            <a:avLst/>
          </a:prstGeom>
          <a:noFill/>
          <a:ln/>
        </p:spPr>
        <p:txBody>
          <a:bodyPr wrap="square" lIns="0" tIns="0" rIns="0" bIns="0" rtlCol="0" anchor="ctr"/>
          <a:lstStyle/>
          <a:p>
            <a:pPr algn="ctr" indent="0" marL="0">
              <a:buNone/>
            </a:pPr>
            <a:r>
              <a:rPr lang="en-US" sz="780" b="1" dirty="0">
                <a:solidFill>
                  <a:srgbClr val="17263D"/>
                </a:solidFill>
                <a:latin typeface="Calibri" pitchFamily="34" charset="0"/>
                <a:ea typeface="Calibri" pitchFamily="34" charset="-122"/>
                <a:cs typeface="Calibri" pitchFamily="34" charset="-120"/>
              </a:rPr>
              <a:t>Primary Blue</a:t>
            </a:r>
            <a:endParaRPr lang="en-US" sz="780" dirty="0"/>
          </a:p>
        </p:txBody>
      </p:sp>
      <p:sp>
        <p:nvSpPr>
          <p:cNvPr id="8" name="Shape 6"/>
          <p:cNvSpPr/>
          <p:nvPr/>
        </p:nvSpPr>
        <p:spPr>
          <a:xfrm>
            <a:off x="1847088" y="1737360"/>
            <a:ext cx="1170432" cy="914400"/>
          </a:xfrm>
          <a:prstGeom prst="roundRect">
            <a:avLst>
              <a:gd name="adj" fmla="val 8000"/>
            </a:avLst>
          </a:prstGeom>
          <a:solidFill>
            <a:srgbClr val="072A47"/>
          </a:solidFill>
          <a:ln w="12700">
            <a:solidFill>
              <a:srgbClr val="D6E5F2"/>
            </a:solidFill>
            <a:prstDash val="solid"/>
          </a:ln>
        </p:spPr>
      </p:sp>
      <p:sp>
        <p:nvSpPr>
          <p:cNvPr id="9" name="Text 7"/>
          <p:cNvSpPr/>
          <p:nvPr/>
        </p:nvSpPr>
        <p:spPr>
          <a:xfrm>
            <a:off x="1847088" y="2697480"/>
            <a:ext cx="1170432" cy="182880"/>
          </a:xfrm>
          <a:prstGeom prst="rect">
            <a:avLst/>
          </a:prstGeom>
          <a:noFill/>
          <a:ln/>
        </p:spPr>
        <p:txBody>
          <a:bodyPr wrap="square" lIns="0" tIns="0" rIns="0" bIns="0" rtlCol="0" anchor="ctr"/>
          <a:lstStyle/>
          <a:p>
            <a:pPr algn="ctr" indent="0" marL="0">
              <a:buNone/>
            </a:pPr>
            <a:r>
              <a:rPr lang="en-US" sz="750" dirty="0">
                <a:solidFill>
                  <a:srgbClr val="55677E"/>
                </a:solidFill>
                <a:latin typeface="Calibri" pitchFamily="34" charset="0"/>
                <a:ea typeface="Calibri" pitchFamily="34" charset="-122"/>
                <a:cs typeface="Calibri" pitchFamily="34" charset="-120"/>
              </a:rPr>
              <a:t>#072A47</a:t>
            </a:r>
            <a:endParaRPr lang="en-US" sz="750" dirty="0"/>
          </a:p>
        </p:txBody>
      </p:sp>
      <p:sp>
        <p:nvSpPr>
          <p:cNvPr id="10" name="Text 8"/>
          <p:cNvSpPr/>
          <p:nvPr/>
        </p:nvSpPr>
        <p:spPr>
          <a:xfrm>
            <a:off x="1847088" y="2880360"/>
            <a:ext cx="1170432" cy="274320"/>
          </a:xfrm>
          <a:prstGeom prst="rect">
            <a:avLst/>
          </a:prstGeom>
          <a:noFill/>
          <a:ln/>
        </p:spPr>
        <p:txBody>
          <a:bodyPr wrap="square" lIns="0" tIns="0" rIns="0" bIns="0" rtlCol="0" anchor="ctr"/>
          <a:lstStyle/>
          <a:p>
            <a:pPr algn="ctr" indent="0" marL="0">
              <a:buNone/>
            </a:pPr>
            <a:r>
              <a:rPr lang="en-US" sz="780" b="1" dirty="0">
                <a:solidFill>
                  <a:srgbClr val="17263D"/>
                </a:solidFill>
                <a:latin typeface="Calibri" pitchFamily="34" charset="0"/>
                <a:ea typeface="Calibri" pitchFamily="34" charset="-122"/>
                <a:cs typeface="Calibri" pitchFamily="34" charset="-120"/>
              </a:rPr>
              <a:t>Deep Navy</a:t>
            </a:r>
            <a:endParaRPr lang="en-US" sz="780" dirty="0"/>
          </a:p>
        </p:txBody>
      </p:sp>
      <p:sp>
        <p:nvSpPr>
          <p:cNvPr id="11" name="Shape 9"/>
          <p:cNvSpPr/>
          <p:nvPr/>
        </p:nvSpPr>
        <p:spPr>
          <a:xfrm>
            <a:off x="3145536" y="1737360"/>
            <a:ext cx="1170432" cy="914400"/>
          </a:xfrm>
          <a:prstGeom prst="roundRect">
            <a:avLst>
              <a:gd name="adj" fmla="val 8000"/>
            </a:avLst>
          </a:prstGeom>
          <a:solidFill>
            <a:srgbClr val="00B4A6"/>
          </a:solidFill>
          <a:ln w="12700">
            <a:solidFill>
              <a:srgbClr val="D6E5F2"/>
            </a:solidFill>
            <a:prstDash val="solid"/>
          </a:ln>
        </p:spPr>
      </p:sp>
      <p:sp>
        <p:nvSpPr>
          <p:cNvPr id="12" name="Text 10"/>
          <p:cNvSpPr/>
          <p:nvPr/>
        </p:nvSpPr>
        <p:spPr>
          <a:xfrm>
            <a:off x="3145536" y="2697480"/>
            <a:ext cx="1170432" cy="182880"/>
          </a:xfrm>
          <a:prstGeom prst="rect">
            <a:avLst/>
          </a:prstGeom>
          <a:noFill/>
          <a:ln/>
        </p:spPr>
        <p:txBody>
          <a:bodyPr wrap="square" lIns="0" tIns="0" rIns="0" bIns="0" rtlCol="0" anchor="ctr"/>
          <a:lstStyle/>
          <a:p>
            <a:pPr algn="ctr" indent="0" marL="0">
              <a:buNone/>
            </a:pPr>
            <a:r>
              <a:rPr lang="en-US" sz="750" dirty="0">
                <a:solidFill>
                  <a:srgbClr val="55677E"/>
                </a:solidFill>
                <a:latin typeface="Calibri" pitchFamily="34" charset="0"/>
                <a:ea typeface="Calibri" pitchFamily="34" charset="-122"/>
                <a:cs typeface="Calibri" pitchFamily="34" charset="-120"/>
              </a:rPr>
              <a:t>#00B4A6</a:t>
            </a:r>
            <a:endParaRPr lang="en-US" sz="750" dirty="0"/>
          </a:p>
        </p:txBody>
      </p:sp>
      <p:sp>
        <p:nvSpPr>
          <p:cNvPr id="13" name="Text 11"/>
          <p:cNvSpPr/>
          <p:nvPr/>
        </p:nvSpPr>
        <p:spPr>
          <a:xfrm>
            <a:off x="3145536" y="2880360"/>
            <a:ext cx="1170432" cy="274320"/>
          </a:xfrm>
          <a:prstGeom prst="rect">
            <a:avLst/>
          </a:prstGeom>
          <a:noFill/>
          <a:ln/>
        </p:spPr>
        <p:txBody>
          <a:bodyPr wrap="square" lIns="0" tIns="0" rIns="0" bIns="0" rtlCol="0" anchor="ctr"/>
          <a:lstStyle/>
          <a:p>
            <a:pPr algn="ctr" indent="0" marL="0">
              <a:buNone/>
            </a:pPr>
            <a:r>
              <a:rPr lang="en-US" sz="780" b="1" dirty="0">
                <a:solidFill>
                  <a:srgbClr val="17263D"/>
                </a:solidFill>
                <a:latin typeface="Calibri" pitchFamily="34" charset="0"/>
                <a:ea typeface="Calibri" pitchFamily="34" charset="-122"/>
                <a:cs typeface="Calibri" pitchFamily="34" charset="-120"/>
              </a:rPr>
              <a:t>Teal Accent</a:t>
            </a:r>
            <a:endParaRPr lang="en-US" sz="780" dirty="0"/>
          </a:p>
        </p:txBody>
      </p:sp>
      <p:sp>
        <p:nvSpPr>
          <p:cNvPr id="14" name="Shape 12"/>
          <p:cNvSpPr/>
          <p:nvPr/>
        </p:nvSpPr>
        <p:spPr>
          <a:xfrm>
            <a:off x="4443984" y="1737360"/>
            <a:ext cx="1170432" cy="914400"/>
          </a:xfrm>
          <a:prstGeom prst="roundRect">
            <a:avLst>
              <a:gd name="adj" fmla="val 8000"/>
            </a:avLst>
          </a:prstGeom>
          <a:solidFill>
            <a:srgbClr val="EAF3FB"/>
          </a:solidFill>
          <a:ln w="12700">
            <a:solidFill>
              <a:srgbClr val="D6E5F2"/>
            </a:solidFill>
            <a:prstDash val="solid"/>
          </a:ln>
        </p:spPr>
      </p:sp>
      <p:sp>
        <p:nvSpPr>
          <p:cNvPr id="15" name="Text 13"/>
          <p:cNvSpPr/>
          <p:nvPr/>
        </p:nvSpPr>
        <p:spPr>
          <a:xfrm>
            <a:off x="4443984" y="2697480"/>
            <a:ext cx="1170432" cy="182880"/>
          </a:xfrm>
          <a:prstGeom prst="rect">
            <a:avLst/>
          </a:prstGeom>
          <a:noFill/>
          <a:ln/>
        </p:spPr>
        <p:txBody>
          <a:bodyPr wrap="square" lIns="0" tIns="0" rIns="0" bIns="0" rtlCol="0" anchor="ctr"/>
          <a:lstStyle/>
          <a:p>
            <a:pPr algn="ctr" indent="0" marL="0">
              <a:buNone/>
            </a:pPr>
            <a:r>
              <a:rPr lang="en-US" sz="750" dirty="0">
                <a:solidFill>
                  <a:srgbClr val="55677E"/>
                </a:solidFill>
                <a:latin typeface="Calibri" pitchFamily="34" charset="0"/>
                <a:ea typeface="Calibri" pitchFamily="34" charset="-122"/>
                <a:cs typeface="Calibri" pitchFamily="34" charset="-120"/>
              </a:rPr>
              <a:t>#EAF3FB</a:t>
            </a:r>
            <a:endParaRPr lang="en-US" sz="750" dirty="0"/>
          </a:p>
        </p:txBody>
      </p:sp>
      <p:sp>
        <p:nvSpPr>
          <p:cNvPr id="16" name="Text 14"/>
          <p:cNvSpPr/>
          <p:nvPr/>
        </p:nvSpPr>
        <p:spPr>
          <a:xfrm>
            <a:off x="4443984" y="2880360"/>
            <a:ext cx="1170432" cy="274320"/>
          </a:xfrm>
          <a:prstGeom prst="rect">
            <a:avLst/>
          </a:prstGeom>
          <a:noFill/>
          <a:ln/>
        </p:spPr>
        <p:txBody>
          <a:bodyPr wrap="square" lIns="0" tIns="0" rIns="0" bIns="0" rtlCol="0" anchor="ctr"/>
          <a:lstStyle/>
          <a:p>
            <a:pPr algn="ctr" indent="0" marL="0">
              <a:buNone/>
            </a:pPr>
            <a:r>
              <a:rPr lang="en-US" sz="780" b="1" dirty="0">
                <a:solidFill>
                  <a:srgbClr val="17263D"/>
                </a:solidFill>
                <a:latin typeface="Calibri" pitchFamily="34" charset="0"/>
                <a:ea typeface="Calibri" pitchFamily="34" charset="-122"/>
                <a:cs typeface="Calibri" pitchFamily="34" charset="-120"/>
              </a:rPr>
              <a:t>Ice Tint</a:t>
            </a:r>
            <a:endParaRPr lang="en-US" sz="780" dirty="0"/>
          </a:p>
        </p:txBody>
      </p:sp>
      <p:sp>
        <p:nvSpPr>
          <p:cNvPr id="17" name="Shape 15"/>
          <p:cNvSpPr/>
          <p:nvPr/>
        </p:nvSpPr>
        <p:spPr>
          <a:xfrm>
            <a:off x="5742432" y="1737360"/>
            <a:ext cx="1170432" cy="914400"/>
          </a:xfrm>
          <a:prstGeom prst="roundRect">
            <a:avLst>
              <a:gd name="adj" fmla="val 8000"/>
            </a:avLst>
          </a:prstGeom>
          <a:solidFill>
            <a:srgbClr val="FFFFFF"/>
          </a:solidFill>
          <a:ln w="12700">
            <a:solidFill>
              <a:srgbClr val="D6E5F2"/>
            </a:solidFill>
            <a:prstDash val="solid"/>
          </a:ln>
        </p:spPr>
      </p:sp>
      <p:sp>
        <p:nvSpPr>
          <p:cNvPr id="18" name="Text 16"/>
          <p:cNvSpPr/>
          <p:nvPr/>
        </p:nvSpPr>
        <p:spPr>
          <a:xfrm>
            <a:off x="5742432" y="2697480"/>
            <a:ext cx="1170432" cy="182880"/>
          </a:xfrm>
          <a:prstGeom prst="rect">
            <a:avLst/>
          </a:prstGeom>
          <a:noFill/>
          <a:ln/>
        </p:spPr>
        <p:txBody>
          <a:bodyPr wrap="square" lIns="0" tIns="0" rIns="0" bIns="0" rtlCol="0" anchor="ctr"/>
          <a:lstStyle/>
          <a:p>
            <a:pPr algn="ctr" indent="0" marL="0">
              <a:buNone/>
            </a:pPr>
            <a:r>
              <a:rPr lang="en-US" sz="750" dirty="0">
                <a:solidFill>
                  <a:srgbClr val="55677E"/>
                </a:solidFill>
                <a:latin typeface="Calibri" pitchFamily="34" charset="0"/>
                <a:ea typeface="Calibri" pitchFamily="34" charset="-122"/>
                <a:cs typeface="Calibri" pitchFamily="34" charset="-120"/>
              </a:rPr>
              <a:t>#FFFFFF</a:t>
            </a:r>
            <a:endParaRPr lang="en-US" sz="750" dirty="0"/>
          </a:p>
        </p:txBody>
      </p:sp>
      <p:sp>
        <p:nvSpPr>
          <p:cNvPr id="19" name="Text 17"/>
          <p:cNvSpPr/>
          <p:nvPr/>
        </p:nvSpPr>
        <p:spPr>
          <a:xfrm>
            <a:off x="5742432" y="2880360"/>
            <a:ext cx="1170432" cy="274320"/>
          </a:xfrm>
          <a:prstGeom prst="rect">
            <a:avLst/>
          </a:prstGeom>
          <a:noFill/>
          <a:ln/>
        </p:spPr>
        <p:txBody>
          <a:bodyPr wrap="square" lIns="0" tIns="0" rIns="0" bIns="0" rtlCol="0" anchor="ctr"/>
          <a:lstStyle/>
          <a:p>
            <a:pPr algn="ctr" indent="0" marL="0">
              <a:buNone/>
            </a:pPr>
            <a:r>
              <a:rPr lang="en-US" sz="780" b="1" dirty="0">
                <a:solidFill>
                  <a:srgbClr val="17263D"/>
                </a:solidFill>
                <a:latin typeface="Calibri" pitchFamily="34" charset="0"/>
                <a:ea typeface="Calibri" pitchFamily="34" charset="-122"/>
                <a:cs typeface="Calibri" pitchFamily="34" charset="-120"/>
              </a:rPr>
              <a:t>White</a:t>
            </a:r>
            <a:endParaRPr lang="en-US" sz="780" dirty="0"/>
          </a:p>
        </p:txBody>
      </p:sp>
      <p:sp>
        <p:nvSpPr>
          <p:cNvPr id="20" name="Text 18"/>
          <p:cNvSpPr/>
          <p:nvPr/>
        </p:nvSpPr>
        <p:spPr>
          <a:xfrm>
            <a:off x="548640" y="3429000"/>
            <a:ext cx="4572000" cy="228600"/>
          </a:xfrm>
          <a:prstGeom prst="rect">
            <a:avLst/>
          </a:prstGeom>
          <a:noFill/>
          <a:ln/>
        </p:spPr>
        <p:txBody>
          <a:bodyPr wrap="square" lIns="0" tIns="0" rIns="0" bIns="0" rtlCol="0" anchor="ctr"/>
          <a:lstStyle/>
          <a:p>
            <a:pPr indent="0" marL="0">
              <a:buNone/>
            </a:pPr>
            <a:r>
              <a:rPr lang="en-US" sz="1100" b="1" spc="120" kern="0" dirty="0">
                <a:solidFill>
                  <a:srgbClr val="0B5FA4"/>
                </a:solidFill>
                <a:latin typeface="Calibri" pitchFamily="34" charset="0"/>
                <a:ea typeface="Calibri" pitchFamily="34" charset="-122"/>
                <a:cs typeface="Calibri" pitchFamily="34" charset="-120"/>
              </a:rPr>
              <a:t>TYPOGRAPHY &amp; HIERARCHY</a:t>
            </a:r>
            <a:endParaRPr lang="en-US" sz="1100" dirty="0"/>
          </a:p>
        </p:txBody>
      </p:sp>
      <p:sp>
        <p:nvSpPr>
          <p:cNvPr id="21" name="Shape 19"/>
          <p:cNvSpPr/>
          <p:nvPr/>
        </p:nvSpPr>
        <p:spPr>
          <a:xfrm>
            <a:off x="548640" y="3749040"/>
            <a:ext cx="5852160" cy="2286000"/>
          </a:xfrm>
          <a:prstGeom prst="roundRect">
            <a:avLst>
              <a:gd name="adj" fmla="val 4000"/>
            </a:avLst>
          </a:prstGeom>
          <a:solidFill>
            <a:srgbClr val="F6FAFD"/>
          </a:solidFill>
          <a:ln w="12700">
            <a:solidFill>
              <a:srgbClr val="D6E5F2"/>
            </a:solidFill>
            <a:prstDash val="solid"/>
          </a:ln>
        </p:spPr>
      </p:sp>
      <p:sp>
        <p:nvSpPr>
          <p:cNvPr id="22" name="Text 20"/>
          <p:cNvSpPr/>
          <p:nvPr/>
        </p:nvSpPr>
        <p:spPr>
          <a:xfrm>
            <a:off x="822960" y="3913632"/>
            <a:ext cx="5303520" cy="502920"/>
          </a:xfrm>
          <a:prstGeom prst="rect">
            <a:avLst/>
          </a:prstGeom>
          <a:noFill/>
          <a:ln/>
        </p:spPr>
        <p:txBody>
          <a:bodyPr wrap="square" lIns="0" tIns="0" rIns="0" bIns="0" rtlCol="0" anchor="ctr"/>
          <a:lstStyle/>
          <a:p>
            <a:pPr indent="0" marL="0">
              <a:buNone/>
            </a:pPr>
            <a:r>
              <a:rPr lang="en-US" sz="2600" b="1" dirty="0">
                <a:solidFill>
                  <a:srgbClr val="17263D"/>
                </a:solidFill>
                <a:latin typeface="Cambria" pitchFamily="34" charset="0"/>
                <a:ea typeface="Cambria" pitchFamily="34" charset="-122"/>
                <a:cs typeface="Cambria" pitchFamily="34" charset="-120"/>
              </a:rPr>
              <a:t>Heading</a:t>
            </a:r>
            <a:endParaRPr lang="en-US" sz="2600" dirty="0"/>
          </a:p>
        </p:txBody>
      </p:sp>
      <p:sp>
        <p:nvSpPr>
          <p:cNvPr id="23" name="Text 21"/>
          <p:cNvSpPr/>
          <p:nvPr/>
        </p:nvSpPr>
        <p:spPr>
          <a:xfrm>
            <a:off x="822960" y="4480560"/>
            <a:ext cx="5303520" cy="274320"/>
          </a:xfrm>
          <a:prstGeom prst="rect">
            <a:avLst/>
          </a:prstGeom>
          <a:noFill/>
          <a:ln/>
        </p:spPr>
        <p:txBody>
          <a:bodyPr wrap="square" lIns="0" tIns="0" rIns="0" bIns="0" rtlCol="0" anchor="ctr"/>
          <a:lstStyle/>
          <a:p>
            <a:pPr indent="0" marL="0">
              <a:buNone/>
            </a:pPr>
            <a:r>
              <a:rPr lang="en-US" sz="1300" b="1" dirty="0">
                <a:solidFill>
                  <a:srgbClr val="00B4A6"/>
                </a:solidFill>
                <a:latin typeface="Calibri" pitchFamily="34" charset="0"/>
                <a:ea typeface="Calibri" pitchFamily="34" charset="-122"/>
                <a:cs typeface="Calibri" pitchFamily="34" charset="-120"/>
              </a:rPr>
              <a:t>Section label / eyebrow style</a:t>
            </a:r>
            <a:endParaRPr lang="en-US" sz="1300" dirty="0"/>
          </a:p>
        </p:txBody>
      </p:sp>
      <p:sp>
        <p:nvSpPr>
          <p:cNvPr id="24" name="Text 22"/>
          <p:cNvSpPr/>
          <p:nvPr/>
        </p:nvSpPr>
        <p:spPr>
          <a:xfrm>
            <a:off x="822960" y="4800600"/>
            <a:ext cx="5303520" cy="548640"/>
          </a:xfrm>
          <a:prstGeom prst="rect">
            <a:avLst/>
          </a:prstGeom>
          <a:noFill/>
          <a:ln/>
        </p:spPr>
        <p:txBody>
          <a:bodyPr wrap="square" lIns="0" tIns="0" rIns="0" bIns="0" rtlCol="0" anchor="ctr"/>
          <a:lstStyle/>
          <a:p>
            <a:pPr indent="0" marL="0">
              <a:lnSpc>
                <a:spcPct val="120000"/>
              </a:lnSpc>
              <a:buNone/>
            </a:pPr>
            <a:r>
              <a:rPr lang="en-US" sz="1150" dirty="0">
                <a:solidFill>
                  <a:srgbClr val="55677E"/>
                </a:solidFill>
                <a:latin typeface="Calibri" pitchFamily="34" charset="0"/>
                <a:ea typeface="Calibri" pitchFamily="34" charset="-122"/>
                <a:cs typeface="Calibri" pitchFamily="34" charset="-120"/>
              </a:rPr>
              <a:t>Body copy uses a clean sans-serif at a comfortable reading size, with generous line height for scannability on both desktop and mobile.</a:t>
            </a:r>
            <a:endParaRPr lang="en-US" sz="1150" dirty="0"/>
          </a:p>
        </p:txBody>
      </p:sp>
      <p:sp>
        <p:nvSpPr>
          <p:cNvPr id="25" name="Shape 23"/>
          <p:cNvSpPr/>
          <p:nvPr/>
        </p:nvSpPr>
        <p:spPr>
          <a:xfrm>
            <a:off x="822960" y="5440680"/>
            <a:ext cx="1554480" cy="320040"/>
          </a:xfrm>
          <a:prstGeom prst="roundRect">
            <a:avLst>
              <a:gd name="adj" fmla="val 50000"/>
            </a:avLst>
          </a:prstGeom>
          <a:solidFill>
            <a:srgbClr val="0B5FA4"/>
          </a:solidFill>
          <a:ln/>
        </p:spPr>
      </p:sp>
      <p:sp>
        <p:nvSpPr>
          <p:cNvPr id="26" name="Text 24"/>
          <p:cNvSpPr/>
          <p:nvPr/>
        </p:nvSpPr>
        <p:spPr>
          <a:xfrm>
            <a:off x="822960" y="5440680"/>
            <a:ext cx="15544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Button label</a:t>
            </a:r>
            <a:endParaRPr lang="en-US" sz="900" dirty="0"/>
          </a:p>
        </p:txBody>
      </p:sp>
      <p:sp>
        <p:nvSpPr>
          <p:cNvPr id="27" name="Text 25"/>
          <p:cNvSpPr/>
          <p:nvPr/>
        </p:nvSpPr>
        <p:spPr>
          <a:xfrm>
            <a:off x="6766560" y="1417320"/>
            <a:ext cx="4846320" cy="228600"/>
          </a:xfrm>
          <a:prstGeom prst="rect">
            <a:avLst/>
          </a:prstGeom>
          <a:noFill/>
          <a:ln/>
        </p:spPr>
        <p:txBody>
          <a:bodyPr wrap="square" lIns="0" tIns="0" rIns="0" bIns="0" rtlCol="0" anchor="ctr"/>
          <a:lstStyle/>
          <a:p>
            <a:pPr indent="0" marL="0">
              <a:buNone/>
            </a:pPr>
            <a:r>
              <a:rPr lang="en-US" sz="1100" b="1" spc="120" kern="0" dirty="0">
                <a:solidFill>
                  <a:srgbClr val="0B5FA4"/>
                </a:solidFill>
                <a:latin typeface="Calibri" pitchFamily="34" charset="0"/>
                <a:ea typeface="Calibri" pitchFamily="34" charset="-122"/>
                <a:cs typeface="Calibri" pitchFamily="34" charset="-120"/>
              </a:rPr>
              <a:t>LAYOUT &amp; VISUAL HIERARCHY</a:t>
            </a:r>
            <a:endParaRPr lang="en-US" sz="1100" dirty="0"/>
          </a:p>
        </p:txBody>
      </p:sp>
      <p:sp>
        <p:nvSpPr>
          <p:cNvPr id="28" name="Shape 26"/>
          <p:cNvSpPr/>
          <p:nvPr/>
        </p:nvSpPr>
        <p:spPr>
          <a:xfrm>
            <a:off x="6766560" y="1783080"/>
            <a:ext cx="457200" cy="457200"/>
          </a:xfrm>
          <a:prstGeom prst="ellipse">
            <a:avLst/>
          </a:prstGeom>
          <a:solidFill>
            <a:srgbClr val="EAF3FB"/>
          </a:solidFill>
          <a:ln/>
        </p:spPr>
      </p:sp>
      <p:pic>
        <p:nvPicPr>
          <p:cNvPr id="29" name="Image 0" descr="/home/claude/medsev-ppt/icons/grid_0B5FA4.png">    </p:cNvPr>
          <p:cNvPicPr>
            <a:picLocks noChangeAspect="1"/>
          </p:cNvPicPr>
          <p:nvPr/>
        </p:nvPicPr>
        <p:blipFill>
          <a:blip r:embed="rId1"/>
          <a:stretch>
            <a:fillRect/>
          </a:stretch>
        </p:blipFill>
        <p:spPr>
          <a:xfrm>
            <a:off x="6869430" y="1885950"/>
            <a:ext cx="251460" cy="251460"/>
          </a:xfrm>
          <a:prstGeom prst="rect">
            <a:avLst/>
          </a:prstGeom>
        </p:spPr>
      </p:pic>
      <p:sp>
        <p:nvSpPr>
          <p:cNvPr id="30" name="Text 27"/>
          <p:cNvSpPr/>
          <p:nvPr/>
        </p:nvSpPr>
        <p:spPr>
          <a:xfrm>
            <a:off x="7388352" y="1764792"/>
            <a:ext cx="4206240" cy="256032"/>
          </a:xfrm>
          <a:prstGeom prst="rect">
            <a:avLst/>
          </a:prstGeom>
          <a:noFill/>
          <a:ln/>
        </p:spPr>
        <p:txBody>
          <a:bodyPr wrap="square" lIns="0" tIns="0" rIns="0" bIns="0" rtlCol="0" anchor="ctr"/>
          <a:lstStyle/>
          <a:p>
            <a:pPr indent="0" marL="0">
              <a:buNone/>
            </a:pPr>
            <a:r>
              <a:rPr lang="en-US" sz="1300" b="1" dirty="0">
                <a:solidFill>
                  <a:srgbClr val="17263D"/>
                </a:solidFill>
                <a:latin typeface="Cambria" pitchFamily="34" charset="0"/>
                <a:ea typeface="Cambria" pitchFamily="34" charset="-122"/>
                <a:cs typeface="Cambria" pitchFamily="34" charset="-120"/>
              </a:rPr>
              <a:t>Card-based grids</a:t>
            </a:r>
            <a:endParaRPr lang="en-US" sz="1300" dirty="0"/>
          </a:p>
        </p:txBody>
      </p:sp>
      <p:sp>
        <p:nvSpPr>
          <p:cNvPr id="31" name="Text 28"/>
          <p:cNvSpPr/>
          <p:nvPr/>
        </p:nvSpPr>
        <p:spPr>
          <a:xfrm>
            <a:off x="7388352" y="2020824"/>
            <a:ext cx="4251960" cy="457200"/>
          </a:xfrm>
          <a:prstGeom prst="rect">
            <a:avLst/>
          </a:prstGeom>
          <a:noFill/>
          <a:ln/>
        </p:spPr>
        <p:txBody>
          <a:bodyPr wrap="square" lIns="0" tIns="0" rIns="0" bIns="0" rtlCol="0" anchor="ctr"/>
          <a:lstStyle/>
          <a:p>
            <a:pPr indent="0" marL="0">
              <a:lnSpc>
                <a:spcPct val="110000"/>
              </a:lnSpc>
              <a:buNone/>
            </a:pPr>
            <a:r>
              <a:rPr lang="en-US" sz="1030" dirty="0">
                <a:solidFill>
                  <a:srgbClr val="55677E"/>
                </a:solidFill>
                <a:latin typeface="Calibri" pitchFamily="34" charset="0"/>
                <a:ea typeface="Calibri" pitchFamily="34" charset="-122"/>
                <a:cs typeface="Calibri" pitchFamily="34" charset="-120"/>
              </a:rPr>
              <a:t>Services, doctors, and blog posts all reuse a consistent card module.</a:t>
            </a:r>
            <a:endParaRPr lang="en-US" sz="1030" dirty="0"/>
          </a:p>
        </p:txBody>
      </p:sp>
      <p:sp>
        <p:nvSpPr>
          <p:cNvPr id="32" name="Shape 29"/>
          <p:cNvSpPr/>
          <p:nvPr/>
        </p:nvSpPr>
        <p:spPr>
          <a:xfrm>
            <a:off x="6766560" y="2807208"/>
            <a:ext cx="457200" cy="457200"/>
          </a:xfrm>
          <a:prstGeom prst="ellipse">
            <a:avLst/>
          </a:prstGeom>
          <a:solidFill>
            <a:srgbClr val="EAF3FB"/>
          </a:solidFill>
          <a:ln/>
        </p:spPr>
      </p:sp>
      <p:pic>
        <p:nvPicPr>
          <p:cNvPr id="33" name="Image 1" descr="/home/claude/medsev-ppt/icons/layout_0B5FA4.png">    </p:cNvPr>
          <p:cNvPicPr>
            <a:picLocks noChangeAspect="1"/>
          </p:cNvPicPr>
          <p:nvPr/>
        </p:nvPicPr>
        <p:blipFill>
          <a:blip r:embed="rId2"/>
          <a:stretch>
            <a:fillRect/>
          </a:stretch>
        </p:blipFill>
        <p:spPr>
          <a:xfrm>
            <a:off x="6869430" y="2910078"/>
            <a:ext cx="251460" cy="251460"/>
          </a:xfrm>
          <a:prstGeom prst="rect">
            <a:avLst/>
          </a:prstGeom>
        </p:spPr>
      </p:pic>
      <p:sp>
        <p:nvSpPr>
          <p:cNvPr id="34" name="Text 30"/>
          <p:cNvSpPr/>
          <p:nvPr/>
        </p:nvSpPr>
        <p:spPr>
          <a:xfrm>
            <a:off x="7388352" y="2788920"/>
            <a:ext cx="4206240" cy="256032"/>
          </a:xfrm>
          <a:prstGeom prst="rect">
            <a:avLst/>
          </a:prstGeom>
          <a:noFill/>
          <a:ln/>
        </p:spPr>
        <p:txBody>
          <a:bodyPr wrap="square" lIns="0" tIns="0" rIns="0" bIns="0" rtlCol="0" anchor="ctr"/>
          <a:lstStyle/>
          <a:p>
            <a:pPr indent="0" marL="0">
              <a:buNone/>
            </a:pPr>
            <a:r>
              <a:rPr lang="en-US" sz="1300" b="1" dirty="0">
                <a:solidFill>
                  <a:srgbClr val="17263D"/>
                </a:solidFill>
                <a:latin typeface="Cambria" pitchFamily="34" charset="0"/>
                <a:ea typeface="Cambria" pitchFamily="34" charset="-122"/>
                <a:cs typeface="Cambria" pitchFamily="34" charset="-120"/>
              </a:rPr>
              <a:t>Generous whitespace</a:t>
            </a:r>
            <a:endParaRPr lang="en-US" sz="1300" dirty="0"/>
          </a:p>
        </p:txBody>
      </p:sp>
      <p:sp>
        <p:nvSpPr>
          <p:cNvPr id="35" name="Text 31"/>
          <p:cNvSpPr/>
          <p:nvPr/>
        </p:nvSpPr>
        <p:spPr>
          <a:xfrm>
            <a:off x="7388352" y="3044952"/>
            <a:ext cx="4251960" cy="457200"/>
          </a:xfrm>
          <a:prstGeom prst="rect">
            <a:avLst/>
          </a:prstGeom>
          <a:noFill/>
          <a:ln/>
        </p:spPr>
        <p:txBody>
          <a:bodyPr wrap="square" lIns="0" tIns="0" rIns="0" bIns="0" rtlCol="0" anchor="ctr"/>
          <a:lstStyle/>
          <a:p>
            <a:pPr indent="0" marL="0">
              <a:lnSpc>
                <a:spcPct val="110000"/>
              </a:lnSpc>
              <a:buNone/>
            </a:pPr>
            <a:r>
              <a:rPr lang="en-US" sz="1030" dirty="0">
                <a:solidFill>
                  <a:srgbClr val="55677E"/>
                </a:solidFill>
                <a:latin typeface="Calibri" pitchFamily="34" charset="0"/>
                <a:ea typeface="Calibri" pitchFamily="34" charset="-122"/>
                <a:cs typeface="Calibri" pitchFamily="34" charset="-120"/>
              </a:rPr>
              <a:t>Sections breathe with ample padding rather than crowding content.</a:t>
            </a:r>
            <a:endParaRPr lang="en-US" sz="1030" dirty="0"/>
          </a:p>
        </p:txBody>
      </p:sp>
      <p:sp>
        <p:nvSpPr>
          <p:cNvPr id="36" name="Shape 32"/>
          <p:cNvSpPr/>
          <p:nvPr/>
        </p:nvSpPr>
        <p:spPr>
          <a:xfrm>
            <a:off x="6766560" y="3831336"/>
            <a:ext cx="457200" cy="457200"/>
          </a:xfrm>
          <a:prstGeom prst="ellipse">
            <a:avLst/>
          </a:prstGeom>
          <a:solidFill>
            <a:srgbClr val="EAF3FB"/>
          </a:solidFill>
          <a:ln/>
        </p:spPr>
      </p:sp>
      <p:pic>
        <p:nvPicPr>
          <p:cNvPr id="37" name="Image 2" descr="/home/claude/medsev-ppt/icons/target_0B5FA4.png">    </p:cNvPr>
          <p:cNvPicPr>
            <a:picLocks noChangeAspect="1"/>
          </p:cNvPicPr>
          <p:nvPr/>
        </p:nvPicPr>
        <p:blipFill>
          <a:blip r:embed="rId3"/>
          <a:stretch>
            <a:fillRect/>
          </a:stretch>
        </p:blipFill>
        <p:spPr>
          <a:xfrm>
            <a:off x="6869430" y="3934206"/>
            <a:ext cx="251460" cy="251460"/>
          </a:xfrm>
          <a:prstGeom prst="rect">
            <a:avLst/>
          </a:prstGeom>
        </p:spPr>
      </p:pic>
      <p:sp>
        <p:nvSpPr>
          <p:cNvPr id="38" name="Text 33"/>
          <p:cNvSpPr/>
          <p:nvPr/>
        </p:nvSpPr>
        <p:spPr>
          <a:xfrm>
            <a:off x="7388352" y="3813048"/>
            <a:ext cx="4206240" cy="256032"/>
          </a:xfrm>
          <a:prstGeom prst="rect">
            <a:avLst/>
          </a:prstGeom>
          <a:noFill/>
          <a:ln/>
        </p:spPr>
        <p:txBody>
          <a:bodyPr wrap="square" lIns="0" tIns="0" rIns="0" bIns="0" rtlCol="0" anchor="ctr"/>
          <a:lstStyle/>
          <a:p>
            <a:pPr indent="0" marL="0">
              <a:buNone/>
            </a:pPr>
            <a:r>
              <a:rPr lang="en-US" sz="1300" b="1" dirty="0">
                <a:solidFill>
                  <a:srgbClr val="17263D"/>
                </a:solidFill>
                <a:latin typeface="Cambria" pitchFamily="34" charset="0"/>
                <a:ea typeface="Cambria" pitchFamily="34" charset="-122"/>
                <a:cs typeface="Cambria" pitchFamily="34" charset="-120"/>
              </a:rPr>
              <a:t>Clear visual hierarchy</a:t>
            </a:r>
            <a:endParaRPr lang="en-US" sz="1300" dirty="0"/>
          </a:p>
        </p:txBody>
      </p:sp>
      <p:sp>
        <p:nvSpPr>
          <p:cNvPr id="39" name="Text 34"/>
          <p:cNvSpPr/>
          <p:nvPr/>
        </p:nvSpPr>
        <p:spPr>
          <a:xfrm>
            <a:off x="7388352" y="4069080"/>
            <a:ext cx="4251960" cy="457200"/>
          </a:xfrm>
          <a:prstGeom prst="rect">
            <a:avLst/>
          </a:prstGeom>
          <a:noFill/>
          <a:ln/>
        </p:spPr>
        <p:txBody>
          <a:bodyPr wrap="square" lIns="0" tIns="0" rIns="0" bIns="0" rtlCol="0" anchor="ctr"/>
          <a:lstStyle/>
          <a:p>
            <a:pPr indent="0" marL="0">
              <a:lnSpc>
                <a:spcPct val="110000"/>
              </a:lnSpc>
              <a:buNone/>
            </a:pPr>
            <a:r>
              <a:rPr lang="en-US" sz="1030" dirty="0">
                <a:solidFill>
                  <a:srgbClr val="55677E"/>
                </a:solidFill>
                <a:latin typeface="Calibri" pitchFamily="34" charset="0"/>
                <a:ea typeface="Calibri" pitchFamily="34" charset="-122"/>
                <a:cs typeface="Calibri" pitchFamily="34" charset="-120"/>
              </a:rPr>
              <a:t>Bold headings, muted body copy, and a single accent color for actions.</a:t>
            </a:r>
            <a:endParaRPr lang="en-US" sz="1030" dirty="0"/>
          </a:p>
        </p:txBody>
      </p:sp>
      <p:sp>
        <p:nvSpPr>
          <p:cNvPr id="40" name="Shape 35"/>
          <p:cNvSpPr/>
          <p:nvPr/>
        </p:nvSpPr>
        <p:spPr>
          <a:xfrm>
            <a:off x="6766560" y="4855464"/>
            <a:ext cx="457200" cy="457200"/>
          </a:xfrm>
          <a:prstGeom prst="ellipse">
            <a:avLst/>
          </a:prstGeom>
          <a:solidFill>
            <a:srgbClr val="EAF3FB"/>
          </a:solidFill>
          <a:ln/>
        </p:spPr>
      </p:sp>
      <p:pic>
        <p:nvPicPr>
          <p:cNvPr id="41" name="Image 3" descr="/home/claude/medsev-ppt/icons/responsive_0B5FA4.png">    </p:cNvPr>
          <p:cNvPicPr>
            <a:picLocks noChangeAspect="1"/>
          </p:cNvPicPr>
          <p:nvPr/>
        </p:nvPicPr>
        <p:blipFill>
          <a:blip r:embed="rId4"/>
          <a:stretch>
            <a:fillRect/>
          </a:stretch>
        </p:blipFill>
        <p:spPr>
          <a:xfrm>
            <a:off x="6869430" y="4958334"/>
            <a:ext cx="251460" cy="251460"/>
          </a:xfrm>
          <a:prstGeom prst="rect">
            <a:avLst/>
          </a:prstGeom>
        </p:spPr>
      </p:pic>
      <p:sp>
        <p:nvSpPr>
          <p:cNvPr id="42" name="Text 36"/>
          <p:cNvSpPr/>
          <p:nvPr/>
        </p:nvSpPr>
        <p:spPr>
          <a:xfrm>
            <a:off x="7388352" y="4837176"/>
            <a:ext cx="4206240" cy="256032"/>
          </a:xfrm>
          <a:prstGeom prst="rect">
            <a:avLst/>
          </a:prstGeom>
          <a:noFill/>
          <a:ln/>
        </p:spPr>
        <p:txBody>
          <a:bodyPr wrap="square" lIns="0" tIns="0" rIns="0" bIns="0" rtlCol="0" anchor="ctr"/>
          <a:lstStyle/>
          <a:p>
            <a:pPr indent="0" marL="0">
              <a:buNone/>
            </a:pPr>
            <a:r>
              <a:rPr lang="en-US" sz="1300" b="1" dirty="0">
                <a:solidFill>
                  <a:srgbClr val="17263D"/>
                </a:solidFill>
                <a:latin typeface="Cambria" pitchFamily="34" charset="0"/>
                <a:ea typeface="Cambria" pitchFamily="34" charset="-122"/>
                <a:cs typeface="Cambria" pitchFamily="34" charset="-120"/>
              </a:rPr>
              <a:t>Icon-led communication</a:t>
            </a:r>
            <a:endParaRPr lang="en-US" sz="1300" dirty="0"/>
          </a:p>
        </p:txBody>
      </p:sp>
      <p:sp>
        <p:nvSpPr>
          <p:cNvPr id="43" name="Text 37"/>
          <p:cNvSpPr/>
          <p:nvPr/>
        </p:nvSpPr>
        <p:spPr>
          <a:xfrm>
            <a:off x="7388352" y="5093208"/>
            <a:ext cx="4251960" cy="457200"/>
          </a:xfrm>
          <a:prstGeom prst="rect">
            <a:avLst/>
          </a:prstGeom>
          <a:noFill/>
          <a:ln/>
        </p:spPr>
        <p:txBody>
          <a:bodyPr wrap="square" lIns="0" tIns="0" rIns="0" bIns="0" rtlCol="0" anchor="ctr"/>
          <a:lstStyle/>
          <a:p>
            <a:pPr indent="0" marL="0">
              <a:lnSpc>
                <a:spcPct val="110000"/>
              </a:lnSpc>
              <a:buNone/>
            </a:pPr>
            <a:r>
              <a:rPr lang="en-US" sz="1030" dirty="0">
                <a:solidFill>
                  <a:srgbClr val="55677E"/>
                </a:solidFill>
                <a:latin typeface="Calibri" pitchFamily="34" charset="0"/>
                <a:ea typeface="Calibri" pitchFamily="34" charset="-122"/>
                <a:cs typeface="Calibri" pitchFamily="34" charset="-120"/>
              </a:rPr>
              <a:t>Every feature is paired with an icon, reducing reliance on text alone.</a:t>
            </a:r>
            <a:endParaRPr lang="en-US" sz="1030" dirty="0"/>
          </a:p>
        </p:txBody>
      </p:sp>
      <p:sp>
        <p:nvSpPr>
          <p:cNvPr id="44" name="Text 38"/>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45" name="Text 39"/>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UI / UX Analysis</a:t>
            </a:r>
            <a:endParaRPr lang="en-US" sz="900" dirty="0"/>
          </a:p>
        </p:txBody>
      </p:sp>
      <p:sp>
        <p:nvSpPr>
          <p:cNvPr id="46" name="Text 40"/>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18 / 23</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DESIGN ANALYSIS</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Responsive Design</a:t>
            </a:r>
            <a:endParaRPr lang="en-US" sz="3000" dirty="0"/>
          </a:p>
        </p:txBody>
      </p:sp>
      <p:sp>
        <p:nvSpPr>
          <p:cNvPr id="4" name="Text 2"/>
          <p:cNvSpPr/>
          <p:nvPr/>
        </p:nvSpPr>
        <p:spPr>
          <a:xfrm>
            <a:off x="548640" y="1371600"/>
            <a:ext cx="9144000" cy="365760"/>
          </a:xfrm>
          <a:prstGeom prst="rect">
            <a:avLst/>
          </a:prstGeom>
          <a:noFill/>
          <a:ln/>
        </p:spPr>
        <p:txBody>
          <a:bodyPr wrap="square" lIns="0" tIns="0" rIns="0" bIns="0" rtlCol="0" anchor="ctr"/>
          <a:lstStyle/>
          <a:p>
            <a:pPr indent="0" marL="0">
              <a:buNone/>
            </a:pPr>
            <a:r>
              <a:rPr lang="en-US" sz="1300" dirty="0">
                <a:solidFill>
                  <a:srgbClr val="55677E"/>
                </a:solidFill>
                <a:latin typeface="Calibri" pitchFamily="34" charset="0"/>
                <a:ea typeface="Calibri" pitchFamily="34" charset="-122"/>
                <a:cs typeface="Calibri" pitchFamily="34" charset="-120"/>
              </a:rPr>
              <a:t>The same content, reflowed for every screen</a:t>
            </a:r>
            <a:endParaRPr lang="en-US" sz="1300" dirty="0"/>
          </a:p>
        </p:txBody>
      </p:sp>
      <p:sp>
        <p:nvSpPr>
          <p:cNvPr id="5" name="Shape 3"/>
          <p:cNvSpPr/>
          <p:nvPr/>
        </p:nvSpPr>
        <p:spPr>
          <a:xfrm>
            <a:off x="640080" y="1965960"/>
            <a:ext cx="4663440" cy="3017520"/>
          </a:xfrm>
          <a:prstGeom prst="roundRect">
            <a:avLst>
              <a:gd name="adj" fmla="val 1818"/>
            </a:avLst>
          </a:prstGeom>
          <a:solidFill>
            <a:srgbClr val="0A3B63"/>
          </a:solidFill>
          <a:ln/>
        </p:spPr>
      </p:sp>
      <p:sp>
        <p:nvSpPr>
          <p:cNvPr id="6" name="Shape 4"/>
          <p:cNvSpPr/>
          <p:nvPr/>
        </p:nvSpPr>
        <p:spPr>
          <a:xfrm>
            <a:off x="731520" y="2167128"/>
            <a:ext cx="4480560" cy="2724912"/>
          </a:xfrm>
          <a:prstGeom prst="rect">
            <a:avLst/>
          </a:prstGeom>
          <a:solidFill>
            <a:srgbClr val="FFFFFF"/>
          </a:solidFill>
          <a:ln/>
        </p:spPr>
      </p:sp>
      <p:sp>
        <p:nvSpPr>
          <p:cNvPr id="7" name="Shape 5"/>
          <p:cNvSpPr/>
          <p:nvPr/>
        </p:nvSpPr>
        <p:spPr>
          <a:xfrm>
            <a:off x="731520" y="2167128"/>
            <a:ext cx="4480560" cy="502920"/>
          </a:xfrm>
          <a:prstGeom prst="rect">
            <a:avLst/>
          </a:prstGeom>
          <a:solidFill>
            <a:srgbClr val="0B5FA4"/>
          </a:solidFill>
          <a:ln/>
        </p:spPr>
      </p:sp>
      <p:sp>
        <p:nvSpPr>
          <p:cNvPr id="8" name="Shape 6"/>
          <p:cNvSpPr/>
          <p:nvPr/>
        </p:nvSpPr>
        <p:spPr>
          <a:xfrm>
            <a:off x="822960" y="2852928"/>
            <a:ext cx="992124" cy="777240"/>
          </a:xfrm>
          <a:prstGeom prst="roundRect">
            <a:avLst>
              <a:gd name="adj" fmla="val 3529"/>
            </a:avLst>
          </a:prstGeom>
          <a:solidFill>
            <a:srgbClr val="F6FAFD"/>
          </a:solidFill>
          <a:ln w="6350">
            <a:solidFill>
              <a:srgbClr val="D6E5F2"/>
            </a:solidFill>
            <a:prstDash val="solid"/>
          </a:ln>
        </p:spPr>
      </p:sp>
      <p:sp>
        <p:nvSpPr>
          <p:cNvPr id="9" name="Shape 7"/>
          <p:cNvSpPr/>
          <p:nvPr/>
        </p:nvSpPr>
        <p:spPr>
          <a:xfrm>
            <a:off x="1943100" y="2852928"/>
            <a:ext cx="992124" cy="777240"/>
          </a:xfrm>
          <a:prstGeom prst="roundRect">
            <a:avLst>
              <a:gd name="adj" fmla="val 3529"/>
            </a:avLst>
          </a:prstGeom>
          <a:solidFill>
            <a:srgbClr val="F6FAFD"/>
          </a:solidFill>
          <a:ln w="6350">
            <a:solidFill>
              <a:srgbClr val="D6E5F2"/>
            </a:solidFill>
            <a:prstDash val="solid"/>
          </a:ln>
        </p:spPr>
      </p:sp>
      <p:sp>
        <p:nvSpPr>
          <p:cNvPr id="10" name="Shape 8"/>
          <p:cNvSpPr/>
          <p:nvPr/>
        </p:nvSpPr>
        <p:spPr>
          <a:xfrm>
            <a:off x="3063240" y="2852928"/>
            <a:ext cx="992124" cy="777240"/>
          </a:xfrm>
          <a:prstGeom prst="roundRect">
            <a:avLst>
              <a:gd name="adj" fmla="val 3529"/>
            </a:avLst>
          </a:prstGeom>
          <a:solidFill>
            <a:srgbClr val="F6FAFD"/>
          </a:solidFill>
          <a:ln w="6350">
            <a:solidFill>
              <a:srgbClr val="D6E5F2"/>
            </a:solidFill>
            <a:prstDash val="solid"/>
          </a:ln>
        </p:spPr>
      </p:sp>
      <p:sp>
        <p:nvSpPr>
          <p:cNvPr id="11" name="Shape 9"/>
          <p:cNvSpPr/>
          <p:nvPr/>
        </p:nvSpPr>
        <p:spPr>
          <a:xfrm>
            <a:off x="4183380" y="2852928"/>
            <a:ext cx="992124" cy="777240"/>
          </a:xfrm>
          <a:prstGeom prst="roundRect">
            <a:avLst>
              <a:gd name="adj" fmla="val 3529"/>
            </a:avLst>
          </a:prstGeom>
          <a:solidFill>
            <a:srgbClr val="F6FAFD"/>
          </a:solidFill>
          <a:ln w="6350">
            <a:solidFill>
              <a:srgbClr val="D6E5F2"/>
            </a:solidFill>
            <a:prstDash val="solid"/>
          </a:ln>
        </p:spPr>
      </p:sp>
      <p:sp>
        <p:nvSpPr>
          <p:cNvPr id="12" name="Shape 10"/>
          <p:cNvSpPr/>
          <p:nvPr/>
        </p:nvSpPr>
        <p:spPr>
          <a:xfrm>
            <a:off x="822960" y="3813048"/>
            <a:ext cx="4297680" cy="54864"/>
          </a:xfrm>
          <a:prstGeom prst="roundRect">
            <a:avLst>
              <a:gd name="adj" fmla="val 33333"/>
            </a:avLst>
          </a:prstGeom>
          <a:solidFill>
            <a:srgbClr val="D6E5F2"/>
          </a:solidFill>
          <a:ln/>
        </p:spPr>
      </p:sp>
      <p:sp>
        <p:nvSpPr>
          <p:cNvPr id="13" name="Shape 11"/>
          <p:cNvSpPr/>
          <p:nvPr/>
        </p:nvSpPr>
        <p:spPr>
          <a:xfrm>
            <a:off x="822960" y="3950208"/>
            <a:ext cx="2793492" cy="43891"/>
          </a:xfrm>
          <a:prstGeom prst="roundRect">
            <a:avLst>
              <a:gd name="adj" fmla="val 41667"/>
            </a:avLst>
          </a:prstGeom>
          <a:solidFill>
            <a:srgbClr val="D6E5F2"/>
          </a:solidFill>
          <a:ln/>
        </p:spPr>
      </p:sp>
      <p:sp>
        <p:nvSpPr>
          <p:cNvPr id="14" name="Shape 12"/>
          <p:cNvSpPr/>
          <p:nvPr/>
        </p:nvSpPr>
        <p:spPr>
          <a:xfrm>
            <a:off x="822960" y="4133088"/>
            <a:ext cx="3008376" cy="54864"/>
          </a:xfrm>
          <a:prstGeom prst="roundRect">
            <a:avLst>
              <a:gd name="adj" fmla="val 33333"/>
            </a:avLst>
          </a:prstGeom>
          <a:solidFill>
            <a:srgbClr val="D6E5F2"/>
          </a:solidFill>
          <a:ln/>
        </p:spPr>
      </p:sp>
      <p:sp>
        <p:nvSpPr>
          <p:cNvPr id="15" name="Shape 13"/>
          <p:cNvSpPr/>
          <p:nvPr/>
        </p:nvSpPr>
        <p:spPr>
          <a:xfrm>
            <a:off x="822960" y="4270248"/>
            <a:ext cx="1955444" cy="43891"/>
          </a:xfrm>
          <a:prstGeom prst="roundRect">
            <a:avLst>
              <a:gd name="adj" fmla="val 41667"/>
            </a:avLst>
          </a:prstGeom>
          <a:solidFill>
            <a:srgbClr val="D6E5F2"/>
          </a:solidFill>
          <a:ln/>
        </p:spPr>
      </p:sp>
      <p:sp>
        <p:nvSpPr>
          <p:cNvPr id="16" name="Shape 14"/>
          <p:cNvSpPr/>
          <p:nvPr/>
        </p:nvSpPr>
        <p:spPr>
          <a:xfrm>
            <a:off x="2514600" y="4983480"/>
            <a:ext cx="914400" cy="109728"/>
          </a:xfrm>
          <a:prstGeom prst="rect">
            <a:avLst/>
          </a:prstGeom>
          <a:solidFill>
            <a:srgbClr val="0A3B63"/>
          </a:solidFill>
          <a:ln/>
        </p:spPr>
      </p:sp>
      <p:sp>
        <p:nvSpPr>
          <p:cNvPr id="17" name="Text 15"/>
          <p:cNvSpPr/>
          <p:nvPr/>
        </p:nvSpPr>
        <p:spPr>
          <a:xfrm>
            <a:off x="640080" y="5257800"/>
            <a:ext cx="4663440" cy="274320"/>
          </a:xfrm>
          <a:prstGeom prst="rect">
            <a:avLst/>
          </a:prstGeom>
          <a:noFill/>
          <a:ln/>
        </p:spPr>
        <p:txBody>
          <a:bodyPr wrap="square" lIns="0" tIns="0" rIns="0" bIns="0" rtlCol="0" anchor="ctr"/>
          <a:lstStyle/>
          <a:p>
            <a:pPr algn="ctr" indent="0" marL="0">
              <a:buNone/>
            </a:pPr>
            <a:r>
              <a:rPr lang="en-US" sz="1300" b="1" dirty="0">
                <a:solidFill>
                  <a:srgbClr val="17263D"/>
                </a:solidFill>
                <a:latin typeface="Cambria" pitchFamily="34" charset="0"/>
                <a:ea typeface="Cambria" pitchFamily="34" charset="-122"/>
                <a:cs typeface="Cambria" pitchFamily="34" charset="-120"/>
              </a:rPr>
              <a:t>Desktop</a:t>
            </a:r>
            <a:endParaRPr lang="en-US" sz="1300" dirty="0"/>
          </a:p>
        </p:txBody>
      </p:sp>
      <p:sp>
        <p:nvSpPr>
          <p:cNvPr id="18" name="Shape 16"/>
          <p:cNvSpPr/>
          <p:nvPr/>
        </p:nvSpPr>
        <p:spPr>
          <a:xfrm>
            <a:off x="5623560" y="1965960"/>
            <a:ext cx="2651760" cy="3246120"/>
          </a:xfrm>
          <a:prstGeom prst="roundRect">
            <a:avLst>
              <a:gd name="adj" fmla="val 2069"/>
            </a:avLst>
          </a:prstGeom>
          <a:solidFill>
            <a:srgbClr val="0A3B63"/>
          </a:solidFill>
          <a:ln/>
        </p:spPr>
      </p:sp>
      <p:sp>
        <p:nvSpPr>
          <p:cNvPr id="19" name="Shape 17"/>
          <p:cNvSpPr/>
          <p:nvPr/>
        </p:nvSpPr>
        <p:spPr>
          <a:xfrm>
            <a:off x="5715000" y="2057400"/>
            <a:ext cx="2468880" cy="3063240"/>
          </a:xfrm>
          <a:prstGeom prst="rect">
            <a:avLst/>
          </a:prstGeom>
          <a:solidFill>
            <a:srgbClr val="FFFFFF"/>
          </a:solidFill>
          <a:ln/>
        </p:spPr>
      </p:sp>
      <p:sp>
        <p:nvSpPr>
          <p:cNvPr id="20" name="Shape 18"/>
          <p:cNvSpPr/>
          <p:nvPr/>
        </p:nvSpPr>
        <p:spPr>
          <a:xfrm>
            <a:off x="5715000" y="2057400"/>
            <a:ext cx="2468880" cy="365760"/>
          </a:xfrm>
          <a:prstGeom prst="rect">
            <a:avLst/>
          </a:prstGeom>
          <a:solidFill>
            <a:srgbClr val="0B5FA4"/>
          </a:solidFill>
          <a:ln/>
        </p:spPr>
      </p:sp>
      <p:sp>
        <p:nvSpPr>
          <p:cNvPr id="21" name="Shape 19"/>
          <p:cNvSpPr/>
          <p:nvPr/>
        </p:nvSpPr>
        <p:spPr>
          <a:xfrm>
            <a:off x="5769864" y="2560320"/>
            <a:ext cx="1143000" cy="685800"/>
          </a:xfrm>
          <a:prstGeom prst="roundRect">
            <a:avLst>
              <a:gd name="adj" fmla="val 4000"/>
            </a:avLst>
          </a:prstGeom>
          <a:solidFill>
            <a:srgbClr val="F6FAFD"/>
          </a:solidFill>
          <a:ln w="6350">
            <a:solidFill>
              <a:srgbClr val="D6E5F2"/>
            </a:solidFill>
            <a:prstDash val="solid"/>
          </a:ln>
        </p:spPr>
      </p:sp>
      <p:sp>
        <p:nvSpPr>
          <p:cNvPr id="22" name="Shape 20"/>
          <p:cNvSpPr/>
          <p:nvPr/>
        </p:nvSpPr>
        <p:spPr>
          <a:xfrm>
            <a:off x="7004304" y="2560320"/>
            <a:ext cx="1143000" cy="685800"/>
          </a:xfrm>
          <a:prstGeom prst="roundRect">
            <a:avLst>
              <a:gd name="adj" fmla="val 4000"/>
            </a:avLst>
          </a:prstGeom>
          <a:solidFill>
            <a:srgbClr val="F6FAFD"/>
          </a:solidFill>
          <a:ln w="6350">
            <a:solidFill>
              <a:srgbClr val="D6E5F2"/>
            </a:solidFill>
            <a:prstDash val="solid"/>
          </a:ln>
        </p:spPr>
      </p:sp>
      <p:sp>
        <p:nvSpPr>
          <p:cNvPr id="23" name="Shape 21"/>
          <p:cNvSpPr/>
          <p:nvPr/>
        </p:nvSpPr>
        <p:spPr>
          <a:xfrm>
            <a:off x="5769864" y="3383280"/>
            <a:ext cx="2359152" cy="50292"/>
          </a:xfrm>
          <a:prstGeom prst="roundRect">
            <a:avLst>
              <a:gd name="adj" fmla="val 36364"/>
            </a:avLst>
          </a:prstGeom>
          <a:solidFill>
            <a:srgbClr val="D6E5F2"/>
          </a:solidFill>
          <a:ln/>
        </p:spPr>
      </p:sp>
      <p:sp>
        <p:nvSpPr>
          <p:cNvPr id="24" name="Shape 22"/>
          <p:cNvSpPr/>
          <p:nvPr/>
        </p:nvSpPr>
        <p:spPr>
          <a:xfrm>
            <a:off x="5769864" y="3502152"/>
            <a:ext cx="1533449" cy="40234"/>
          </a:xfrm>
          <a:prstGeom prst="roundRect">
            <a:avLst>
              <a:gd name="adj" fmla="val 45454"/>
            </a:avLst>
          </a:prstGeom>
          <a:solidFill>
            <a:srgbClr val="D6E5F2"/>
          </a:solidFill>
          <a:ln/>
        </p:spPr>
      </p:sp>
      <p:sp>
        <p:nvSpPr>
          <p:cNvPr id="25" name="Text 23"/>
          <p:cNvSpPr/>
          <p:nvPr/>
        </p:nvSpPr>
        <p:spPr>
          <a:xfrm>
            <a:off x="5623560" y="5349240"/>
            <a:ext cx="2651760" cy="274320"/>
          </a:xfrm>
          <a:prstGeom prst="rect">
            <a:avLst/>
          </a:prstGeom>
          <a:noFill/>
          <a:ln/>
        </p:spPr>
        <p:txBody>
          <a:bodyPr wrap="square" lIns="0" tIns="0" rIns="0" bIns="0" rtlCol="0" anchor="ctr"/>
          <a:lstStyle/>
          <a:p>
            <a:pPr algn="ctr" indent="0" marL="0">
              <a:buNone/>
            </a:pPr>
            <a:r>
              <a:rPr lang="en-US" sz="1300" b="1" dirty="0">
                <a:solidFill>
                  <a:srgbClr val="17263D"/>
                </a:solidFill>
                <a:latin typeface="Cambria" pitchFamily="34" charset="0"/>
                <a:ea typeface="Cambria" pitchFamily="34" charset="-122"/>
                <a:cs typeface="Cambria" pitchFamily="34" charset="-120"/>
              </a:rPr>
              <a:t>Tablet</a:t>
            </a:r>
            <a:endParaRPr lang="en-US" sz="1300" dirty="0"/>
          </a:p>
        </p:txBody>
      </p:sp>
      <p:sp>
        <p:nvSpPr>
          <p:cNvPr id="26" name="Shape 24"/>
          <p:cNvSpPr/>
          <p:nvPr/>
        </p:nvSpPr>
        <p:spPr>
          <a:xfrm>
            <a:off x="8686800" y="1828800"/>
            <a:ext cx="1554480" cy="3520440"/>
          </a:xfrm>
          <a:prstGeom prst="roundRect">
            <a:avLst>
              <a:gd name="adj" fmla="val 10588"/>
            </a:avLst>
          </a:prstGeom>
          <a:solidFill>
            <a:srgbClr val="0A3B63"/>
          </a:solidFill>
          <a:ln/>
        </p:spPr>
      </p:sp>
      <p:sp>
        <p:nvSpPr>
          <p:cNvPr id="27" name="Shape 25"/>
          <p:cNvSpPr/>
          <p:nvPr/>
        </p:nvSpPr>
        <p:spPr>
          <a:xfrm>
            <a:off x="8769096" y="1911096"/>
            <a:ext cx="1389888" cy="3355848"/>
          </a:xfrm>
          <a:prstGeom prst="rect">
            <a:avLst/>
          </a:prstGeom>
          <a:solidFill>
            <a:srgbClr val="FFFFFF"/>
          </a:solidFill>
          <a:ln/>
        </p:spPr>
      </p:sp>
      <p:sp>
        <p:nvSpPr>
          <p:cNvPr id="28" name="Shape 26"/>
          <p:cNvSpPr/>
          <p:nvPr/>
        </p:nvSpPr>
        <p:spPr>
          <a:xfrm>
            <a:off x="8769096" y="1911096"/>
            <a:ext cx="1389888" cy="292608"/>
          </a:xfrm>
          <a:prstGeom prst="rect">
            <a:avLst/>
          </a:prstGeom>
          <a:solidFill>
            <a:srgbClr val="0B5FA4"/>
          </a:solidFill>
          <a:ln/>
        </p:spPr>
      </p:sp>
      <p:sp>
        <p:nvSpPr>
          <p:cNvPr id="29" name="Shape 27"/>
          <p:cNvSpPr/>
          <p:nvPr/>
        </p:nvSpPr>
        <p:spPr>
          <a:xfrm>
            <a:off x="8814816" y="2295144"/>
            <a:ext cx="1298448" cy="566928"/>
          </a:xfrm>
          <a:prstGeom prst="roundRect">
            <a:avLst>
              <a:gd name="adj" fmla="val 4839"/>
            </a:avLst>
          </a:prstGeom>
          <a:solidFill>
            <a:srgbClr val="F6FAFD"/>
          </a:solidFill>
          <a:ln w="6350">
            <a:solidFill>
              <a:srgbClr val="D6E5F2"/>
            </a:solidFill>
            <a:prstDash val="solid"/>
          </a:ln>
        </p:spPr>
      </p:sp>
      <p:sp>
        <p:nvSpPr>
          <p:cNvPr id="30" name="Shape 28"/>
          <p:cNvSpPr/>
          <p:nvPr/>
        </p:nvSpPr>
        <p:spPr>
          <a:xfrm>
            <a:off x="8814816" y="2916936"/>
            <a:ext cx="1298448" cy="566928"/>
          </a:xfrm>
          <a:prstGeom prst="roundRect">
            <a:avLst>
              <a:gd name="adj" fmla="val 4839"/>
            </a:avLst>
          </a:prstGeom>
          <a:solidFill>
            <a:srgbClr val="F6FAFD"/>
          </a:solidFill>
          <a:ln w="6350">
            <a:solidFill>
              <a:srgbClr val="D6E5F2"/>
            </a:solidFill>
            <a:prstDash val="solid"/>
          </a:ln>
        </p:spPr>
      </p:sp>
      <p:sp>
        <p:nvSpPr>
          <p:cNvPr id="31" name="Shape 29"/>
          <p:cNvSpPr/>
          <p:nvPr/>
        </p:nvSpPr>
        <p:spPr>
          <a:xfrm>
            <a:off x="8814816" y="3602736"/>
            <a:ext cx="1298448" cy="45720"/>
          </a:xfrm>
          <a:prstGeom prst="roundRect">
            <a:avLst>
              <a:gd name="adj" fmla="val 40000"/>
            </a:avLst>
          </a:prstGeom>
          <a:solidFill>
            <a:srgbClr val="D6E5F2"/>
          </a:solidFill>
          <a:ln/>
        </p:spPr>
      </p:sp>
      <p:sp>
        <p:nvSpPr>
          <p:cNvPr id="32" name="Shape 30"/>
          <p:cNvSpPr/>
          <p:nvPr/>
        </p:nvSpPr>
        <p:spPr>
          <a:xfrm>
            <a:off x="8814816" y="3703320"/>
            <a:ext cx="843991" cy="36576"/>
          </a:xfrm>
          <a:prstGeom prst="roundRect">
            <a:avLst>
              <a:gd name="adj" fmla="val 50000"/>
            </a:avLst>
          </a:prstGeom>
          <a:solidFill>
            <a:srgbClr val="D6E5F2"/>
          </a:solidFill>
          <a:ln/>
        </p:spPr>
      </p:sp>
      <p:sp>
        <p:nvSpPr>
          <p:cNvPr id="33" name="Text 31"/>
          <p:cNvSpPr/>
          <p:nvPr/>
        </p:nvSpPr>
        <p:spPr>
          <a:xfrm>
            <a:off x="8686800" y="5577840"/>
            <a:ext cx="1554480" cy="274320"/>
          </a:xfrm>
          <a:prstGeom prst="rect">
            <a:avLst/>
          </a:prstGeom>
          <a:noFill/>
          <a:ln/>
        </p:spPr>
        <p:txBody>
          <a:bodyPr wrap="square" lIns="0" tIns="0" rIns="0" bIns="0" rtlCol="0" anchor="ctr"/>
          <a:lstStyle/>
          <a:p>
            <a:pPr algn="ctr" indent="0" marL="0">
              <a:buNone/>
            </a:pPr>
            <a:r>
              <a:rPr lang="en-US" sz="1300" b="1" dirty="0">
                <a:solidFill>
                  <a:srgbClr val="17263D"/>
                </a:solidFill>
                <a:latin typeface="Cambria" pitchFamily="34" charset="0"/>
                <a:ea typeface="Cambria" pitchFamily="34" charset="-122"/>
                <a:cs typeface="Cambria" pitchFamily="34" charset="-120"/>
              </a:rPr>
              <a:t>Mobile</a:t>
            </a:r>
            <a:endParaRPr lang="en-US" sz="1300" dirty="0"/>
          </a:p>
        </p:txBody>
      </p:sp>
      <p:sp>
        <p:nvSpPr>
          <p:cNvPr id="34" name="Shape 32"/>
          <p:cNvSpPr/>
          <p:nvPr/>
        </p:nvSpPr>
        <p:spPr>
          <a:xfrm>
            <a:off x="10561320" y="1965960"/>
            <a:ext cx="1097280" cy="3886200"/>
          </a:xfrm>
          <a:prstGeom prst="roundRect">
            <a:avLst>
              <a:gd name="adj" fmla="val 8333"/>
            </a:avLst>
          </a:prstGeom>
          <a:solidFill>
            <a:srgbClr val="EAF3FB"/>
          </a:solidFill>
          <a:ln/>
        </p:spPr>
      </p:sp>
      <p:sp>
        <p:nvSpPr>
          <p:cNvPr id="35" name="Text 33"/>
          <p:cNvSpPr/>
          <p:nvPr/>
        </p:nvSpPr>
        <p:spPr>
          <a:xfrm>
            <a:off x="10652760" y="2148840"/>
            <a:ext cx="914400" cy="3474720"/>
          </a:xfrm>
          <a:prstGeom prst="rect">
            <a:avLst/>
          </a:prstGeom>
          <a:noFill/>
          <a:ln/>
        </p:spPr>
        <p:txBody>
          <a:bodyPr wrap="square" lIns="0" tIns="0" rIns="0" bIns="0" rtlCol="0" anchor="ctr"/>
          <a:lstStyle/>
          <a:p>
            <a:pPr indent="0" marL="0">
              <a:lnSpc>
                <a:spcPct val="115000"/>
              </a:lnSpc>
              <a:buNone/>
            </a:pPr>
            <a:r>
              <a:rPr lang="en-US" sz="900" dirty="0">
                <a:solidFill>
                  <a:srgbClr val="17263D"/>
                </a:solidFill>
                <a:latin typeface="Calibri" pitchFamily="34" charset="0"/>
                <a:ea typeface="Calibri" pitchFamily="34" charset="-122"/>
                <a:cs typeface="Calibri" pitchFamily="34" charset="-120"/>
              </a:rPr>
              <a:t>Multi-column</a:t>
            </a:r>
            <a:endParaRPr lang="en-US" sz="900" dirty="0"/>
          </a:p>
          <a:p>
            <a:pPr indent="0" marL="0">
              <a:lnSpc>
                <a:spcPct val="115000"/>
              </a:lnSpc>
              <a:buNone/>
            </a:pPr>
            <a:r>
              <a:rPr lang="en-US" sz="900" dirty="0">
                <a:solidFill>
                  <a:srgbClr val="17263D"/>
                </a:solidFill>
                <a:latin typeface="Calibri" pitchFamily="34" charset="0"/>
                <a:ea typeface="Calibri" pitchFamily="34" charset="-122"/>
                <a:cs typeface="Calibri" pitchFamily="34" charset="-120"/>
              </a:rPr>
              <a:t>grids collapse</a:t>
            </a:r>
            <a:endParaRPr lang="en-US" sz="900" dirty="0"/>
          </a:p>
          <a:p>
            <a:pPr indent="0" marL="0">
              <a:lnSpc>
                <a:spcPct val="115000"/>
              </a:lnSpc>
              <a:buNone/>
            </a:pPr>
            <a:r>
              <a:rPr lang="en-US" sz="900" dirty="0">
                <a:solidFill>
                  <a:srgbClr val="17263D"/>
                </a:solidFill>
                <a:latin typeface="Calibri" pitchFamily="34" charset="0"/>
                <a:ea typeface="Calibri" pitchFamily="34" charset="-122"/>
                <a:cs typeface="Calibri" pitchFamily="34" charset="-120"/>
              </a:rPr>
              <a:t>to a single</a:t>
            </a:r>
            <a:endParaRPr lang="en-US" sz="900" dirty="0"/>
          </a:p>
          <a:p>
            <a:pPr indent="0" marL="0">
              <a:lnSpc>
                <a:spcPct val="115000"/>
              </a:lnSpc>
              <a:buNone/>
            </a:pPr>
            <a:r>
              <a:rPr lang="en-US" sz="900" dirty="0">
                <a:solidFill>
                  <a:srgbClr val="17263D"/>
                </a:solidFill>
                <a:latin typeface="Calibri" pitchFamily="34" charset="0"/>
                <a:ea typeface="Calibri" pitchFamily="34" charset="-122"/>
                <a:cs typeface="Calibri" pitchFamily="34" charset="-120"/>
              </a:rPr>
              <a:t>stacked</a:t>
            </a:r>
            <a:endParaRPr lang="en-US" sz="900" dirty="0"/>
          </a:p>
          <a:p>
            <a:pPr indent="0" marL="0">
              <a:lnSpc>
                <a:spcPct val="115000"/>
              </a:lnSpc>
              <a:buNone/>
            </a:pPr>
            <a:r>
              <a:rPr lang="en-US" sz="900" dirty="0">
                <a:solidFill>
                  <a:srgbClr val="17263D"/>
                </a:solidFill>
                <a:latin typeface="Calibri" pitchFamily="34" charset="0"/>
                <a:ea typeface="Calibri" pitchFamily="34" charset="-122"/>
                <a:cs typeface="Calibri" pitchFamily="34" charset="-120"/>
              </a:rPr>
              <a:t>column as</a:t>
            </a:r>
            <a:endParaRPr lang="en-US" sz="900" dirty="0"/>
          </a:p>
          <a:p>
            <a:pPr indent="0" marL="0">
              <a:lnSpc>
                <a:spcPct val="115000"/>
              </a:lnSpc>
              <a:buNone/>
            </a:pPr>
            <a:r>
              <a:rPr lang="en-US" sz="900" dirty="0">
                <a:solidFill>
                  <a:srgbClr val="17263D"/>
                </a:solidFill>
                <a:latin typeface="Calibri" pitchFamily="34" charset="0"/>
                <a:ea typeface="Calibri" pitchFamily="34" charset="-122"/>
                <a:cs typeface="Calibri" pitchFamily="34" charset="-120"/>
              </a:rPr>
              <a:t>width</a:t>
            </a:r>
            <a:endParaRPr lang="en-US" sz="900" dirty="0"/>
          </a:p>
          <a:p>
            <a:pPr indent="0" marL="0">
              <a:lnSpc>
                <a:spcPct val="115000"/>
              </a:lnSpc>
              <a:buNone/>
            </a:pPr>
            <a:r>
              <a:rPr lang="en-US" sz="900" dirty="0">
                <a:solidFill>
                  <a:srgbClr val="17263D"/>
                </a:solidFill>
                <a:latin typeface="Calibri" pitchFamily="34" charset="0"/>
                <a:ea typeface="Calibri" pitchFamily="34" charset="-122"/>
                <a:cs typeface="Calibri" pitchFamily="34" charset="-120"/>
              </a:rPr>
              <a:t>shrinks.</a:t>
            </a:r>
            <a:endParaRPr lang="en-US" sz="900" dirty="0"/>
          </a:p>
        </p:txBody>
      </p:sp>
      <p:sp>
        <p:nvSpPr>
          <p:cNvPr id="36" name="Text 34"/>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37" name="Text 35"/>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Responsive Design</a:t>
            </a:r>
            <a:endParaRPr lang="en-US" sz="900" dirty="0"/>
          </a:p>
        </p:txBody>
      </p:sp>
      <p:sp>
        <p:nvSpPr>
          <p:cNvPr id="38" name="Text 36"/>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19 / 23</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DESIGN ANALYSIS</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User Journey</a:t>
            </a:r>
            <a:endParaRPr lang="en-US" sz="3000" dirty="0"/>
          </a:p>
        </p:txBody>
      </p:sp>
      <p:sp>
        <p:nvSpPr>
          <p:cNvPr id="4" name="Text 2"/>
          <p:cNvSpPr/>
          <p:nvPr/>
        </p:nvSpPr>
        <p:spPr>
          <a:xfrm>
            <a:off x="548640" y="1371600"/>
            <a:ext cx="9144000" cy="365760"/>
          </a:xfrm>
          <a:prstGeom prst="rect">
            <a:avLst/>
          </a:prstGeom>
          <a:noFill/>
          <a:ln/>
        </p:spPr>
        <p:txBody>
          <a:bodyPr wrap="square" lIns="0" tIns="0" rIns="0" bIns="0" rtlCol="0" anchor="ctr"/>
          <a:lstStyle/>
          <a:p>
            <a:pPr indent="0" marL="0">
              <a:buNone/>
            </a:pPr>
            <a:r>
              <a:rPr lang="en-US" sz="1300" dirty="0">
                <a:solidFill>
                  <a:srgbClr val="55677E"/>
                </a:solidFill>
                <a:latin typeface="Calibri" pitchFamily="34" charset="0"/>
                <a:ea typeface="Calibri" pitchFamily="34" charset="-122"/>
                <a:cs typeface="Calibri" pitchFamily="34" charset="-120"/>
              </a:rPr>
              <a:t>From first visit to a confirmed appointment, in six steps</a:t>
            </a:r>
            <a:endParaRPr lang="en-US" sz="1300" dirty="0"/>
          </a:p>
        </p:txBody>
      </p:sp>
      <p:sp>
        <p:nvSpPr>
          <p:cNvPr id="5" name="Shape 3"/>
          <p:cNvSpPr/>
          <p:nvPr/>
        </p:nvSpPr>
        <p:spPr>
          <a:xfrm>
            <a:off x="1472946" y="3017520"/>
            <a:ext cx="9243060" cy="0"/>
          </a:xfrm>
          <a:prstGeom prst="line">
            <a:avLst/>
          </a:prstGeom>
          <a:noFill/>
          <a:ln w="31750">
            <a:solidFill>
              <a:srgbClr val="D6E5F2"/>
            </a:solidFill>
            <a:prstDash val="solid"/>
          </a:ln>
        </p:spPr>
      </p:sp>
      <p:sp>
        <p:nvSpPr>
          <p:cNvPr id="6" name="Shape 4"/>
          <p:cNvSpPr/>
          <p:nvPr/>
        </p:nvSpPr>
        <p:spPr>
          <a:xfrm>
            <a:off x="1061466" y="2606040"/>
            <a:ext cx="822960" cy="822960"/>
          </a:xfrm>
          <a:prstGeom prst="ellipse">
            <a:avLst/>
          </a:prstGeom>
          <a:solidFill>
            <a:srgbClr val="0B5FA4"/>
          </a:solidFill>
          <a:ln/>
        </p:spPr>
      </p:sp>
      <p:pic>
        <p:nvPicPr>
          <p:cNvPr id="7" name="Image 0" descr="/home/claude/medsev-ppt/icons/user_FFFFFF.png">    </p:cNvPr>
          <p:cNvPicPr>
            <a:picLocks noChangeAspect="1"/>
          </p:cNvPicPr>
          <p:nvPr/>
        </p:nvPicPr>
        <p:blipFill>
          <a:blip r:embed="rId1"/>
          <a:stretch>
            <a:fillRect/>
          </a:stretch>
        </p:blipFill>
        <p:spPr>
          <a:xfrm>
            <a:off x="1267206" y="2811780"/>
            <a:ext cx="411480" cy="411480"/>
          </a:xfrm>
          <a:prstGeom prst="rect">
            <a:avLst/>
          </a:prstGeom>
        </p:spPr>
      </p:pic>
      <p:sp>
        <p:nvSpPr>
          <p:cNvPr id="8" name="Text 5"/>
          <p:cNvSpPr/>
          <p:nvPr/>
        </p:nvSpPr>
        <p:spPr>
          <a:xfrm>
            <a:off x="1061466" y="2148840"/>
            <a:ext cx="822960" cy="256032"/>
          </a:xfrm>
          <a:prstGeom prst="rect">
            <a:avLst/>
          </a:prstGeom>
          <a:noFill/>
          <a:ln/>
        </p:spPr>
        <p:txBody>
          <a:bodyPr wrap="square" lIns="0" tIns="0" rIns="0" bIns="0" rtlCol="0" anchor="ctr"/>
          <a:lstStyle/>
          <a:p>
            <a:pPr algn="ctr" indent="0" marL="0">
              <a:buNone/>
            </a:pPr>
            <a:r>
              <a:rPr lang="en-US" sz="1200" b="1" dirty="0">
                <a:solidFill>
                  <a:srgbClr val="55677E"/>
                </a:solidFill>
                <a:latin typeface="Cambria" pitchFamily="34" charset="0"/>
                <a:ea typeface="Cambria" pitchFamily="34" charset="-122"/>
                <a:cs typeface="Cambria" pitchFamily="34" charset="-120"/>
              </a:rPr>
              <a:t>01</a:t>
            </a:r>
            <a:endParaRPr lang="en-US" sz="1200" dirty="0"/>
          </a:p>
        </p:txBody>
      </p:sp>
      <p:sp>
        <p:nvSpPr>
          <p:cNvPr id="9" name="Text 6"/>
          <p:cNvSpPr/>
          <p:nvPr/>
        </p:nvSpPr>
        <p:spPr>
          <a:xfrm>
            <a:off x="621792" y="3566160"/>
            <a:ext cx="1702308" cy="320040"/>
          </a:xfrm>
          <a:prstGeom prst="rect">
            <a:avLst/>
          </a:prstGeom>
          <a:noFill/>
          <a:ln/>
        </p:spPr>
        <p:txBody>
          <a:bodyPr wrap="square" lIns="0" tIns="0" rIns="0" bIns="0" rtlCol="0" anchor="ctr"/>
          <a:lstStyle/>
          <a:p>
            <a:pPr algn="ctr" indent="0" marL="0">
              <a:buNone/>
            </a:pPr>
            <a:r>
              <a:rPr lang="en-US" sz="1250" b="1" dirty="0">
                <a:solidFill>
                  <a:srgbClr val="17263D"/>
                </a:solidFill>
                <a:latin typeface="Cambria" pitchFamily="34" charset="0"/>
                <a:ea typeface="Cambria" pitchFamily="34" charset="-122"/>
                <a:cs typeface="Cambria" pitchFamily="34" charset="-120"/>
              </a:rPr>
              <a:t>Visitor</a:t>
            </a:r>
            <a:endParaRPr lang="en-US" sz="1250" dirty="0"/>
          </a:p>
        </p:txBody>
      </p:sp>
      <p:sp>
        <p:nvSpPr>
          <p:cNvPr id="10" name="Text 7"/>
          <p:cNvSpPr/>
          <p:nvPr/>
        </p:nvSpPr>
        <p:spPr>
          <a:xfrm>
            <a:off x="640080" y="3913632"/>
            <a:ext cx="1665732" cy="502920"/>
          </a:xfrm>
          <a:prstGeom prst="rect">
            <a:avLst/>
          </a:prstGeom>
          <a:noFill/>
          <a:ln/>
        </p:spPr>
        <p:txBody>
          <a:bodyPr wrap="square" lIns="0" tIns="0" rIns="0" bIns="0" rtlCol="0" anchor="ctr"/>
          <a:lstStyle/>
          <a:p>
            <a:pPr algn="ctr" indent="0" marL="0">
              <a:lnSpc>
                <a:spcPct val="110000"/>
              </a:lnSpc>
              <a:buNone/>
            </a:pPr>
            <a:r>
              <a:rPr lang="en-US" sz="930" dirty="0">
                <a:solidFill>
                  <a:srgbClr val="55677E"/>
                </a:solidFill>
                <a:latin typeface="Calibri" pitchFamily="34" charset="0"/>
                <a:ea typeface="Calibri" pitchFamily="34" charset="-122"/>
                <a:cs typeface="Calibri" pitchFamily="34" charset="-120"/>
              </a:rPr>
              <a:t>Lands on the homepage</a:t>
            </a:r>
            <a:endParaRPr lang="en-US" sz="930" dirty="0"/>
          </a:p>
        </p:txBody>
      </p:sp>
      <p:sp>
        <p:nvSpPr>
          <p:cNvPr id="11" name="Shape 8"/>
          <p:cNvSpPr/>
          <p:nvPr/>
        </p:nvSpPr>
        <p:spPr>
          <a:xfrm>
            <a:off x="2910078" y="2606040"/>
            <a:ext cx="822960" cy="822960"/>
          </a:xfrm>
          <a:prstGeom prst="ellipse">
            <a:avLst/>
          </a:prstGeom>
          <a:solidFill>
            <a:srgbClr val="0B5FA4"/>
          </a:solidFill>
          <a:ln/>
        </p:spPr>
      </p:sp>
      <p:pic>
        <p:nvPicPr>
          <p:cNvPr id="12" name="Image 1" descr="/home/claude/medsev-ppt/icons/search_FFFFFF.png">    </p:cNvPr>
          <p:cNvPicPr>
            <a:picLocks noChangeAspect="1"/>
          </p:cNvPicPr>
          <p:nvPr/>
        </p:nvPicPr>
        <p:blipFill>
          <a:blip r:embed="rId2"/>
          <a:stretch>
            <a:fillRect/>
          </a:stretch>
        </p:blipFill>
        <p:spPr>
          <a:xfrm>
            <a:off x="3115818" y="2811780"/>
            <a:ext cx="411480" cy="411480"/>
          </a:xfrm>
          <a:prstGeom prst="rect">
            <a:avLst/>
          </a:prstGeom>
        </p:spPr>
      </p:pic>
      <p:sp>
        <p:nvSpPr>
          <p:cNvPr id="13" name="Text 9"/>
          <p:cNvSpPr/>
          <p:nvPr/>
        </p:nvSpPr>
        <p:spPr>
          <a:xfrm>
            <a:off x="2910078" y="2148840"/>
            <a:ext cx="822960" cy="256032"/>
          </a:xfrm>
          <a:prstGeom prst="rect">
            <a:avLst/>
          </a:prstGeom>
          <a:noFill/>
          <a:ln/>
        </p:spPr>
        <p:txBody>
          <a:bodyPr wrap="square" lIns="0" tIns="0" rIns="0" bIns="0" rtlCol="0" anchor="ctr"/>
          <a:lstStyle/>
          <a:p>
            <a:pPr algn="ctr" indent="0" marL="0">
              <a:buNone/>
            </a:pPr>
            <a:r>
              <a:rPr lang="en-US" sz="1200" b="1" dirty="0">
                <a:solidFill>
                  <a:srgbClr val="55677E"/>
                </a:solidFill>
                <a:latin typeface="Cambria" pitchFamily="34" charset="0"/>
                <a:ea typeface="Cambria" pitchFamily="34" charset="-122"/>
                <a:cs typeface="Cambria" pitchFamily="34" charset="-120"/>
              </a:rPr>
              <a:t>02</a:t>
            </a:r>
            <a:endParaRPr lang="en-US" sz="1200" dirty="0"/>
          </a:p>
        </p:txBody>
      </p:sp>
      <p:sp>
        <p:nvSpPr>
          <p:cNvPr id="14" name="Text 10"/>
          <p:cNvSpPr/>
          <p:nvPr/>
        </p:nvSpPr>
        <p:spPr>
          <a:xfrm>
            <a:off x="2470404" y="3566160"/>
            <a:ext cx="1702308" cy="320040"/>
          </a:xfrm>
          <a:prstGeom prst="rect">
            <a:avLst/>
          </a:prstGeom>
          <a:noFill/>
          <a:ln/>
        </p:spPr>
        <p:txBody>
          <a:bodyPr wrap="square" lIns="0" tIns="0" rIns="0" bIns="0" rtlCol="0" anchor="ctr"/>
          <a:lstStyle/>
          <a:p>
            <a:pPr algn="ctr" indent="0" marL="0">
              <a:buNone/>
            </a:pPr>
            <a:r>
              <a:rPr lang="en-US" sz="1250" b="1" dirty="0">
                <a:solidFill>
                  <a:srgbClr val="17263D"/>
                </a:solidFill>
                <a:latin typeface="Cambria" pitchFamily="34" charset="0"/>
                <a:ea typeface="Cambria" pitchFamily="34" charset="-122"/>
                <a:cs typeface="Cambria" pitchFamily="34" charset="-120"/>
              </a:rPr>
              <a:t>Browse Services</a:t>
            </a:r>
            <a:endParaRPr lang="en-US" sz="1250" dirty="0"/>
          </a:p>
        </p:txBody>
      </p:sp>
      <p:sp>
        <p:nvSpPr>
          <p:cNvPr id="15" name="Text 11"/>
          <p:cNvSpPr/>
          <p:nvPr/>
        </p:nvSpPr>
        <p:spPr>
          <a:xfrm>
            <a:off x="2488692" y="3913632"/>
            <a:ext cx="1665732" cy="502920"/>
          </a:xfrm>
          <a:prstGeom prst="rect">
            <a:avLst/>
          </a:prstGeom>
          <a:noFill/>
          <a:ln/>
        </p:spPr>
        <p:txBody>
          <a:bodyPr wrap="square" lIns="0" tIns="0" rIns="0" bIns="0" rtlCol="0" anchor="ctr"/>
          <a:lstStyle/>
          <a:p>
            <a:pPr algn="ctr" indent="0" marL="0">
              <a:lnSpc>
                <a:spcPct val="110000"/>
              </a:lnSpc>
              <a:buNone/>
            </a:pPr>
            <a:r>
              <a:rPr lang="en-US" sz="930" dirty="0">
                <a:solidFill>
                  <a:srgbClr val="55677E"/>
                </a:solidFill>
                <a:latin typeface="Calibri" pitchFamily="34" charset="0"/>
                <a:ea typeface="Calibri" pitchFamily="34" charset="-122"/>
                <a:cs typeface="Calibri" pitchFamily="34" charset="-120"/>
              </a:rPr>
              <a:t>Explores medical categories</a:t>
            </a:r>
            <a:endParaRPr lang="en-US" sz="930" dirty="0"/>
          </a:p>
        </p:txBody>
      </p:sp>
      <p:sp>
        <p:nvSpPr>
          <p:cNvPr id="16" name="Shape 12"/>
          <p:cNvSpPr/>
          <p:nvPr/>
        </p:nvSpPr>
        <p:spPr>
          <a:xfrm>
            <a:off x="4758690" y="2606040"/>
            <a:ext cx="822960" cy="822960"/>
          </a:xfrm>
          <a:prstGeom prst="ellipse">
            <a:avLst/>
          </a:prstGeom>
          <a:solidFill>
            <a:srgbClr val="0B5FA4"/>
          </a:solidFill>
          <a:ln/>
        </p:spPr>
      </p:sp>
      <p:pic>
        <p:nvPicPr>
          <p:cNvPr id="17" name="Image 2" descr="/home/claude/medsev-ppt/icons/doctor_FFFFFF.png">    </p:cNvPr>
          <p:cNvPicPr>
            <a:picLocks noChangeAspect="1"/>
          </p:cNvPicPr>
          <p:nvPr/>
        </p:nvPicPr>
        <p:blipFill>
          <a:blip r:embed="rId3"/>
          <a:stretch>
            <a:fillRect/>
          </a:stretch>
        </p:blipFill>
        <p:spPr>
          <a:xfrm>
            <a:off x="4964430" y="2811780"/>
            <a:ext cx="411480" cy="411480"/>
          </a:xfrm>
          <a:prstGeom prst="rect">
            <a:avLst/>
          </a:prstGeom>
        </p:spPr>
      </p:pic>
      <p:sp>
        <p:nvSpPr>
          <p:cNvPr id="18" name="Text 13"/>
          <p:cNvSpPr/>
          <p:nvPr/>
        </p:nvSpPr>
        <p:spPr>
          <a:xfrm>
            <a:off x="4758690" y="2148840"/>
            <a:ext cx="822960" cy="256032"/>
          </a:xfrm>
          <a:prstGeom prst="rect">
            <a:avLst/>
          </a:prstGeom>
          <a:noFill/>
          <a:ln/>
        </p:spPr>
        <p:txBody>
          <a:bodyPr wrap="square" lIns="0" tIns="0" rIns="0" bIns="0" rtlCol="0" anchor="ctr"/>
          <a:lstStyle/>
          <a:p>
            <a:pPr algn="ctr" indent="0" marL="0">
              <a:buNone/>
            </a:pPr>
            <a:r>
              <a:rPr lang="en-US" sz="1200" b="1" dirty="0">
                <a:solidFill>
                  <a:srgbClr val="55677E"/>
                </a:solidFill>
                <a:latin typeface="Cambria" pitchFamily="34" charset="0"/>
                <a:ea typeface="Cambria" pitchFamily="34" charset="-122"/>
                <a:cs typeface="Cambria" pitchFamily="34" charset="-120"/>
              </a:rPr>
              <a:t>03</a:t>
            </a:r>
            <a:endParaRPr lang="en-US" sz="1200" dirty="0"/>
          </a:p>
        </p:txBody>
      </p:sp>
      <p:sp>
        <p:nvSpPr>
          <p:cNvPr id="19" name="Text 14"/>
          <p:cNvSpPr/>
          <p:nvPr/>
        </p:nvSpPr>
        <p:spPr>
          <a:xfrm>
            <a:off x="4319016" y="3566160"/>
            <a:ext cx="1702308" cy="320040"/>
          </a:xfrm>
          <a:prstGeom prst="rect">
            <a:avLst/>
          </a:prstGeom>
          <a:noFill/>
          <a:ln/>
        </p:spPr>
        <p:txBody>
          <a:bodyPr wrap="square" lIns="0" tIns="0" rIns="0" bIns="0" rtlCol="0" anchor="ctr"/>
          <a:lstStyle/>
          <a:p>
            <a:pPr algn="ctr" indent="0" marL="0">
              <a:buNone/>
            </a:pPr>
            <a:r>
              <a:rPr lang="en-US" sz="1250" b="1" dirty="0">
                <a:solidFill>
                  <a:srgbClr val="17263D"/>
                </a:solidFill>
                <a:latin typeface="Cambria" pitchFamily="34" charset="0"/>
                <a:ea typeface="Cambria" pitchFamily="34" charset="-122"/>
                <a:cs typeface="Cambria" pitchFamily="34" charset="-120"/>
              </a:rPr>
              <a:t>Select Doctor</a:t>
            </a:r>
            <a:endParaRPr lang="en-US" sz="1250" dirty="0"/>
          </a:p>
        </p:txBody>
      </p:sp>
      <p:sp>
        <p:nvSpPr>
          <p:cNvPr id="20" name="Text 15"/>
          <p:cNvSpPr/>
          <p:nvPr/>
        </p:nvSpPr>
        <p:spPr>
          <a:xfrm>
            <a:off x="4337304" y="3913632"/>
            <a:ext cx="1665732" cy="502920"/>
          </a:xfrm>
          <a:prstGeom prst="rect">
            <a:avLst/>
          </a:prstGeom>
          <a:noFill/>
          <a:ln/>
        </p:spPr>
        <p:txBody>
          <a:bodyPr wrap="square" lIns="0" tIns="0" rIns="0" bIns="0" rtlCol="0" anchor="ctr"/>
          <a:lstStyle/>
          <a:p>
            <a:pPr algn="ctr" indent="0" marL="0">
              <a:lnSpc>
                <a:spcPct val="110000"/>
              </a:lnSpc>
              <a:buNone/>
            </a:pPr>
            <a:r>
              <a:rPr lang="en-US" sz="930" dirty="0">
                <a:solidFill>
                  <a:srgbClr val="55677E"/>
                </a:solidFill>
                <a:latin typeface="Calibri" pitchFamily="34" charset="0"/>
                <a:ea typeface="Calibri" pitchFamily="34" charset="-122"/>
                <a:cs typeface="Calibri" pitchFamily="34" charset="-120"/>
              </a:rPr>
              <a:t>Reviews specialist profiles</a:t>
            </a:r>
            <a:endParaRPr lang="en-US" sz="930" dirty="0"/>
          </a:p>
        </p:txBody>
      </p:sp>
      <p:sp>
        <p:nvSpPr>
          <p:cNvPr id="21" name="Shape 16"/>
          <p:cNvSpPr/>
          <p:nvPr/>
        </p:nvSpPr>
        <p:spPr>
          <a:xfrm>
            <a:off x="6607302" y="2606040"/>
            <a:ext cx="822960" cy="822960"/>
          </a:xfrm>
          <a:prstGeom prst="ellipse">
            <a:avLst/>
          </a:prstGeom>
          <a:solidFill>
            <a:srgbClr val="0B5FA4"/>
          </a:solidFill>
          <a:ln/>
        </p:spPr>
      </p:sp>
      <p:pic>
        <p:nvPicPr>
          <p:cNvPr id="22" name="Image 3" descr="/home/claude/medsev-ppt/icons/calendar_FFFFFF.png">    </p:cNvPr>
          <p:cNvPicPr>
            <a:picLocks noChangeAspect="1"/>
          </p:cNvPicPr>
          <p:nvPr/>
        </p:nvPicPr>
        <p:blipFill>
          <a:blip r:embed="rId4"/>
          <a:stretch>
            <a:fillRect/>
          </a:stretch>
        </p:blipFill>
        <p:spPr>
          <a:xfrm>
            <a:off x="6813042" y="2811780"/>
            <a:ext cx="411480" cy="411480"/>
          </a:xfrm>
          <a:prstGeom prst="rect">
            <a:avLst/>
          </a:prstGeom>
        </p:spPr>
      </p:pic>
      <p:sp>
        <p:nvSpPr>
          <p:cNvPr id="23" name="Text 17"/>
          <p:cNvSpPr/>
          <p:nvPr/>
        </p:nvSpPr>
        <p:spPr>
          <a:xfrm>
            <a:off x="6607302" y="2148840"/>
            <a:ext cx="822960" cy="256032"/>
          </a:xfrm>
          <a:prstGeom prst="rect">
            <a:avLst/>
          </a:prstGeom>
          <a:noFill/>
          <a:ln/>
        </p:spPr>
        <p:txBody>
          <a:bodyPr wrap="square" lIns="0" tIns="0" rIns="0" bIns="0" rtlCol="0" anchor="ctr"/>
          <a:lstStyle/>
          <a:p>
            <a:pPr algn="ctr" indent="0" marL="0">
              <a:buNone/>
            </a:pPr>
            <a:r>
              <a:rPr lang="en-US" sz="1200" b="1" dirty="0">
                <a:solidFill>
                  <a:srgbClr val="55677E"/>
                </a:solidFill>
                <a:latin typeface="Cambria" pitchFamily="34" charset="0"/>
                <a:ea typeface="Cambria" pitchFamily="34" charset="-122"/>
                <a:cs typeface="Cambria" pitchFamily="34" charset="-120"/>
              </a:rPr>
              <a:t>04</a:t>
            </a:r>
            <a:endParaRPr lang="en-US" sz="1200" dirty="0"/>
          </a:p>
        </p:txBody>
      </p:sp>
      <p:sp>
        <p:nvSpPr>
          <p:cNvPr id="24" name="Text 18"/>
          <p:cNvSpPr/>
          <p:nvPr/>
        </p:nvSpPr>
        <p:spPr>
          <a:xfrm>
            <a:off x="6167628" y="3566160"/>
            <a:ext cx="1702308" cy="320040"/>
          </a:xfrm>
          <a:prstGeom prst="rect">
            <a:avLst/>
          </a:prstGeom>
          <a:noFill/>
          <a:ln/>
        </p:spPr>
        <p:txBody>
          <a:bodyPr wrap="square" lIns="0" tIns="0" rIns="0" bIns="0" rtlCol="0" anchor="ctr"/>
          <a:lstStyle/>
          <a:p>
            <a:pPr algn="ctr" indent="0" marL="0">
              <a:buNone/>
            </a:pPr>
            <a:r>
              <a:rPr lang="en-US" sz="1250" b="1" dirty="0">
                <a:solidFill>
                  <a:srgbClr val="17263D"/>
                </a:solidFill>
                <a:latin typeface="Cambria" pitchFamily="34" charset="0"/>
                <a:ea typeface="Cambria" pitchFamily="34" charset="-122"/>
                <a:cs typeface="Cambria" pitchFamily="34" charset="-120"/>
              </a:rPr>
              <a:t>Choose Appointment</a:t>
            </a:r>
            <a:endParaRPr lang="en-US" sz="1250" dirty="0"/>
          </a:p>
        </p:txBody>
      </p:sp>
      <p:sp>
        <p:nvSpPr>
          <p:cNvPr id="25" name="Text 19"/>
          <p:cNvSpPr/>
          <p:nvPr/>
        </p:nvSpPr>
        <p:spPr>
          <a:xfrm>
            <a:off x="6185916" y="3913632"/>
            <a:ext cx="1665732" cy="502920"/>
          </a:xfrm>
          <a:prstGeom prst="rect">
            <a:avLst/>
          </a:prstGeom>
          <a:noFill/>
          <a:ln/>
        </p:spPr>
        <p:txBody>
          <a:bodyPr wrap="square" lIns="0" tIns="0" rIns="0" bIns="0" rtlCol="0" anchor="ctr"/>
          <a:lstStyle/>
          <a:p>
            <a:pPr algn="ctr" indent="0" marL="0">
              <a:lnSpc>
                <a:spcPct val="110000"/>
              </a:lnSpc>
              <a:buNone/>
            </a:pPr>
            <a:r>
              <a:rPr lang="en-US" sz="930" dirty="0">
                <a:solidFill>
                  <a:srgbClr val="55677E"/>
                </a:solidFill>
                <a:latin typeface="Calibri" pitchFamily="34" charset="0"/>
                <a:ea typeface="Calibri" pitchFamily="34" charset="-122"/>
                <a:cs typeface="Calibri" pitchFamily="34" charset="-120"/>
              </a:rPr>
              <a:t>Picks a date &amp; service</a:t>
            </a:r>
            <a:endParaRPr lang="en-US" sz="930" dirty="0"/>
          </a:p>
        </p:txBody>
      </p:sp>
      <p:sp>
        <p:nvSpPr>
          <p:cNvPr id="26" name="Shape 20"/>
          <p:cNvSpPr/>
          <p:nvPr/>
        </p:nvSpPr>
        <p:spPr>
          <a:xfrm>
            <a:off x="8455914" y="2606040"/>
            <a:ext cx="822960" cy="822960"/>
          </a:xfrm>
          <a:prstGeom prst="ellipse">
            <a:avLst/>
          </a:prstGeom>
          <a:solidFill>
            <a:srgbClr val="0B5FA4"/>
          </a:solidFill>
          <a:ln/>
        </p:spPr>
      </p:sp>
      <p:pic>
        <p:nvPicPr>
          <p:cNvPr id="27" name="Image 4" descr="/home/claude/medsev-ppt/icons/clipboard_FFFFFF.png">    </p:cNvPr>
          <p:cNvPicPr>
            <a:picLocks noChangeAspect="1"/>
          </p:cNvPicPr>
          <p:nvPr/>
        </p:nvPicPr>
        <p:blipFill>
          <a:blip r:embed="rId5"/>
          <a:stretch>
            <a:fillRect/>
          </a:stretch>
        </p:blipFill>
        <p:spPr>
          <a:xfrm>
            <a:off x="8661654" y="2811780"/>
            <a:ext cx="411480" cy="411480"/>
          </a:xfrm>
          <a:prstGeom prst="rect">
            <a:avLst/>
          </a:prstGeom>
        </p:spPr>
      </p:pic>
      <p:sp>
        <p:nvSpPr>
          <p:cNvPr id="28" name="Text 21"/>
          <p:cNvSpPr/>
          <p:nvPr/>
        </p:nvSpPr>
        <p:spPr>
          <a:xfrm>
            <a:off x="8455914" y="2148840"/>
            <a:ext cx="822960" cy="256032"/>
          </a:xfrm>
          <a:prstGeom prst="rect">
            <a:avLst/>
          </a:prstGeom>
          <a:noFill/>
          <a:ln/>
        </p:spPr>
        <p:txBody>
          <a:bodyPr wrap="square" lIns="0" tIns="0" rIns="0" bIns="0" rtlCol="0" anchor="ctr"/>
          <a:lstStyle/>
          <a:p>
            <a:pPr algn="ctr" indent="0" marL="0">
              <a:buNone/>
            </a:pPr>
            <a:r>
              <a:rPr lang="en-US" sz="1200" b="1" dirty="0">
                <a:solidFill>
                  <a:srgbClr val="55677E"/>
                </a:solidFill>
                <a:latin typeface="Cambria" pitchFamily="34" charset="0"/>
                <a:ea typeface="Cambria" pitchFamily="34" charset="-122"/>
                <a:cs typeface="Cambria" pitchFamily="34" charset="-120"/>
              </a:rPr>
              <a:t>05</a:t>
            </a:r>
            <a:endParaRPr lang="en-US" sz="1200" dirty="0"/>
          </a:p>
        </p:txBody>
      </p:sp>
      <p:sp>
        <p:nvSpPr>
          <p:cNvPr id="29" name="Text 22"/>
          <p:cNvSpPr/>
          <p:nvPr/>
        </p:nvSpPr>
        <p:spPr>
          <a:xfrm>
            <a:off x="8016240" y="3566160"/>
            <a:ext cx="1702308" cy="320040"/>
          </a:xfrm>
          <a:prstGeom prst="rect">
            <a:avLst/>
          </a:prstGeom>
          <a:noFill/>
          <a:ln/>
        </p:spPr>
        <p:txBody>
          <a:bodyPr wrap="square" lIns="0" tIns="0" rIns="0" bIns="0" rtlCol="0" anchor="ctr"/>
          <a:lstStyle/>
          <a:p>
            <a:pPr algn="ctr" indent="0" marL="0">
              <a:buNone/>
            </a:pPr>
            <a:r>
              <a:rPr lang="en-US" sz="1250" b="1" dirty="0">
                <a:solidFill>
                  <a:srgbClr val="17263D"/>
                </a:solidFill>
                <a:latin typeface="Cambria" pitchFamily="34" charset="0"/>
                <a:ea typeface="Cambria" pitchFamily="34" charset="-122"/>
                <a:cs typeface="Cambria" pitchFamily="34" charset="-120"/>
              </a:rPr>
              <a:t>Fill Form</a:t>
            </a:r>
            <a:endParaRPr lang="en-US" sz="1250" dirty="0"/>
          </a:p>
        </p:txBody>
      </p:sp>
      <p:sp>
        <p:nvSpPr>
          <p:cNvPr id="30" name="Text 23"/>
          <p:cNvSpPr/>
          <p:nvPr/>
        </p:nvSpPr>
        <p:spPr>
          <a:xfrm>
            <a:off x="8034528" y="3913632"/>
            <a:ext cx="1665732" cy="502920"/>
          </a:xfrm>
          <a:prstGeom prst="rect">
            <a:avLst/>
          </a:prstGeom>
          <a:noFill/>
          <a:ln/>
        </p:spPr>
        <p:txBody>
          <a:bodyPr wrap="square" lIns="0" tIns="0" rIns="0" bIns="0" rtlCol="0" anchor="ctr"/>
          <a:lstStyle/>
          <a:p>
            <a:pPr algn="ctr" indent="0" marL="0">
              <a:lnSpc>
                <a:spcPct val="110000"/>
              </a:lnSpc>
              <a:buNone/>
            </a:pPr>
            <a:r>
              <a:rPr lang="en-US" sz="930" dirty="0">
                <a:solidFill>
                  <a:srgbClr val="55677E"/>
                </a:solidFill>
                <a:latin typeface="Calibri" pitchFamily="34" charset="0"/>
                <a:ea typeface="Calibri" pitchFamily="34" charset="-122"/>
                <a:cs typeface="Calibri" pitchFamily="34" charset="-120"/>
              </a:rPr>
              <a:t>Enters contact details</a:t>
            </a:r>
            <a:endParaRPr lang="en-US" sz="930" dirty="0"/>
          </a:p>
        </p:txBody>
      </p:sp>
      <p:sp>
        <p:nvSpPr>
          <p:cNvPr id="31" name="Shape 24"/>
          <p:cNvSpPr/>
          <p:nvPr/>
        </p:nvSpPr>
        <p:spPr>
          <a:xfrm>
            <a:off x="10304526" y="2606040"/>
            <a:ext cx="822960" cy="822960"/>
          </a:xfrm>
          <a:prstGeom prst="ellipse">
            <a:avLst/>
          </a:prstGeom>
          <a:solidFill>
            <a:srgbClr val="00B4A6"/>
          </a:solidFill>
          <a:ln/>
        </p:spPr>
      </p:sp>
      <p:pic>
        <p:nvPicPr>
          <p:cNvPr id="32" name="Image 5" descr="/home/claude/medsev-ppt/icons/check_FFFFFF.png">    </p:cNvPr>
          <p:cNvPicPr>
            <a:picLocks noChangeAspect="1"/>
          </p:cNvPicPr>
          <p:nvPr/>
        </p:nvPicPr>
        <p:blipFill>
          <a:blip r:embed="rId6"/>
          <a:stretch>
            <a:fillRect/>
          </a:stretch>
        </p:blipFill>
        <p:spPr>
          <a:xfrm>
            <a:off x="10510266" y="2811780"/>
            <a:ext cx="411480" cy="411480"/>
          </a:xfrm>
          <a:prstGeom prst="rect">
            <a:avLst/>
          </a:prstGeom>
        </p:spPr>
      </p:pic>
      <p:sp>
        <p:nvSpPr>
          <p:cNvPr id="33" name="Text 25"/>
          <p:cNvSpPr/>
          <p:nvPr/>
        </p:nvSpPr>
        <p:spPr>
          <a:xfrm>
            <a:off x="10304526" y="2148840"/>
            <a:ext cx="822960" cy="256032"/>
          </a:xfrm>
          <a:prstGeom prst="rect">
            <a:avLst/>
          </a:prstGeom>
          <a:noFill/>
          <a:ln/>
        </p:spPr>
        <p:txBody>
          <a:bodyPr wrap="square" lIns="0" tIns="0" rIns="0" bIns="0" rtlCol="0" anchor="ctr"/>
          <a:lstStyle/>
          <a:p>
            <a:pPr algn="ctr" indent="0" marL="0">
              <a:buNone/>
            </a:pPr>
            <a:r>
              <a:rPr lang="en-US" sz="1200" b="1" dirty="0">
                <a:solidFill>
                  <a:srgbClr val="55677E"/>
                </a:solidFill>
                <a:latin typeface="Cambria" pitchFamily="34" charset="0"/>
                <a:ea typeface="Cambria" pitchFamily="34" charset="-122"/>
                <a:cs typeface="Cambria" pitchFamily="34" charset="-120"/>
              </a:rPr>
              <a:t>06</a:t>
            </a:r>
            <a:endParaRPr lang="en-US" sz="1200" dirty="0"/>
          </a:p>
        </p:txBody>
      </p:sp>
      <p:sp>
        <p:nvSpPr>
          <p:cNvPr id="34" name="Text 26"/>
          <p:cNvSpPr/>
          <p:nvPr/>
        </p:nvSpPr>
        <p:spPr>
          <a:xfrm>
            <a:off x="9864852" y="3566160"/>
            <a:ext cx="1702308" cy="320040"/>
          </a:xfrm>
          <a:prstGeom prst="rect">
            <a:avLst/>
          </a:prstGeom>
          <a:noFill/>
          <a:ln/>
        </p:spPr>
        <p:txBody>
          <a:bodyPr wrap="square" lIns="0" tIns="0" rIns="0" bIns="0" rtlCol="0" anchor="ctr"/>
          <a:lstStyle/>
          <a:p>
            <a:pPr algn="ctr" indent="0" marL="0">
              <a:buNone/>
            </a:pPr>
            <a:r>
              <a:rPr lang="en-US" sz="1250" b="1" dirty="0">
                <a:solidFill>
                  <a:srgbClr val="17263D"/>
                </a:solidFill>
                <a:latin typeface="Cambria" pitchFamily="34" charset="0"/>
                <a:ea typeface="Cambria" pitchFamily="34" charset="-122"/>
                <a:cs typeface="Cambria" pitchFamily="34" charset="-120"/>
              </a:rPr>
              <a:t>Confirmation</a:t>
            </a:r>
            <a:endParaRPr lang="en-US" sz="1250" dirty="0"/>
          </a:p>
        </p:txBody>
      </p:sp>
      <p:sp>
        <p:nvSpPr>
          <p:cNvPr id="35" name="Text 27"/>
          <p:cNvSpPr/>
          <p:nvPr/>
        </p:nvSpPr>
        <p:spPr>
          <a:xfrm>
            <a:off x="9883140" y="3913632"/>
            <a:ext cx="1665732" cy="502920"/>
          </a:xfrm>
          <a:prstGeom prst="rect">
            <a:avLst/>
          </a:prstGeom>
          <a:noFill/>
          <a:ln/>
        </p:spPr>
        <p:txBody>
          <a:bodyPr wrap="square" lIns="0" tIns="0" rIns="0" bIns="0" rtlCol="0" anchor="ctr"/>
          <a:lstStyle/>
          <a:p>
            <a:pPr algn="ctr" indent="0" marL="0">
              <a:lnSpc>
                <a:spcPct val="110000"/>
              </a:lnSpc>
              <a:buNone/>
            </a:pPr>
            <a:r>
              <a:rPr lang="en-US" sz="930" dirty="0">
                <a:solidFill>
                  <a:srgbClr val="55677E"/>
                </a:solidFill>
                <a:latin typeface="Calibri" pitchFamily="34" charset="0"/>
                <a:ea typeface="Calibri" pitchFamily="34" charset="-122"/>
                <a:cs typeface="Calibri" pitchFamily="34" charset="-120"/>
              </a:rPr>
              <a:t>Receives booking confirmation</a:t>
            </a:r>
            <a:endParaRPr lang="en-US" sz="930" dirty="0"/>
          </a:p>
        </p:txBody>
      </p:sp>
      <p:sp>
        <p:nvSpPr>
          <p:cNvPr id="36" name="Shape 28"/>
          <p:cNvSpPr/>
          <p:nvPr/>
        </p:nvSpPr>
        <p:spPr>
          <a:xfrm>
            <a:off x="548640" y="5074920"/>
            <a:ext cx="11091672" cy="914400"/>
          </a:xfrm>
          <a:prstGeom prst="roundRect">
            <a:avLst>
              <a:gd name="adj" fmla="val 10000"/>
            </a:avLst>
          </a:prstGeom>
          <a:solidFill>
            <a:srgbClr val="EAF3FB"/>
          </a:solidFill>
          <a:ln/>
        </p:spPr>
      </p:sp>
      <p:sp>
        <p:nvSpPr>
          <p:cNvPr id="37" name="Text 29"/>
          <p:cNvSpPr/>
          <p:nvPr/>
        </p:nvSpPr>
        <p:spPr>
          <a:xfrm>
            <a:off x="822960" y="5074920"/>
            <a:ext cx="10515600" cy="914400"/>
          </a:xfrm>
          <a:prstGeom prst="rect">
            <a:avLst/>
          </a:prstGeom>
          <a:noFill/>
          <a:ln/>
        </p:spPr>
        <p:txBody>
          <a:bodyPr wrap="square" lIns="0" tIns="0" rIns="0" bIns="0" rtlCol="0" anchor="ctr"/>
          <a:lstStyle/>
          <a:p>
            <a:pPr indent="0" marL="0">
              <a:buNone/>
            </a:pPr>
            <a:r>
              <a:rPr lang="en-US" sz="1200" i="1" dirty="0">
                <a:solidFill>
                  <a:srgbClr val="17263D"/>
                </a:solidFill>
                <a:latin typeface="Calibri" pitchFamily="34" charset="0"/>
                <a:ea typeface="Calibri" pitchFamily="34" charset="-122"/>
                <a:cs typeface="Calibri" pitchFamily="34" charset="-120"/>
              </a:rPr>
              <a:t>Every page in the site map earns its place because it moves the visitor exactly one step along this path — nothing is on the site "just because."</a:t>
            </a:r>
            <a:endParaRPr lang="en-US" sz="1200" dirty="0"/>
          </a:p>
        </p:txBody>
      </p:sp>
      <p:sp>
        <p:nvSpPr>
          <p:cNvPr id="38" name="Text 30"/>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39" name="Text 31"/>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User Journey</a:t>
            </a:r>
            <a:endParaRPr lang="en-US" sz="900" dirty="0"/>
          </a:p>
        </p:txBody>
      </p:sp>
      <p:sp>
        <p:nvSpPr>
          <p:cNvPr id="40" name="Text 32"/>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20 / 23</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TECHNICAL FOUNDATION</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Technologies Used</a:t>
            </a:r>
            <a:endParaRPr lang="en-US" sz="3000" dirty="0"/>
          </a:p>
        </p:txBody>
      </p:sp>
      <p:sp>
        <p:nvSpPr>
          <p:cNvPr id="4" name="Shape 2"/>
          <p:cNvSpPr/>
          <p:nvPr/>
        </p:nvSpPr>
        <p:spPr>
          <a:xfrm>
            <a:off x="548640" y="1508760"/>
            <a:ext cx="3529584" cy="1920240"/>
          </a:xfrm>
          <a:prstGeom prst="roundRect">
            <a:avLst>
              <a:gd name="adj" fmla="val 4762"/>
            </a:avLst>
          </a:prstGeom>
          <a:solidFill>
            <a:srgbClr val="F6FAFD"/>
          </a:solidFill>
          <a:ln w="12700">
            <a:solidFill>
              <a:srgbClr val="D6E5F2"/>
            </a:solidFill>
            <a:prstDash val="solid"/>
          </a:ln>
        </p:spPr>
      </p:sp>
      <p:sp>
        <p:nvSpPr>
          <p:cNvPr id="5" name="Shape 3"/>
          <p:cNvSpPr/>
          <p:nvPr/>
        </p:nvSpPr>
        <p:spPr>
          <a:xfrm>
            <a:off x="777240" y="1737360"/>
            <a:ext cx="594360" cy="594360"/>
          </a:xfrm>
          <a:prstGeom prst="ellipse">
            <a:avLst/>
          </a:prstGeom>
          <a:solidFill>
            <a:srgbClr val="FFFFFF"/>
          </a:solidFill>
          <a:ln/>
        </p:spPr>
      </p:sp>
      <p:pic>
        <p:nvPicPr>
          <p:cNvPr id="6" name="Image 0" descr="/home/claude/medsev-ppt/icons/html5_0B5FA4.png">    </p:cNvPr>
          <p:cNvPicPr>
            <a:picLocks noChangeAspect="1"/>
          </p:cNvPicPr>
          <p:nvPr/>
        </p:nvPicPr>
        <p:blipFill>
          <a:blip r:embed="rId1"/>
          <a:stretch>
            <a:fillRect/>
          </a:stretch>
        </p:blipFill>
        <p:spPr>
          <a:xfrm>
            <a:off x="910971" y="1871091"/>
            <a:ext cx="326898" cy="326898"/>
          </a:xfrm>
          <a:prstGeom prst="rect">
            <a:avLst/>
          </a:prstGeom>
        </p:spPr>
      </p:pic>
      <p:sp>
        <p:nvSpPr>
          <p:cNvPr id="7" name="Text 4"/>
          <p:cNvSpPr/>
          <p:nvPr/>
        </p:nvSpPr>
        <p:spPr>
          <a:xfrm>
            <a:off x="1508760" y="1783080"/>
            <a:ext cx="2432304" cy="320040"/>
          </a:xfrm>
          <a:prstGeom prst="rect">
            <a:avLst/>
          </a:prstGeom>
          <a:noFill/>
          <a:ln/>
        </p:spPr>
        <p:txBody>
          <a:bodyPr wrap="square" lIns="0" tIns="0" rIns="0" bIns="0" rtlCol="0" anchor="ctr"/>
          <a:lstStyle/>
          <a:p>
            <a:pPr indent="0" marL="0">
              <a:buNone/>
            </a:pPr>
            <a:r>
              <a:rPr lang="en-US" sz="1500" b="1" dirty="0">
                <a:solidFill>
                  <a:srgbClr val="17263D"/>
                </a:solidFill>
                <a:latin typeface="Cambria" pitchFamily="34" charset="0"/>
                <a:ea typeface="Cambria" pitchFamily="34" charset="-122"/>
                <a:cs typeface="Cambria" pitchFamily="34" charset="-120"/>
              </a:rPr>
              <a:t>HTML5</a:t>
            </a:r>
            <a:endParaRPr lang="en-US" sz="1500" dirty="0"/>
          </a:p>
        </p:txBody>
      </p:sp>
      <p:sp>
        <p:nvSpPr>
          <p:cNvPr id="8" name="Text 5"/>
          <p:cNvSpPr/>
          <p:nvPr/>
        </p:nvSpPr>
        <p:spPr>
          <a:xfrm>
            <a:off x="777240" y="2468880"/>
            <a:ext cx="3072384" cy="822960"/>
          </a:xfrm>
          <a:prstGeom prst="rect">
            <a:avLst/>
          </a:prstGeom>
          <a:noFill/>
          <a:ln/>
        </p:spPr>
        <p:txBody>
          <a:bodyPr wrap="square" lIns="0" tIns="0" rIns="0" bIns="0" rtlCol="0" anchor="ctr"/>
          <a:lstStyle/>
          <a:p>
            <a:pPr indent="0" marL="0">
              <a:lnSpc>
                <a:spcPct val="115000"/>
              </a:lnSpc>
              <a:buNone/>
            </a:pPr>
            <a:r>
              <a:rPr lang="en-US" sz="1080" dirty="0">
                <a:solidFill>
                  <a:srgbClr val="55677E"/>
                </a:solidFill>
                <a:latin typeface="Calibri" pitchFamily="34" charset="0"/>
                <a:ea typeface="Calibri" pitchFamily="34" charset="-122"/>
                <a:cs typeface="Calibri" pitchFamily="34" charset="-120"/>
              </a:rPr>
              <a:t>Semantic structure for every page and section.</a:t>
            </a:r>
            <a:endParaRPr lang="en-US" sz="1080" dirty="0"/>
          </a:p>
        </p:txBody>
      </p:sp>
      <p:sp>
        <p:nvSpPr>
          <p:cNvPr id="9" name="Shape 6"/>
          <p:cNvSpPr/>
          <p:nvPr/>
        </p:nvSpPr>
        <p:spPr>
          <a:xfrm>
            <a:off x="4261104" y="1508760"/>
            <a:ext cx="3529584" cy="1920240"/>
          </a:xfrm>
          <a:prstGeom prst="roundRect">
            <a:avLst>
              <a:gd name="adj" fmla="val 4762"/>
            </a:avLst>
          </a:prstGeom>
          <a:solidFill>
            <a:srgbClr val="F6FAFD"/>
          </a:solidFill>
          <a:ln w="12700">
            <a:solidFill>
              <a:srgbClr val="D6E5F2"/>
            </a:solidFill>
            <a:prstDash val="solid"/>
          </a:ln>
        </p:spPr>
      </p:sp>
      <p:sp>
        <p:nvSpPr>
          <p:cNvPr id="10" name="Shape 7"/>
          <p:cNvSpPr/>
          <p:nvPr/>
        </p:nvSpPr>
        <p:spPr>
          <a:xfrm>
            <a:off x="4489704" y="1737360"/>
            <a:ext cx="594360" cy="594360"/>
          </a:xfrm>
          <a:prstGeom prst="ellipse">
            <a:avLst/>
          </a:prstGeom>
          <a:solidFill>
            <a:srgbClr val="FFFFFF"/>
          </a:solidFill>
          <a:ln/>
        </p:spPr>
      </p:sp>
      <p:pic>
        <p:nvPicPr>
          <p:cNvPr id="11" name="Image 1" descr="/home/claude/medsev-ppt/icons/css3_0B5FA4.png">    </p:cNvPr>
          <p:cNvPicPr>
            <a:picLocks noChangeAspect="1"/>
          </p:cNvPicPr>
          <p:nvPr/>
        </p:nvPicPr>
        <p:blipFill>
          <a:blip r:embed="rId2"/>
          <a:stretch>
            <a:fillRect/>
          </a:stretch>
        </p:blipFill>
        <p:spPr>
          <a:xfrm>
            <a:off x="4623435" y="1871091"/>
            <a:ext cx="326898" cy="326898"/>
          </a:xfrm>
          <a:prstGeom prst="rect">
            <a:avLst/>
          </a:prstGeom>
        </p:spPr>
      </p:pic>
      <p:sp>
        <p:nvSpPr>
          <p:cNvPr id="12" name="Text 8"/>
          <p:cNvSpPr/>
          <p:nvPr/>
        </p:nvSpPr>
        <p:spPr>
          <a:xfrm>
            <a:off x="5221224" y="1783080"/>
            <a:ext cx="2432304" cy="320040"/>
          </a:xfrm>
          <a:prstGeom prst="rect">
            <a:avLst/>
          </a:prstGeom>
          <a:noFill/>
          <a:ln/>
        </p:spPr>
        <p:txBody>
          <a:bodyPr wrap="square" lIns="0" tIns="0" rIns="0" bIns="0" rtlCol="0" anchor="ctr"/>
          <a:lstStyle/>
          <a:p>
            <a:pPr indent="0" marL="0">
              <a:buNone/>
            </a:pPr>
            <a:r>
              <a:rPr lang="en-US" sz="1500" b="1" dirty="0">
                <a:solidFill>
                  <a:srgbClr val="17263D"/>
                </a:solidFill>
                <a:latin typeface="Cambria" pitchFamily="34" charset="0"/>
                <a:ea typeface="Cambria" pitchFamily="34" charset="-122"/>
                <a:cs typeface="Cambria" pitchFamily="34" charset="-120"/>
              </a:rPr>
              <a:t>CSS3</a:t>
            </a:r>
            <a:endParaRPr lang="en-US" sz="1500" dirty="0"/>
          </a:p>
        </p:txBody>
      </p:sp>
      <p:sp>
        <p:nvSpPr>
          <p:cNvPr id="13" name="Text 9"/>
          <p:cNvSpPr/>
          <p:nvPr/>
        </p:nvSpPr>
        <p:spPr>
          <a:xfrm>
            <a:off x="4489704" y="2468880"/>
            <a:ext cx="3072384" cy="822960"/>
          </a:xfrm>
          <a:prstGeom prst="rect">
            <a:avLst/>
          </a:prstGeom>
          <a:noFill/>
          <a:ln/>
        </p:spPr>
        <p:txBody>
          <a:bodyPr wrap="square" lIns="0" tIns="0" rIns="0" bIns="0" rtlCol="0" anchor="ctr"/>
          <a:lstStyle/>
          <a:p>
            <a:pPr indent="0" marL="0">
              <a:lnSpc>
                <a:spcPct val="115000"/>
              </a:lnSpc>
              <a:buNone/>
            </a:pPr>
            <a:r>
              <a:rPr lang="en-US" sz="1080" dirty="0">
                <a:solidFill>
                  <a:srgbClr val="55677E"/>
                </a:solidFill>
                <a:latin typeface="Calibri" pitchFamily="34" charset="0"/>
                <a:ea typeface="Calibri" pitchFamily="34" charset="-122"/>
                <a:cs typeface="Calibri" pitchFamily="34" charset="-120"/>
              </a:rPr>
              <a:t>Styling, spacing, and the blue/white visual identity.</a:t>
            </a:r>
            <a:endParaRPr lang="en-US" sz="1080" dirty="0"/>
          </a:p>
        </p:txBody>
      </p:sp>
      <p:sp>
        <p:nvSpPr>
          <p:cNvPr id="14" name="Shape 10"/>
          <p:cNvSpPr/>
          <p:nvPr/>
        </p:nvSpPr>
        <p:spPr>
          <a:xfrm>
            <a:off x="7973568" y="1508760"/>
            <a:ext cx="3529584" cy="1920240"/>
          </a:xfrm>
          <a:prstGeom prst="roundRect">
            <a:avLst>
              <a:gd name="adj" fmla="val 4762"/>
            </a:avLst>
          </a:prstGeom>
          <a:solidFill>
            <a:srgbClr val="F6FAFD"/>
          </a:solidFill>
          <a:ln w="12700">
            <a:solidFill>
              <a:srgbClr val="D6E5F2"/>
            </a:solidFill>
            <a:prstDash val="solid"/>
          </a:ln>
        </p:spPr>
      </p:sp>
      <p:sp>
        <p:nvSpPr>
          <p:cNvPr id="15" name="Shape 11"/>
          <p:cNvSpPr/>
          <p:nvPr/>
        </p:nvSpPr>
        <p:spPr>
          <a:xfrm>
            <a:off x="8202168" y="1737360"/>
            <a:ext cx="594360" cy="594360"/>
          </a:xfrm>
          <a:prstGeom prst="ellipse">
            <a:avLst/>
          </a:prstGeom>
          <a:solidFill>
            <a:srgbClr val="FFFFFF"/>
          </a:solidFill>
          <a:ln/>
        </p:spPr>
      </p:sp>
      <p:pic>
        <p:nvPicPr>
          <p:cNvPr id="16" name="Image 2" descr="/home/claude/medsev-ppt/icons/js_0B5FA4.png">    </p:cNvPr>
          <p:cNvPicPr>
            <a:picLocks noChangeAspect="1"/>
          </p:cNvPicPr>
          <p:nvPr/>
        </p:nvPicPr>
        <p:blipFill>
          <a:blip r:embed="rId3"/>
          <a:stretch>
            <a:fillRect/>
          </a:stretch>
        </p:blipFill>
        <p:spPr>
          <a:xfrm>
            <a:off x="8335899" y="1871091"/>
            <a:ext cx="326898" cy="326898"/>
          </a:xfrm>
          <a:prstGeom prst="rect">
            <a:avLst/>
          </a:prstGeom>
        </p:spPr>
      </p:pic>
      <p:sp>
        <p:nvSpPr>
          <p:cNvPr id="17" name="Text 12"/>
          <p:cNvSpPr/>
          <p:nvPr/>
        </p:nvSpPr>
        <p:spPr>
          <a:xfrm>
            <a:off x="8933688" y="1783080"/>
            <a:ext cx="2432304" cy="320040"/>
          </a:xfrm>
          <a:prstGeom prst="rect">
            <a:avLst/>
          </a:prstGeom>
          <a:noFill/>
          <a:ln/>
        </p:spPr>
        <p:txBody>
          <a:bodyPr wrap="square" lIns="0" tIns="0" rIns="0" bIns="0" rtlCol="0" anchor="ctr"/>
          <a:lstStyle/>
          <a:p>
            <a:pPr indent="0" marL="0">
              <a:buNone/>
            </a:pPr>
            <a:r>
              <a:rPr lang="en-US" sz="1500" b="1" dirty="0">
                <a:solidFill>
                  <a:srgbClr val="17263D"/>
                </a:solidFill>
                <a:latin typeface="Cambria" pitchFamily="34" charset="0"/>
                <a:ea typeface="Cambria" pitchFamily="34" charset="-122"/>
                <a:cs typeface="Cambria" pitchFamily="34" charset="-120"/>
              </a:rPr>
              <a:t>JavaScript</a:t>
            </a:r>
            <a:endParaRPr lang="en-US" sz="1500" dirty="0"/>
          </a:p>
        </p:txBody>
      </p:sp>
      <p:sp>
        <p:nvSpPr>
          <p:cNvPr id="18" name="Text 13"/>
          <p:cNvSpPr/>
          <p:nvPr/>
        </p:nvSpPr>
        <p:spPr>
          <a:xfrm>
            <a:off x="8202168" y="2468880"/>
            <a:ext cx="3072384" cy="822960"/>
          </a:xfrm>
          <a:prstGeom prst="rect">
            <a:avLst/>
          </a:prstGeom>
          <a:noFill/>
          <a:ln/>
        </p:spPr>
        <p:txBody>
          <a:bodyPr wrap="square" lIns="0" tIns="0" rIns="0" bIns="0" rtlCol="0" anchor="ctr"/>
          <a:lstStyle/>
          <a:p>
            <a:pPr indent="0" marL="0">
              <a:lnSpc>
                <a:spcPct val="115000"/>
              </a:lnSpc>
              <a:buNone/>
            </a:pPr>
            <a:r>
              <a:rPr lang="en-US" sz="1080" dirty="0">
                <a:solidFill>
                  <a:srgbClr val="55677E"/>
                </a:solidFill>
                <a:latin typeface="Calibri" pitchFamily="34" charset="0"/>
                <a:ea typeface="Calibri" pitchFamily="34" charset="-122"/>
                <a:cs typeface="Calibri" pitchFamily="34" charset="-120"/>
              </a:rPr>
              <a:t>Powers sliders, tabs, form validation &amp; interactivity.</a:t>
            </a:r>
            <a:endParaRPr lang="en-US" sz="1080" dirty="0"/>
          </a:p>
        </p:txBody>
      </p:sp>
      <p:sp>
        <p:nvSpPr>
          <p:cNvPr id="19" name="Shape 14"/>
          <p:cNvSpPr/>
          <p:nvPr/>
        </p:nvSpPr>
        <p:spPr>
          <a:xfrm>
            <a:off x="548640" y="3611880"/>
            <a:ext cx="3529584" cy="1920240"/>
          </a:xfrm>
          <a:prstGeom prst="roundRect">
            <a:avLst>
              <a:gd name="adj" fmla="val 4762"/>
            </a:avLst>
          </a:prstGeom>
          <a:solidFill>
            <a:srgbClr val="F6FAFD"/>
          </a:solidFill>
          <a:ln w="12700">
            <a:solidFill>
              <a:srgbClr val="D6E5F2"/>
            </a:solidFill>
            <a:prstDash val="solid"/>
          </a:ln>
        </p:spPr>
      </p:sp>
      <p:sp>
        <p:nvSpPr>
          <p:cNvPr id="20" name="Shape 15"/>
          <p:cNvSpPr/>
          <p:nvPr/>
        </p:nvSpPr>
        <p:spPr>
          <a:xfrm>
            <a:off x="777240" y="3840480"/>
            <a:ext cx="594360" cy="594360"/>
          </a:xfrm>
          <a:prstGeom prst="ellipse">
            <a:avLst/>
          </a:prstGeom>
          <a:solidFill>
            <a:srgbClr val="FFFFFF"/>
          </a:solidFill>
          <a:ln/>
        </p:spPr>
      </p:sp>
      <p:pic>
        <p:nvPicPr>
          <p:cNvPr id="21" name="Image 3" descr="/home/claude/medsev-ppt/icons/bootstrap_0B5FA4.png">    </p:cNvPr>
          <p:cNvPicPr>
            <a:picLocks noChangeAspect="1"/>
          </p:cNvPicPr>
          <p:nvPr/>
        </p:nvPicPr>
        <p:blipFill>
          <a:blip r:embed="rId4"/>
          <a:stretch>
            <a:fillRect/>
          </a:stretch>
        </p:blipFill>
        <p:spPr>
          <a:xfrm>
            <a:off x="910971" y="3974211"/>
            <a:ext cx="326898" cy="326898"/>
          </a:xfrm>
          <a:prstGeom prst="rect">
            <a:avLst/>
          </a:prstGeom>
        </p:spPr>
      </p:pic>
      <p:sp>
        <p:nvSpPr>
          <p:cNvPr id="22" name="Text 16"/>
          <p:cNvSpPr/>
          <p:nvPr/>
        </p:nvSpPr>
        <p:spPr>
          <a:xfrm>
            <a:off x="1508760" y="3886200"/>
            <a:ext cx="2432304" cy="320040"/>
          </a:xfrm>
          <a:prstGeom prst="rect">
            <a:avLst/>
          </a:prstGeom>
          <a:noFill/>
          <a:ln/>
        </p:spPr>
        <p:txBody>
          <a:bodyPr wrap="square" lIns="0" tIns="0" rIns="0" bIns="0" rtlCol="0" anchor="ctr"/>
          <a:lstStyle/>
          <a:p>
            <a:pPr indent="0" marL="0">
              <a:buNone/>
            </a:pPr>
            <a:r>
              <a:rPr lang="en-US" sz="1500" b="1" dirty="0">
                <a:solidFill>
                  <a:srgbClr val="17263D"/>
                </a:solidFill>
                <a:latin typeface="Cambria" pitchFamily="34" charset="0"/>
                <a:ea typeface="Cambria" pitchFamily="34" charset="-122"/>
                <a:cs typeface="Cambria" pitchFamily="34" charset="-120"/>
              </a:rPr>
              <a:t>Bootstrap</a:t>
            </a:r>
            <a:endParaRPr lang="en-US" sz="1500" dirty="0"/>
          </a:p>
        </p:txBody>
      </p:sp>
      <p:sp>
        <p:nvSpPr>
          <p:cNvPr id="23" name="Text 17"/>
          <p:cNvSpPr/>
          <p:nvPr/>
        </p:nvSpPr>
        <p:spPr>
          <a:xfrm>
            <a:off x="777240" y="4572000"/>
            <a:ext cx="3072384" cy="822960"/>
          </a:xfrm>
          <a:prstGeom prst="rect">
            <a:avLst/>
          </a:prstGeom>
          <a:noFill/>
          <a:ln/>
        </p:spPr>
        <p:txBody>
          <a:bodyPr wrap="square" lIns="0" tIns="0" rIns="0" bIns="0" rtlCol="0" anchor="ctr"/>
          <a:lstStyle/>
          <a:p>
            <a:pPr indent="0" marL="0">
              <a:lnSpc>
                <a:spcPct val="115000"/>
              </a:lnSpc>
              <a:buNone/>
            </a:pPr>
            <a:r>
              <a:rPr lang="en-US" sz="1080" dirty="0">
                <a:solidFill>
                  <a:srgbClr val="55677E"/>
                </a:solidFill>
                <a:latin typeface="Calibri" pitchFamily="34" charset="0"/>
                <a:ea typeface="Calibri" pitchFamily="34" charset="-122"/>
                <a:cs typeface="Calibri" pitchFamily="34" charset="-120"/>
              </a:rPr>
              <a:t>Responsive 12-column grid across all breakpoints.</a:t>
            </a:r>
            <a:endParaRPr lang="en-US" sz="1080" dirty="0"/>
          </a:p>
        </p:txBody>
      </p:sp>
      <p:sp>
        <p:nvSpPr>
          <p:cNvPr id="24" name="Shape 18"/>
          <p:cNvSpPr/>
          <p:nvPr/>
        </p:nvSpPr>
        <p:spPr>
          <a:xfrm>
            <a:off x="4261104" y="3611880"/>
            <a:ext cx="3529584" cy="1920240"/>
          </a:xfrm>
          <a:prstGeom prst="roundRect">
            <a:avLst>
              <a:gd name="adj" fmla="val 4762"/>
            </a:avLst>
          </a:prstGeom>
          <a:solidFill>
            <a:srgbClr val="F6FAFD"/>
          </a:solidFill>
          <a:ln w="12700">
            <a:solidFill>
              <a:srgbClr val="D6E5F2"/>
            </a:solidFill>
            <a:prstDash val="solid"/>
          </a:ln>
        </p:spPr>
      </p:sp>
      <p:sp>
        <p:nvSpPr>
          <p:cNvPr id="25" name="Shape 19"/>
          <p:cNvSpPr/>
          <p:nvPr/>
        </p:nvSpPr>
        <p:spPr>
          <a:xfrm>
            <a:off x="4489704" y="3840480"/>
            <a:ext cx="594360" cy="594360"/>
          </a:xfrm>
          <a:prstGeom prst="ellipse">
            <a:avLst/>
          </a:prstGeom>
          <a:solidFill>
            <a:srgbClr val="FFFFFF"/>
          </a:solidFill>
          <a:ln/>
        </p:spPr>
      </p:sp>
      <p:pic>
        <p:nvPicPr>
          <p:cNvPr id="26" name="Image 4" descr="/home/claude/medsev-ppt/icons/responsive_0B5FA4.png">    </p:cNvPr>
          <p:cNvPicPr>
            <a:picLocks noChangeAspect="1"/>
          </p:cNvPicPr>
          <p:nvPr/>
        </p:nvPicPr>
        <p:blipFill>
          <a:blip r:embed="rId5"/>
          <a:stretch>
            <a:fillRect/>
          </a:stretch>
        </p:blipFill>
        <p:spPr>
          <a:xfrm>
            <a:off x="4623435" y="3974211"/>
            <a:ext cx="326898" cy="326898"/>
          </a:xfrm>
          <a:prstGeom prst="rect">
            <a:avLst/>
          </a:prstGeom>
        </p:spPr>
      </p:pic>
      <p:sp>
        <p:nvSpPr>
          <p:cNvPr id="27" name="Text 20"/>
          <p:cNvSpPr/>
          <p:nvPr/>
        </p:nvSpPr>
        <p:spPr>
          <a:xfrm>
            <a:off x="5221224" y="3886200"/>
            <a:ext cx="2432304" cy="320040"/>
          </a:xfrm>
          <a:prstGeom prst="rect">
            <a:avLst/>
          </a:prstGeom>
          <a:noFill/>
          <a:ln/>
        </p:spPr>
        <p:txBody>
          <a:bodyPr wrap="square" lIns="0" tIns="0" rIns="0" bIns="0" rtlCol="0" anchor="ctr"/>
          <a:lstStyle/>
          <a:p>
            <a:pPr indent="0" marL="0">
              <a:buNone/>
            </a:pPr>
            <a:r>
              <a:rPr lang="en-US" sz="1500" b="1" dirty="0">
                <a:solidFill>
                  <a:srgbClr val="17263D"/>
                </a:solidFill>
                <a:latin typeface="Cambria" pitchFamily="34" charset="0"/>
                <a:ea typeface="Cambria" pitchFamily="34" charset="-122"/>
                <a:cs typeface="Cambria" pitchFamily="34" charset="-120"/>
              </a:rPr>
              <a:t>Responsive Design</a:t>
            </a:r>
            <a:endParaRPr lang="en-US" sz="1500" dirty="0"/>
          </a:p>
        </p:txBody>
      </p:sp>
      <p:sp>
        <p:nvSpPr>
          <p:cNvPr id="28" name="Text 21"/>
          <p:cNvSpPr/>
          <p:nvPr/>
        </p:nvSpPr>
        <p:spPr>
          <a:xfrm>
            <a:off x="4489704" y="4572000"/>
            <a:ext cx="3072384" cy="822960"/>
          </a:xfrm>
          <a:prstGeom prst="rect">
            <a:avLst/>
          </a:prstGeom>
          <a:noFill/>
          <a:ln/>
        </p:spPr>
        <p:txBody>
          <a:bodyPr wrap="square" lIns="0" tIns="0" rIns="0" bIns="0" rtlCol="0" anchor="ctr"/>
          <a:lstStyle/>
          <a:p>
            <a:pPr indent="0" marL="0">
              <a:lnSpc>
                <a:spcPct val="115000"/>
              </a:lnSpc>
              <a:buNone/>
            </a:pPr>
            <a:r>
              <a:rPr lang="en-US" sz="1080" dirty="0">
                <a:solidFill>
                  <a:srgbClr val="55677E"/>
                </a:solidFill>
                <a:latin typeface="Calibri" pitchFamily="34" charset="0"/>
                <a:ea typeface="Calibri" pitchFamily="34" charset="-122"/>
                <a:cs typeface="Calibri" pitchFamily="34" charset="-120"/>
              </a:rPr>
              <a:t>One codebase adapting to desktop, tablet &amp; mobile.</a:t>
            </a:r>
            <a:endParaRPr lang="en-US" sz="1080" dirty="0"/>
          </a:p>
        </p:txBody>
      </p:sp>
      <p:sp>
        <p:nvSpPr>
          <p:cNvPr id="29" name="Shape 22"/>
          <p:cNvSpPr/>
          <p:nvPr/>
        </p:nvSpPr>
        <p:spPr>
          <a:xfrm>
            <a:off x="7973568" y="3611880"/>
            <a:ext cx="3529584" cy="1920240"/>
          </a:xfrm>
          <a:prstGeom prst="roundRect">
            <a:avLst>
              <a:gd name="adj" fmla="val 4762"/>
            </a:avLst>
          </a:prstGeom>
          <a:solidFill>
            <a:srgbClr val="F6FAFD"/>
          </a:solidFill>
          <a:ln w="12700">
            <a:solidFill>
              <a:srgbClr val="D6E5F2"/>
            </a:solidFill>
            <a:prstDash val="solid"/>
          </a:ln>
        </p:spPr>
      </p:sp>
      <p:sp>
        <p:nvSpPr>
          <p:cNvPr id="30" name="Shape 23"/>
          <p:cNvSpPr/>
          <p:nvPr/>
        </p:nvSpPr>
        <p:spPr>
          <a:xfrm>
            <a:off x="8202168" y="3840480"/>
            <a:ext cx="594360" cy="594360"/>
          </a:xfrm>
          <a:prstGeom prst="ellipse">
            <a:avLst/>
          </a:prstGeom>
          <a:solidFill>
            <a:srgbClr val="FFFFFF"/>
          </a:solidFill>
          <a:ln/>
        </p:spPr>
      </p:sp>
      <p:pic>
        <p:nvPicPr>
          <p:cNvPr id="31" name="Image 5" descr="/home/claude/medsev-ppt/icons/rocket_0B5FA4.png">    </p:cNvPr>
          <p:cNvPicPr>
            <a:picLocks noChangeAspect="1"/>
          </p:cNvPicPr>
          <p:nvPr/>
        </p:nvPicPr>
        <p:blipFill>
          <a:blip r:embed="rId6"/>
          <a:stretch>
            <a:fillRect/>
          </a:stretch>
        </p:blipFill>
        <p:spPr>
          <a:xfrm>
            <a:off x="8335899" y="3974211"/>
            <a:ext cx="326898" cy="326898"/>
          </a:xfrm>
          <a:prstGeom prst="rect">
            <a:avLst/>
          </a:prstGeom>
        </p:spPr>
      </p:pic>
      <p:sp>
        <p:nvSpPr>
          <p:cNvPr id="32" name="Text 24"/>
          <p:cNvSpPr/>
          <p:nvPr/>
        </p:nvSpPr>
        <p:spPr>
          <a:xfrm>
            <a:off x="8933688" y="3886200"/>
            <a:ext cx="2432304" cy="320040"/>
          </a:xfrm>
          <a:prstGeom prst="rect">
            <a:avLst/>
          </a:prstGeom>
          <a:noFill/>
          <a:ln/>
        </p:spPr>
        <p:txBody>
          <a:bodyPr wrap="square" lIns="0" tIns="0" rIns="0" bIns="0" rtlCol="0" anchor="ctr"/>
          <a:lstStyle/>
          <a:p>
            <a:pPr indent="0" marL="0">
              <a:buNone/>
            </a:pPr>
            <a:r>
              <a:rPr lang="en-US" sz="1500" b="1" dirty="0">
                <a:solidFill>
                  <a:srgbClr val="17263D"/>
                </a:solidFill>
                <a:latin typeface="Cambria" pitchFamily="34" charset="0"/>
                <a:ea typeface="Cambria" pitchFamily="34" charset="-122"/>
                <a:cs typeface="Cambria" pitchFamily="34" charset="-120"/>
              </a:rPr>
              <a:t>Animations</a:t>
            </a:r>
            <a:endParaRPr lang="en-US" sz="1500" dirty="0"/>
          </a:p>
        </p:txBody>
      </p:sp>
      <p:sp>
        <p:nvSpPr>
          <p:cNvPr id="33" name="Text 25"/>
          <p:cNvSpPr/>
          <p:nvPr/>
        </p:nvSpPr>
        <p:spPr>
          <a:xfrm>
            <a:off x="8202168" y="4572000"/>
            <a:ext cx="3072384" cy="822960"/>
          </a:xfrm>
          <a:prstGeom prst="rect">
            <a:avLst/>
          </a:prstGeom>
          <a:noFill/>
          <a:ln/>
        </p:spPr>
        <p:txBody>
          <a:bodyPr wrap="square" lIns="0" tIns="0" rIns="0" bIns="0" rtlCol="0" anchor="ctr"/>
          <a:lstStyle/>
          <a:p>
            <a:pPr indent="0" marL="0">
              <a:lnSpc>
                <a:spcPct val="115000"/>
              </a:lnSpc>
              <a:buNone/>
            </a:pPr>
            <a:r>
              <a:rPr lang="en-US" sz="1080" dirty="0">
                <a:solidFill>
                  <a:srgbClr val="55677E"/>
                </a:solidFill>
                <a:latin typeface="Calibri" pitchFamily="34" charset="0"/>
                <a:ea typeface="Calibri" pitchFamily="34" charset="-122"/>
                <a:cs typeface="Calibri" pitchFamily="34" charset="-120"/>
              </a:rPr>
              <a:t>Subtle scroll &amp; hover effects for a polished feel.</a:t>
            </a:r>
            <a:endParaRPr lang="en-US" sz="1080" dirty="0"/>
          </a:p>
        </p:txBody>
      </p:sp>
      <p:sp>
        <p:nvSpPr>
          <p:cNvPr id="34" name="Text 26"/>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35" name="Text 27"/>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Technologies Used</a:t>
            </a:r>
            <a:endParaRPr lang="en-US" sz="900" dirty="0"/>
          </a:p>
        </p:txBody>
      </p:sp>
      <p:sp>
        <p:nvSpPr>
          <p:cNvPr id="36" name="Text 28"/>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21 / 23</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EVALUATION</a:t>
            </a:r>
            <a:endParaRPr lang="en-US" sz="1250" dirty="0"/>
          </a:p>
        </p:txBody>
      </p:sp>
      <p:sp>
        <p:nvSpPr>
          <p:cNvPr id="3" name="Text 1"/>
          <p:cNvSpPr/>
          <p:nvPr/>
        </p:nvSpPr>
        <p:spPr>
          <a:xfrm>
            <a:off x="548640" y="722376"/>
            <a:ext cx="10789920" cy="594360"/>
          </a:xfrm>
          <a:prstGeom prst="rect">
            <a:avLst/>
          </a:prstGeom>
          <a:noFill/>
          <a:ln/>
        </p:spPr>
        <p:txBody>
          <a:bodyPr wrap="square" lIns="0" tIns="0" rIns="0" bIns="0"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Strengths of the Website</a:t>
            </a:r>
            <a:endParaRPr lang="en-US" sz="3000" dirty="0"/>
          </a:p>
        </p:txBody>
      </p:sp>
      <p:sp>
        <p:nvSpPr>
          <p:cNvPr id="4" name="Shape 2"/>
          <p:cNvSpPr/>
          <p:nvPr/>
        </p:nvSpPr>
        <p:spPr>
          <a:xfrm>
            <a:off x="548640" y="1463040"/>
            <a:ext cx="5440680" cy="1170432"/>
          </a:xfrm>
          <a:prstGeom prst="roundRect">
            <a:avLst>
              <a:gd name="adj" fmla="val 7031"/>
            </a:avLst>
          </a:prstGeom>
          <a:solidFill>
            <a:srgbClr val="F6FAFD"/>
          </a:solidFill>
          <a:ln w="12700">
            <a:solidFill>
              <a:srgbClr val="D6E5F2"/>
            </a:solidFill>
            <a:prstDash val="solid"/>
          </a:ln>
        </p:spPr>
      </p:sp>
      <p:sp>
        <p:nvSpPr>
          <p:cNvPr id="5" name="Shape 3"/>
          <p:cNvSpPr/>
          <p:nvPr/>
        </p:nvSpPr>
        <p:spPr>
          <a:xfrm>
            <a:off x="749808" y="1773936"/>
            <a:ext cx="548640" cy="548640"/>
          </a:xfrm>
          <a:prstGeom prst="ellipse">
            <a:avLst/>
          </a:prstGeom>
          <a:solidFill>
            <a:srgbClr val="FFFFFF"/>
          </a:solidFill>
          <a:ln/>
        </p:spPr>
      </p:sp>
      <p:pic>
        <p:nvPicPr>
          <p:cNvPr id="6" name="Image 0" descr="/home/claude/medsev-ppt/icons/award_00B4A6.png">    </p:cNvPr>
          <p:cNvPicPr>
            <a:picLocks noChangeAspect="1"/>
          </p:cNvPicPr>
          <p:nvPr/>
        </p:nvPicPr>
        <p:blipFill>
          <a:blip r:embed="rId1"/>
          <a:stretch>
            <a:fillRect/>
          </a:stretch>
        </p:blipFill>
        <p:spPr>
          <a:xfrm>
            <a:off x="873252" y="1897380"/>
            <a:ext cx="301752" cy="301752"/>
          </a:xfrm>
          <a:prstGeom prst="rect">
            <a:avLst/>
          </a:prstGeom>
        </p:spPr>
      </p:pic>
      <p:sp>
        <p:nvSpPr>
          <p:cNvPr id="7" name="Text 4"/>
          <p:cNvSpPr/>
          <p:nvPr/>
        </p:nvSpPr>
        <p:spPr>
          <a:xfrm>
            <a:off x="1463040" y="1627632"/>
            <a:ext cx="4389120" cy="292608"/>
          </a:xfrm>
          <a:prstGeom prst="rect">
            <a:avLst/>
          </a:prstGeom>
          <a:noFill/>
          <a:ln/>
        </p:spPr>
        <p:txBody>
          <a:bodyPr wrap="square" lIns="0" tIns="0" rIns="0" bIns="0" rtlCol="0" anchor="ctr"/>
          <a:lstStyle/>
          <a:p>
            <a:pPr indent="0" marL="0">
              <a:buNone/>
            </a:pPr>
            <a:r>
              <a:rPr lang="en-US" sz="1350" b="1" dirty="0">
                <a:solidFill>
                  <a:srgbClr val="17263D"/>
                </a:solidFill>
                <a:latin typeface="Cambria" pitchFamily="34" charset="0"/>
                <a:ea typeface="Cambria" pitchFamily="34" charset="-122"/>
                <a:cs typeface="Cambria" pitchFamily="34" charset="-120"/>
              </a:rPr>
              <a:t>Professional Design</a:t>
            </a:r>
            <a:endParaRPr lang="en-US" sz="1350" dirty="0"/>
          </a:p>
        </p:txBody>
      </p:sp>
      <p:sp>
        <p:nvSpPr>
          <p:cNvPr id="8" name="Text 5"/>
          <p:cNvSpPr/>
          <p:nvPr/>
        </p:nvSpPr>
        <p:spPr>
          <a:xfrm>
            <a:off x="1463040" y="1938528"/>
            <a:ext cx="4343400" cy="594360"/>
          </a:xfrm>
          <a:prstGeom prst="rect">
            <a:avLst/>
          </a:prstGeom>
          <a:noFill/>
          <a:ln/>
        </p:spPr>
        <p:txBody>
          <a:bodyPr wrap="square" lIns="0" tIns="0" rIns="0" bIns="0" rtlCol="0" anchor="ctr"/>
          <a:lstStyle/>
          <a:p>
            <a:pPr indent="0" marL="0">
              <a:lnSpc>
                <a:spcPct val="110000"/>
              </a:lnSpc>
              <a:buNone/>
            </a:pPr>
            <a:r>
              <a:rPr lang="en-US" sz="1000" dirty="0">
                <a:solidFill>
                  <a:srgbClr val="55677E"/>
                </a:solidFill>
                <a:latin typeface="Calibri" pitchFamily="34" charset="0"/>
                <a:ea typeface="Calibri" pitchFamily="34" charset="-122"/>
                <a:cs typeface="Calibri" pitchFamily="34" charset="-120"/>
              </a:rPr>
              <a:t>A polished, medical-grade visual identity throughout.</a:t>
            </a:r>
            <a:endParaRPr lang="en-US" sz="1000" dirty="0"/>
          </a:p>
        </p:txBody>
      </p:sp>
      <p:sp>
        <p:nvSpPr>
          <p:cNvPr id="9" name="Shape 6"/>
          <p:cNvSpPr/>
          <p:nvPr/>
        </p:nvSpPr>
        <p:spPr>
          <a:xfrm>
            <a:off x="6135624" y="1463040"/>
            <a:ext cx="5440680" cy="1170432"/>
          </a:xfrm>
          <a:prstGeom prst="roundRect">
            <a:avLst>
              <a:gd name="adj" fmla="val 7031"/>
            </a:avLst>
          </a:prstGeom>
          <a:solidFill>
            <a:srgbClr val="F6FAFD"/>
          </a:solidFill>
          <a:ln w="12700">
            <a:solidFill>
              <a:srgbClr val="D6E5F2"/>
            </a:solidFill>
            <a:prstDash val="solid"/>
          </a:ln>
        </p:spPr>
      </p:sp>
      <p:sp>
        <p:nvSpPr>
          <p:cNvPr id="10" name="Shape 7"/>
          <p:cNvSpPr/>
          <p:nvPr/>
        </p:nvSpPr>
        <p:spPr>
          <a:xfrm>
            <a:off x="6336792" y="1773936"/>
            <a:ext cx="548640" cy="548640"/>
          </a:xfrm>
          <a:prstGeom prst="ellipse">
            <a:avLst/>
          </a:prstGeom>
          <a:solidFill>
            <a:srgbClr val="FFFFFF"/>
          </a:solidFill>
          <a:ln/>
        </p:spPr>
      </p:sp>
      <p:pic>
        <p:nvPicPr>
          <p:cNvPr id="11" name="Image 1" descr="/home/claude/medsev-ppt/icons/route_00B4A6.png">    </p:cNvPr>
          <p:cNvPicPr>
            <a:picLocks noChangeAspect="1"/>
          </p:cNvPicPr>
          <p:nvPr/>
        </p:nvPicPr>
        <p:blipFill>
          <a:blip r:embed="rId2"/>
          <a:stretch>
            <a:fillRect/>
          </a:stretch>
        </p:blipFill>
        <p:spPr>
          <a:xfrm>
            <a:off x="6460236" y="1897380"/>
            <a:ext cx="301752" cy="301752"/>
          </a:xfrm>
          <a:prstGeom prst="rect">
            <a:avLst/>
          </a:prstGeom>
        </p:spPr>
      </p:pic>
      <p:sp>
        <p:nvSpPr>
          <p:cNvPr id="12" name="Text 8"/>
          <p:cNvSpPr/>
          <p:nvPr/>
        </p:nvSpPr>
        <p:spPr>
          <a:xfrm>
            <a:off x="7050024" y="1627632"/>
            <a:ext cx="4389120" cy="292608"/>
          </a:xfrm>
          <a:prstGeom prst="rect">
            <a:avLst/>
          </a:prstGeom>
          <a:noFill/>
          <a:ln/>
        </p:spPr>
        <p:txBody>
          <a:bodyPr wrap="square" lIns="0" tIns="0" rIns="0" bIns="0" rtlCol="0" anchor="ctr"/>
          <a:lstStyle/>
          <a:p>
            <a:pPr indent="0" marL="0">
              <a:buNone/>
            </a:pPr>
            <a:r>
              <a:rPr lang="en-US" sz="1350" b="1" dirty="0">
                <a:solidFill>
                  <a:srgbClr val="17263D"/>
                </a:solidFill>
                <a:latin typeface="Cambria" pitchFamily="34" charset="0"/>
                <a:ea typeface="Cambria" pitchFamily="34" charset="-122"/>
                <a:cs typeface="Cambria" pitchFamily="34" charset="-120"/>
              </a:rPr>
              <a:t>Easy Navigation</a:t>
            </a:r>
            <a:endParaRPr lang="en-US" sz="1350" dirty="0"/>
          </a:p>
        </p:txBody>
      </p:sp>
      <p:sp>
        <p:nvSpPr>
          <p:cNvPr id="13" name="Text 9"/>
          <p:cNvSpPr/>
          <p:nvPr/>
        </p:nvSpPr>
        <p:spPr>
          <a:xfrm>
            <a:off x="7050024" y="1938528"/>
            <a:ext cx="4343400" cy="594360"/>
          </a:xfrm>
          <a:prstGeom prst="rect">
            <a:avLst/>
          </a:prstGeom>
          <a:noFill/>
          <a:ln/>
        </p:spPr>
        <p:txBody>
          <a:bodyPr wrap="square" lIns="0" tIns="0" rIns="0" bIns="0" rtlCol="0" anchor="ctr"/>
          <a:lstStyle/>
          <a:p>
            <a:pPr indent="0" marL="0">
              <a:lnSpc>
                <a:spcPct val="110000"/>
              </a:lnSpc>
              <a:buNone/>
            </a:pPr>
            <a:r>
              <a:rPr lang="en-US" sz="1000" dirty="0">
                <a:solidFill>
                  <a:srgbClr val="55677E"/>
                </a:solidFill>
                <a:latin typeface="Calibri" pitchFamily="34" charset="0"/>
                <a:ea typeface="Calibri" pitchFamily="34" charset="-122"/>
                <a:cs typeface="Calibri" pitchFamily="34" charset="-120"/>
              </a:rPr>
              <a:t>Clear menu structure with logical page groupings.</a:t>
            </a:r>
            <a:endParaRPr lang="en-US" sz="1000" dirty="0"/>
          </a:p>
        </p:txBody>
      </p:sp>
      <p:sp>
        <p:nvSpPr>
          <p:cNvPr id="14" name="Shape 10"/>
          <p:cNvSpPr/>
          <p:nvPr/>
        </p:nvSpPr>
        <p:spPr>
          <a:xfrm>
            <a:off x="548640" y="2779776"/>
            <a:ext cx="5440680" cy="1170432"/>
          </a:xfrm>
          <a:prstGeom prst="roundRect">
            <a:avLst>
              <a:gd name="adj" fmla="val 7031"/>
            </a:avLst>
          </a:prstGeom>
          <a:solidFill>
            <a:srgbClr val="F6FAFD"/>
          </a:solidFill>
          <a:ln w="12700">
            <a:solidFill>
              <a:srgbClr val="D6E5F2"/>
            </a:solidFill>
            <a:prstDash val="solid"/>
          </a:ln>
        </p:spPr>
      </p:sp>
      <p:sp>
        <p:nvSpPr>
          <p:cNvPr id="15" name="Shape 11"/>
          <p:cNvSpPr/>
          <p:nvPr/>
        </p:nvSpPr>
        <p:spPr>
          <a:xfrm>
            <a:off x="749808" y="3090672"/>
            <a:ext cx="548640" cy="548640"/>
          </a:xfrm>
          <a:prstGeom prst="ellipse">
            <a:avLst/>
          </a:prstGeom>
          <a:solidFill>
            <a:srgbClr val="FFFFFF"/>
          </a:solidFill>
          <a:ln/>
        </p:spPr>
      </p:sp>
      <p:pic>
        <p:nvPicPr>
          <p:cNvPr id="16" name="Image 2" descr="/home/claude/medsev-ppt/icons/rocket_00B4A6.png">    </p:cNvPr>
          <p:cNvPicPr>
            <a:picLocks noChangeAspect="1"/>
          </p:cNvPicPr>
          <p:nvPr/>
        </p:nvPicPr>
        <p:blipFill>
          <a:blip r:embed="rId3"/>
          <a:stretch>
            <a:fillRect/>
          </a:stretch>
        </p:blipFill>
        <p:spPr>
          <a:xfrm>
            <a:off x="873252" y="3214116"/>
            <a:ext cx="301752" cy="301752"/>
          </a:xfrm>
          <a:prstGeom prst="rect">
            <a:avLst/>
          </a:prstGeom>
        </p:spPr>
      </p:pic>
      <p:sp>
        <p:nvSpPr>
          <p:cNvPr id="17" name="Text 12"/>
          <p:cNvSpPr/>
          <p:nvPr/>
        </p:nvSpPr>
        <p:spPr>
          <a:xfrm>
            <a:off x="1463040" y="2944368"/>
            <a:ext cx="4389120" cy="292608"/>
          </a:xfrm>
          <a:prstGeom prst="rect">
            <a:avLst/>
          </a:prstGeom>
          <a:noFill/>
          <a:ln/>
        </p:spPr>
        <p:txBody>
          <a:bodyPr wrap="square" lIns="0" tIns="0" rIns="0" bIns="0" rtlCol="0" anchor="ctr"/>
          <a:lstStyle/>
          <a:p>
            <a:pPr indent="0" marL="0">
              <a:buNone/>
            </a:pPr>
            <a:r>
              <a:rPr lang="en-US" sz="1350" b="1" dirty="0">
                <a:solidFill>
                  <a:srgbClr val="17263D"/>
                </a:solidFill>
                <a:latin typeface="Cambria" pitchFamily="34" charset="0"/>
                <a:ea typeface="Cambria" pitchFamily="34" charset="-122"/>
                <a:cs typeface="Cambria" pitchFamily="34" charset="-120"/>
              </a:rPr>
              <a:t>Fast Access</a:t>
            </a:r>
            <a:endParaRPr lang="en-US" sz="1350" dirty="0"/>
          </a:p>
        </p:txBody>
      </p:sp>
      <p:sp>
        <p:nvSpPr>
          <p:cNvPr id="18" name="Text 13"/>
          <p:cNvSpPr/>
          <p:nvPr/>
        </p:nvSpPr>
        <p:spPr>
          <a:xfrm>
            <a:off x="1463040" y="3255264"/>
            <a:ext cx="4343400" cy="594360"/>
          </a:xfrm>
          <a:prstGeom prst="rect">
            <a:avLst/>
          </a:prstGeom>
          <a:noFill/>
          <a:ln/>
        </p:spPr>
        <p:txBody>
          <a:bodyPr wrap="square" lIns="0" tIns="0" rIns="0" bIns="0" rtlCol="0" anchor="ctr"/>
          <a:lstStyle/>
          <a:p>
            <a:pPr indent="0" marL="0">
              <a:lnSpc>
                <a:spcPct val="110000"/>
              </a:lnSpc>
              <a:buNone/>
            </a:pPr>
            <a:r>
              <a:rPr lang="en-US" sz="1000" dirty="0">
                <a:solidFill>
                  <a:srgbClr val="55677E"/>
                </a:solidFill>
                <a:latin typeface="Calibri" pitchFamily="34" charset="0"/>
                <a:ea typeface="Calibri" pitchFamily="34" charset="-122"/>
                <a:cs typeface="Calibri" pitchFamily="34" charset="-120"/>
              </a:rPr>
              <a:t>Lightweight static pages with quick load times.</a:t>
            </a:r>
            <a:endParaRPr lang="en-US" sz="1000" dirty="0"/>
          </a:p>
        </p:txBody>
      </p:sp>
      <p:sp>
        <p:nvSpPr>
          <p:cNvPr id="19" name="Shape 14"/>
          <p:cNvSpPr/>
          <p:nvPr/>
        </p:nvSpPr>
        <p:spPr>
          <a:xfrm>
            <a:off x="6135624" y="2779776"/>
            <a:ext cx="5440680" cy="1170432"/>
          </a:xfrm>
          <a:prstGeom prst="roundRect">
            <a:avLst>
              <a:gd name="adj" fmla="val 7031"/>
            </a:avLst>
          </a:prstGeom>
          <a:solidFill>
            <a:srgbClr val="F6FAFD"/>
          </a:solidFill>
          <a:ln w="12700">
            <a:solidFill>
              <a:srgbClr val="D6E5F2"/>
            </a:solidFill>
            <a:prstDash val="solid"/>
          </a:ln>
        </p:spPr>
      </p:sp>
      <p:sp>
        <p:nvSpPr>
          <p:cNvPr id="20" name="Shape 15"/>
          <p:cNvSpPr/>
          <p:nvPr/>
        </p:nvSpPr>
        <p:spPr>
          <a:xfrm>
            <a:off x="6336792" y="3090672"/>
            <a:ext cx="548640" cy="548640"/>
          </a:xfrm>
          <a:prstGeom prst="ellipse">
            <a:avLst/>
          </a:prstGeom>
          <a:solidFill>
            <a:srgbClr val="FFFFFF"/>
          </a:solidFill>
          <a:ln/>
        </p:spPr>
      </p:sp>
      <p:pic>
        <p:nvPicPr>
          <p:cNvPr id="21" name="Image 3" descr="/home/claude/medsev-ppt/icons/responsive_00B4A6.png">    </p:cNvPr>
          <p:cNvPicPr>
            <a:picLocks noChangeAspect="1"/>
          </p:cNvPicPr>
          <p:nvPr/>
        </p:nvPicPr>
        <p:blipFill>
          <a:blip r:embed="rId4"/>
          <a:stretch>
            <a:fillRect/>
          </a:stretch>
        </p:blipFill>
        <p:spPr>
          <a:xfrm>
            <a:off x="6460236" y="3214116"/>
            <a:ext cx="301752" cy="301752"/>
          </a:xfrm>
          <a:prstGeom prst="rect">
            <a:avLst/>
          </a:prstGeom>
        </p:spPr>
      </p:pic>
      <p:sp>
        <p:nvSpPr>
          <p:cNvPr id="22" name="Text 16"/>
          <p:cNvSpPr/>
          <p:nvPr/>
        </p:nvSpPr>
        <p:spPr>
          <a:xfrm>
            <a:off x="7050024" y="2944368"/>
            <a:ext cx="4389120" cy="292608"/>
          </a:xfrm>
          <a:prstGeom prst="rect">
            <a:avLst/>
          </a:prstGeom>
          <a:noFill/>
          <a:ln/>
        </p:spPr>
        <p:txBody>
          <a:bodyPr wrap="square" lIns="0" tIns="0" rIns="0" bIns="0" rtlCol="0" anchor="ctr"/>
          <a:lstStyle/>
          <a:p>
            <a:pPr indent="0" marL="0">
              <a:buNone/>
            </a:pPr>
            <a:r>
              <a:rPr lang="en-US" sz="1350" b="1" dirty="0">
                <a:solidFill>
                  <a:srgbClr val="17263D"/>
                </a:solidFill>
                <a:latin typeface="Cambria" pitchFamily="34" charset="0"/>
                <a:ea typeface="Cambria" pitchFamily="34" charset="-122"/>
                <a:cs typeface="Cambria" pitchFamily="34" charset="-120"/>
              </a:rPr>
              <a:t>Responsive Layout</a:t>
            </a:r>
            <a:endParaRPr lang="en-US" sz="1350" dirty="0"/>
          </a:p>
        </p:txBody>
      </p:sp>
      <p:sp>
        <p:nvSpPr>
          <p:cNvPr id="23" name="Text 17"/>
          <p:cNvSpPr/>
          <p:nvPr/>
        </p:nvSpPr>
        <p:spPr>
          <a:xfrm>
            <a:off x="7050024" y="3255264"/>
            <a:ext cx="4343400" cy="594360"/>
          </a:xfrm>
          <a:prstGeom prst="rect">
            <a:avLst/>
          </a:prstGeom>
          <a:noFill/>
          <a:ln/>
        </p:spPr>
        <p:txBody>
          <a:bodyPr wrap="square" lIns="0" tIns="0" rIns="0" bIns="0" rtlCol="0" anchor="ctr"/>
          <a:lstStyle/>
          <a:p>
            <a:pPr indent="0" marL="0">
              <a:lnSpc>
                <a:spcPct val="110000"/>
              </a:lnSpc>
              <a:buNone/>
            </a:pPr>
            <a:r>
              <a:rPr lang="en-US" sz="1000" dirty="0">
                <a:solidFill>
                  <a:srgbClr val="55677E"/>
                </a:solidFill>
                <a:latin typeface="Calibri" pitchFamily="34" charset="0"/>
                <a:ea typeface="Calibri" pitchFamily="34" charset="-122"/>
                <a:cs typeface="Calibri" pitchFamily="34" charset="-120"/>
              </a:rPr>
              <a:t>Consistent experience from desktop to mobile.</a:t>
            </a:r>
            <a:endParaRPr lang="en-US" sz="1000" dirty="0"/>
          </a:p>
        </p:txBody>
      </p:sp>
      <p:sp>
        <p:nvSpPr>
          <p:cNvPr id="24" name="Shape 18"/>
          <p:cNvSpPr/>
          <p:nvPr/>
        </p:nvSpPr>
        <p:spPr>
          <a:xfrm>
            <a:off x="548640" y="4096512"/>
            <a:ext cx="5440680" cy="1170432"/>
          </a:xfrm>
          <a:prstGeom prst="roundRect">
            <a:avLst>
              <a:gd name="adj" fmla="val 7031"/>
            </a:avLst>
          </a:prstGeom>
          <a:solidFill>
            <a:srgbClr val="F6FAFD"/>
          </a:solidFill>
          <a:ln w="12700">
            <a:solidFill>
              <a:srgbClr val="D6E5F2"/>
            </a:solidFill>
            <a:prstDash val="solid"/>
          </a:ln>
        </p:spPr>
      </p:sp>
      <p:sp>
        <p:nvSpPr>
          <p:cNvPr id="25" name="Shape 19"/>
          <p:cNvSpPr/>
          <p:nvPr/>
        </p:nvSpPr>
        <p:spPr>
          <a:xfrm>
            <a:off x="749808" y="4407408"/>
            <a:ext cx="548640" cy="548640"/>
          </a:xfrm>
          <a:prstGeom prst="ellipse">
            <a:avLst/>
          </a:prstGeom>
          <a:solidFill>
            <a:srgbClr val="FFFFFF"/>
          </a:solidFill>
          <a:ln/>
        </p:spPr>
      </p:sp>
      <p:pic>
        <p:nvPicPr>
          <p:cNvPr id="26" name="Image 4" descr="/home/claude/medsev-ppt/icons/layout_00B4A6.png">    </p:cNvPr>
          <p:cNvPicPr>
            <a:picLocks noChangeAspect="1"/>
          </p:cNvPicPr>
          <p:nvPr/>
        </p:nvPicPr>
        <p:blipFill>
          <a:blip r:embed="rId5"/>
          <a:stretch>
            <a:fillRect/>
          </a:stretch>
        </p:blipFill>
        <p:spPr>
          <a:xfrm>
            <a:off x="873252" y="4530852"/>
            <a:ext cx="301752" cy="301752"/>
          </a:xfrm>
          <a:prstGeom prst="rect">
            <a:avLst/>
          </a:prstGeom>
        </p:spPr>
      </p:pic>
      <p:sp>
        <p:nvSpPr>
          <p:cNvPr id="27" name="Text 20"/>
          <p:cNvSpPr/>
          <p:nvPr/>
        </p:nvSpPr>
        <p:spPr>
          <a:xfrm>
            <a:off x="1463040" y="4261104"/>
            <a:ext cx="4389120" cy="292608"/>
          </a:xfrm>
          <a:prstGeom prst="rect">
            <a:avLst/>
          </a:prstGeom>
          <a:noFill/>
          <a:ln/>
        </p:spPr>
        <p:txBody>
          <a:bodyPr wrap="square" lIns="0" tIns="0" rIns="0" bIns="0" rtlCol="0" anchor="ctr"/>
          <a:lstStyle/>
          <a:p>
            <a:pPr indent="0" marL="0">
              <a:buNone/>
            </a:pPr>
            <a:r>
              <a:rPr lang="en-US" sz="1350" b="1" dirty="0">
                <a:solidFill>
                  <a:srgbClr val="17263D"/>
                </a:solidFill>
                <a:latin typeface="Cambria" pitchFamily="34" charset="0"/>
                <a:ea typeface="Cambria" pitchFamily="34" charset="-122"/>
                <a:cs typeface="Cambria" pitchFamily="34" charset="-120"/>
              </a:rPr>
              <a:t>Clean Interface</a:t>
            </a:r>
            <a:endParaRPr lang="en-US" sz="1350" dirty="0"/>
          </a:p>
        </p:txBody>
      </p:sp>
      <p:sp>
        <p:nvSpPr>
          <p:cNvPr id="28" name="Text 21"/>
          <p:cNvSpPr/>
          <p:nvPr/>
        </p:nvSpPr>
        <p:spPr>
          <a:xfrm>
            <a:off x="1463040" y="4572000"/>
            <a:ext cx="4343400" cy="594360"/>
          </a:xfrm>
          <a:prstGeom prst="rect">
            <a:avLst/>
          </a:prstGeom>
          <a:noFill/>
          <a:ln/>
        </p:spPr>
        <p:txBody>
          <a:bodyPr wrap="square" lIns="0" tIns="0" rIns="0" bIns="0" rtlCol="0" anchor="ctr"/>
          <a:lstStyle/>
          <a:p>
            <a:pPr indent="0" marL="0">
              <a:lnSpc>
                <a:spcPct val="110000"/>
              </a:lnSpc>
              <a:buNone/>
            </a:pPr>
            <a:r>
              <a:rPr lang="en-US" sz="1000" dirty="0">
                <a:solidFill>
                  <a:srgbClr val="55677E"/>
                </a:solidFill>
                <a:latin typeface="Calibri" pitchFamily="34" charset="0"/>
                <a:ea typeface="Calibri" pitchFamily="34" charset="-122"/>
                <a:cs typeface="Calibri" pitchFamily="34" charset="-120"/>
              </a:rPr>
              <a:t>Generous whitespace keeps every page uncluttered.</a:t>
            </a:r>
            <a:endParaRPr lang="en-US" sz="1000" dirty="0"/>
          </a:p>
        </p:txBody>
      </p:sp>
      <p:sp>
        <p:nvSpPr>
          <p:cNvPr id="29" name="Shape 22"/>
          <p:cNvSpPr/>
          <p:nvPr/>
        </p:nvSpPr>
        <p:spPr>
          <a:xfrm>
            <a:off x="6135624" y="4096512"/>
            <a:ext cx="5440680" cy="1170432"/>
          </a:xfrm>
          <a:prstGeom prst="roundRect">
            <a:avLst>
              <a:gd name="adj" fmla="val 7031"/>
            </a:avLst>
          </a:prstGeom>
          <a:solidFill>
            <a:srgbClr val="F6FAFD"/>
          </a:solidFill>
          <a:ln w="12700">
            <a:solidFill>
              <a:srgbClr val="D6E5F2"/>
            </a:solidFill>
            <a:prstDash val="solid"/>
          </a:ln>
        </p:spPr>
      </p:sp>
      <p:sp>
        <p:nvSpPr>
          <p:cNvPr id="30" name="Shape 23"/>
          <p:cNvSpPr/>
          <p:nvPr/>
        </p:nvSpPr>
        <p:spPr>
          <a:xfrm>
            <a:off x="6336792" y="4407408"/>
            <a:ext cx="548640" cy="548640"/>
          </a:xfrm>
          <a:prstGeom prst="ellipse">
            <a:avLst/>
          </a:prstGeom>
          <a:solidFill>
            <a:srgbClr val="FFFFFF"/>
          </a:solidFill>
          <a:ln/>
        </p:spPr>
      </p:sp>
      <p:pic>
        <p:nvPicPr>
          <p:cNvPr id="31" name="Image 5" descr="/home/claude/medsev-ppt/icons/grid_00B4A6.png">    </p:cNvPr>
          <p:cNvPicPr>
            <a:picLocks noChangeAspect="1"/>
          </p:cNvPicPr>
          <p:nvPr/>
        </p:nvPicPr>
        <p:blipFill>
          <a:blip r:embed="rId6"/>
          <a:stretch>
            <a:fillRect/>
          </a:stretch>
        </p:blipFill>
        <p:spPr>
          <a:xfrm>
            <a:off x="6460236" y="4530852"/>
            <a:ext cx="301752" cy="301752"/>
          </a:xfrm>
          <a:prstGeom prst="rect">
            <a:avLst/>
          </a:prstGeom>
        </p:spPr>
      </p:pic>
      <p:sp>
        <p:nvSpPr>
          <p:cNvPr id="32" name="Text 24"/>
          <p:cNvSpPr/>
          <p:nvPr/>
        </p:nvSpPr>
        <p:spPr>
          <a:xfrm>
            <a:off x="7050024" y="4261104"/>
            <a:ext cx="4389120" cy="292608"/>
          </a:xfrm>
          <a:prstGeom prst="rect">
            <a:avLst/>
          </a:prstGeom>
          <a:noFill/>
          <a:ln/>
        </p:spPr>
        <p:txBody>
          <a:bodyPr wrap="square" lIns="0" tIns="0" rIns="0" bIns="0" rtlCol="0" anchor="ctr"/>
          <a:lstStyle/>
          <a:p>
            <a:pPr indent="0" marL="0">
              <a:buNone/>
            </a:pPr>
            <a:r>
              <a:rPr lang="en-US" sz="1350" b="1" dirty="0">
                <a:solidFill>
                  <a:srgbClr val="17263D"/>
                </a:solidFill>
                <a:latin typeface="Cambria" pitchFamily="34" charset="0"/>
                <a:ea typeface="Cambria" pitchFamily="34" charset="-122"/>
                <a:cs typeface="Cambria" pitchFamily="34" charset="-120"/>
              </a:rPr>
              <a:t>Modern Components</a:t>
            </a:r>
            <a:endParaRPr lang="en-US" sz="1350" dirty="0"/>
          </a:p>
        </p:txBody>
      </p:sp>
      <p:sp>
        <p:nvSpPr>
          <p:cNvPr id="33" name="Text 25"/>
          <p:cNvSpPr/>
          <p:nvPr/>
        </p:nvSpPr>
        <p:spPr>
          <a:xfrm>
            <a:off x="7050024" y="4572000"/>
            <a:ext cx="4343400" cy="594360"/>
          </a:xfrm>
          <a:prstGeom prst="rect">
            <a:avLst/>
          </a:prstGeom>
          <a:noFill/>
          <a:ln/>
        </p:spPr>
        <p:txBody>
          <a:bodyPr wrap="square" lIns="0" tIns="0" rIns="0" bIns="0" rtlCol="0" anchor="ctr"/>
          <a:lstStyle/>
          <a:p>
            <a:pPr indent="0" marL="0">
              <a:lnSpc>
                <a:spcPct val="110000"/>
              </a:lnSpc>
              <a:buNone/>
            </a:pPr>
            <a:r>
              <a:rPr lang="en-US" sz="1000" dirty="0">
                <a:solidFill>
                  <a:srgbClr val="55677E"/>
                </a:solidFill>
                <a:latin typeface="Calibri" pitchFamily="34" charset="0"/>
                <a:ea typeface="Calibri" pitchFamily="34" charset="-122"/>
                <a:cs typeface="Calibri" pitchFamily="34" charset="-120"/>
              </a:rPr>
              <a:t>Card grids, tabs, and sliders feel current, not dated.</a:t>
            </a:r>
            <a:endParaRPr lang="en-US" sz="1000" dirty="0"/>
          </a:p>
        </p:txBody>
      </p:sp>
      <p:sp>
        <p:nvSpPr>
          <p:cNvPr id="34" name="Shape 26"/>
          <p:cNvSpPr/>
          <p:nvPr/>
        </p:nvSpPr>
        <p:spPr>
          <a:xfrm>
            <a:off x="548640" y="5413248"/>
            <a:ext cx="5440680" cy="1170432"/>
          </a:xfrm>
          <a:prstGeom prst="roundRect">
            <a:avLst>
              <a:gd name="adj" fmla="val 7031"/>
            </a:avLst>
          </a:prstGeom>
          <a:solidFill>
            <a:srgbClr val="F6FAFD"/>
          </a:solidFill>
          <a:ln w="12700">
            <a:solidFill>
              <a:srgbClr val="D6E5F2"/>
            </a:solidFill>
            <a:prstDash val="solid"/>
          </a:ln>
        </p:spPr>
      </p:sp>
      <p:sp>
        <p:nvSpPr>
          <p:cNvPr id="35" name="Shape 27"/>
          <p:cNvSpPr/>
          <p:nvPr/>
        </p:nvSpPr>
        <p:spPr>
          <a:xfrm>
            <a:off x="749808" y="5724144"/>
            <a:ext cx="548640" cy="548640"/>
          </a:xfrm>
          <a:prstGeom prst="ellipse">
            <a:avLst/>
          </a:prstGeom>
          <a:solidFill>
            <a:srgbClr val="FFFFFF"/>
          </a:solidFill>
          <a:ln/>
        </p:spPr>
      </p:sp>
      <p:pic>
        <p:nvPicPr>
          <p:cNvPr id="36" name="Image 6" descr="/home/claude/medsev-ppt/icons/thumbsUp_00B4A6.png">    </p:cNvPr>
          <p:cNvPicPr>
            <a:picLocks noChangeAspect="1"/>
          </p:cNvPicPr>
          <p:nvPr/>
        </p:nvPicPr>
        <p:blipFill>
          <a:blip r:embed="rId7"/>
          <a:stretch>
            <a:fillRect/>
          </a:stretch>
        </p:blipFill>
        <p:spPr>
          <a:xfrm>
            <a:off x="873252" y="5847588"/>
            <a:ext cx="301752" cy="301752"/>
          </a:xfrm>
          <a:prstGeom prst="rect">
            <a:avLst/>
          </a:prstGeom>
        </p:spPr>
      </p:pic>
      <p:sp>
        <p:nvSpPr>
          <p:cNvPr id="37" name="Text 28"/>
          <p:cNvSpPr/>
          <p:nvPr/>
        </p:nvSpPr>
        <p:spPr>
          <a:xfrm>
            <a:off x="1463040" y="5577840"/>
            <a:ext cx="4389120" cy="292608"/>
          </a:xfrm>
          <a:prstGeom prst="rect">
            <a:avLst/>
          </a:prstGeom>
          <a:noFill/>
          <a:ln/>
        </p:spPr>
        <p:txBody>
          <a:bodyPr wrap="square" lIns="0" tIns="0" rIns="0" bIns="0" rtlCol="0" anchor="ctr"/>
          <a:lstStyle/>
          <a:p>
            <a:pPr indent="0" marL="0">
              <a:buNone/>
            </a:pPr>
            <a:r>
              <a:rPr lang="en-US" sz="1350" b="1" dirty="0">
                <a:solidFill>
                  <a:srgbClr val="17263D"/>
                </a:solidFill>
                <a:latin typeface="Cambria" pitchFamily="34" charset="0"/>
                <a:ea typeface="Cambria" pitchFamily="34" charset="-122"/>
                <a:cs typeface="Cambria" pitchFamily="34" charset="-120"/>
              </a:rPr>
              <a:t>User-Friendly Experience</a:t>
            </a:r>
            <a:endParaRPr lang="en-US" sz="1350" dirty="0"/>
          </a:p>
        </p:txBody>
      </p:sp>
      <p:sp>
        <p:nvSpPr>
          <p:cNvPr id="38" name="Text 29"/>
          <p:cNvSpPr/>
          <p:nvPr/>
        </p:nvSpPr>
        <p:spPr>
          <a:xfrm>
            <a:off x="1463040" y="5888736"/>
            <a:ext cx="4343400" cy="594360"/>
          </a:xfrm>
          <a:prstGeom prst="rect">
            <a:avLst/>
          </a:prstGeom>
          <a:noFill/>
          <a:ln/>
        </p:spPr>
        <p:txBody>
          <a:bodyPr wrap="square" lIns="0" tIns="0" rIns="0" bIns="0" rtlCol="0" anchor="ctr"/>
          <a:lstStyle/>
          <a:p>
            <a:pPr indent="0" marL="0">
              <a:lnSpc>
                <a:spcPct val="110000"/>
              </a:lnSpc>
              <a:buNone/>
            </a:pPr>
            <a:r>
              <a:rPr lang="en-US" sz="1000" dirty="0">
                <a:solidFill>
                  <a:srgbClr val="55677E"/>
                </a:solidFill>
                <a:latin typeface="Calibri" pitchFamily="34" charset="0"/>
                <a:ea typeface="Calibri" pitchFamily="34" charset="-122"/>
                <a:cs typeface="Calibri" pitchFamily="34" charset="-120"/>
              </a:rPr>
              <a:t>Short, guided paths to the appointment form.</a:t>
            </a:r>
            <a:endParaRPr lang="en-US" sz="1000" dirty="0"/>
          </a:p>
        </p:txBody>
      </p:sp>
      <p:sp>
        <p:nvSpPr>
          <p:cNvPr id="39" name="Shape 30"/>
          <p:cNvSpPr/>
          <p:nvPr/>
        </p:nvSpPr>
        <p:spPr>
          <a:xfrm>
            <a:off x="6135624" y="5413248"/>
            <a:ext cx="5440680" cy="1170432"/>
          </a:xfrm>
          <a:prstGeom prst="roundRect">
            <a:avLst>
              <a:gd name="adj" fmla="val 7031"/>
            </a:avLst>
          </a:prstGeom>
          <a:solidFill>
            <a:srgbClr val="F6FAFD"/>
          </a:solidFill>
          <a:ln w="12700">
            <a:solidFill>
              <a:srgbClr val="D6E5F2"/>
            </a:solidFill>
            <a:prstDash val="solid"/>
          </a:ln>
        </p:spPr>
      </p:sp>
      <p:sp>
        <p:nvSpPr>
          <p:cNvPr id="40" name="Shape 31"/>
          <p:cNvSpPr/>
          <p:nvPr/>
        </p:nvSpPr>
        <p:spPr>
          <a:xfrm>
            <a:off x="6336792" y="5724144"/>
            <a:ext cx="548640" cy="548640"/>
          </a:xfrm>
          <a:prstGeom prst="ellipse">
            <a:avLst/>
          </a:prstGeom>
          <a:solidFill>
            <a:srgbClr val="FFFFFF"/>
          </a:solidFill>
          <a:ln/>
        </p:spPr>
      </p:sp>
      <p:pic>
        <p:nvPicPr>
          <p:cNvPr id="41" name="Image 7" descr="/home/claude/medsev-ppt/icons/shield_00B4A6.png">    </p:cNvPr>
          <p:cNvPicPr>
            <a:picLocks noChangeAspect="1"/>
          </p:cNvPicPr>
          <p:nvPr/>
        </p:nvPicPr>
        <p:blipFill>
          <a:blip r:embed="rId8"/>
          <a:stretch>
            <a:fillRect/>
          </a:stretch>
        </p:blipFill>
        <p:spPr>
          <a:xfrm>
            <a:off x="6460236" y="5847588"/>
            <a:ext cx="301752" cy="301752"/>
          </a:xfrm>
          <a:prstGeom prst="rect">
            <a:avLst/>
          </a:prstGeom>
        </p:spPr>
      </p:pic>
      <p:sp>
        <p:nvSpPr>
          <p:cNvPr id="42" name="Text 32"/>
          <p:cNvSpPr/>
          <p:nvPr/>
        </p:nvSpPr>
        <p:spPr>
          <a:xfrm>
            <a:off x="7050024" y="5577840"/>
            <a:ext cx="4389120" cy="292608"/>
          </a:xfrm>
          <a:prstGeom prst="rect">
            <a:avLst/>
          </a:prstGeom>
          <a:noFill/>
          <a:ln/>
        </p:spPr>
        <p:txBody>
          <a:bodyPr wrap="square" lIns="0" tIns="0" rIns="0" bIns="0" rtlCol="0" anchor="ctr"/>
          <a:lstStyle/>
          <a:p>
            <a:pPr indent="0" marL="0">
              <a:buNone/>
            </a:pPr>
            <a:r>
              <a:rPr lang="en-US" sz="1350" b="1" dirty="0">
                <a:solidFill>
                  <a:srgbClr val="17263D"/>
                </a:solidFill>
                <a:latin typeface="Cambria" pitchFamily="34" charset="0"/>
                <a:ea typeface="Cambria" pitchFamily="34" charset="-122"/>
                <a:cs typeface="Cambria" pitchFamily="34" charset="-120"/>
              </a:rPr>
              <a:t>Consistent Branding</a:t>
            </a:r>
            <a:endParaRPr lang="en-US" sz="1350" dirty="0"/>
          </a:p>
        </p:txBody>
      </p:sp>
      <p:sp>
        <p:nvSpPr>
          <p:cNvPr id="43" name="Text 33"/>
          <p:cNvSpPr/>
          <p:nvPr/>
        </p:nvSpPr>
        <p:spPr>
          <a:xfrm>
            <a:off x="7050024" y="5888736"/>
            <a:ext cx="4343400" cy="594360"/>
          </a:xfrm>
          <a:prstGeom prst="rect">
            <a:avLst/>
          </a:prstGeom>
          <a:noFill/>
          <a:ln/>
        </p:spPr>
        <p:txBody>
          <a:bodyPr wrap="square" lIns="0" tIns="0" rIns="0" bIns="0" rtlCol="0" anchor="ctr"/>
          <a:lstStyle/>
          <a:p>
            <a:pPr indent="0" marL="0">
              <a:lnSpc>
                <a:spcPct val="110000"/>
              </a:lnSpc>
              <a:buNone/>
            </a:pPr>
            <a:r>
              <a:rPr lang="en-US" sz="1000" dirty="0">
                <a:solidFill>
                  <a:srgbClr val="55677E"/>
                </a:solidFill>
                <a:latin typeface="Calibri" pitchFamily="34" charset="0"/>
                <a:ea typeface="Calibri" pitchFamily="34" charset="-122"/>
                <a:cs typeface="Calibri" pitchFamily="34" charset="-120"/>
              </a:rPr>
              <a:t>One color and icon language across every page.</a:t>
            </a:r>
            <a:endParaRPr lang="en-US" sz="1000" dirty="0"/>
          </a:p>
        </p:txBody>
      </p:sp>
      <p:sp>
        <p:nvSpPr>
          <p:cNvPr id="44" name="Text 34"/>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45" name="Text 35"/>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Strengths of the Website</a:t>
            </a:r>
            <a:endParaRPr lang="en-US" sz="900" dirty="0"/>
          </a:p>
        </p:txBody>
      </p:sp>
      <p:sp>
        <p:nvSpPr>
          <p:cNvPr id="46" name="Text 36"/>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22 / 23</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72A47"/>
        </a:solidFill>
      </p:bgPr>
    </p:bg>
    <p:spTree>
      <p:nvGrpSpPr>
        <p:cNvPr id="1" name=""/>
        <p:cNvGrpSpPr/>
        <p:nvPr/>
      </p:nvGrpSpPr>
      <p:grpSpPr>
        <a:xfrm>
          <a:off x="0" y="0"/>
          <a:ext cx="0" cy="0"/>
          <a:chOff x="0" y="0"/>
          <a:chExt cx="0" cy="0"/>
        </a:xfrm>
      </p:grpSpPr>
      <p:sp>
        <p:nvSpPr>
          <p:cNvPr id="2" name="Shape 0"/>
          <p:cNvSpPr/>
          <p:nvPr/>
        </p:nvSpPr>
        <p:spPr>
          <a:xfrm>
            <a:off x="-2377440" y="-2194560"/>
            <a:ext cx="6400800" cy="6400800"/>
          </a:xfrm>
          <a:prstGeom prst="ellipse">
            <a:avLst/>
          </a:prstGeom>
          <a:solidFill>
            <a:srgbClr val="0B5FA4">
              <a:alpha val="40000"/>
            </a:srgbClr>
          </a:solidFill>
          <a:ln/>
        </p:spPr>
      </p:sp>
      <p:sp>
        <p:nvSpPr>
          <p:cNvPr id="3" name="Shape 1"/>
          <p:cNvSpPr/>
          <p:nvPr/>
        </p:nvSpPr>
        <p:spPr>
          <a:xfrm>
            <a:off x="9326880" y="3840480"/>
            <a:ext cx="5486400" cy="5486400"/>
          </a:xfrm>
          <a:prstGeom prst="ellipse">
            <a:avLst/>
          </a:prstGeom>
          <a:solidFill>
            <a:srgbClr val="00B4A6">
              <a:alpha val="28000"/>
            </a:srgbClr>
          </a:solidFill>
          <a:ln/>
        </p:spPr>
      </p:sp>
      <p:sp>
        <p:nvSpPr>
          <p:cNvPr id="4" name="Text 2"/>
          <p:cNvSpPr/>
          <p:nvPr/>
        </p:nvSpPr>
        <p:spPr>
          <a:xfrm>
            <a:off x="548640" y="502920"/>
            <a:ext cx="5486400" cy="292608"/>
          </a:xfrm>
          <a:prstGeom prst="rect">
            <a:avLst/>
          </a:prstGeom>
          <a:noFill/>
          <a:ln/>
        </p:spPr>
        <p:txBody>
          <a:bodyPr wrap="square" lIns="0" tIns="0" rIns="0" bIns="0" rtlCol="0" anchor="ctr"/>
          <a:lstStyle/>
          <a:p>
            <a:pPr indent="0" marL="0">
              <a:buNone/>
            </a:pPr>
            <a:r>
              <a:rPr lang="en-US" sz="1250" b="1" spc="150" kern="0" dirty="0">
                <a:solidFill>
                  <a:srgbClr val="00B4A6"/>
                </a:solidFill>
                <a:latin typeface="Calibri" pitchFamily="34" charset="0"/>
                <a:ea typeface="Calibri" pitchFamily="34" charset="-122"/>
                <a:cs typeface="Calibri" pitchFamily="34" charset="-120"/>
              </a:rPr>
              <a:t>CONCLUSION</a:t>
            </a:r>
            <a:endParaRPr lang="en-US" sz="1250" dirty="0"/>
          </a:p>
        </p:txBody>
      </p:sp>
      <p:sp>
        <p:nvSpPr>
          <p:cNvPr id="5" name="Text 3"/>
          <p:cNvSpPr/>
          <p:nvPr/>
        </p:nvSpPr>
        <p:spPr>
          <a:xfrm>
            <a:off x="548640" y="804672"/>
            <a:ext cx="10515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Strong Fit for a Healthcare Platform</a:t>
            </a:r>
            <a:endParaRPr lang="en-US" sz="3000" dirty="0"/>
          </a:p>
        </p:txBody>
      </p:sp>
      <p:sp>
        <p:nvSpPr>
          <p:cNvPr id="6" name="Shape 4"/>
          <p:cNvSpPr/>
          <p:nvPr/>
        </p:nvSpPr>
        <p:spPr>
          <a:xfrm>
            <a:off x="548640" y="1691640"/>
            <a:ext cx="384048" cy="384048"/>
          </a:xfrm>
          <a:prstGeom prst="ellipse">
            <a:avLst/>
          </a:prstGeom>
          <a:solidFill>
            <a:srgbClr val="FFFFFF"/>
          </a:solidFill>
          <a:ln/>
        </p:spPr>
      </p:sp>
      <p:pic>
        <p:nvPicPr>
          <p:cNvPr id="7" name="Image 0" descr="/home/claude/medsev-ppt/icons/check_0B5FA4.png">    </p:cNvPr>
          <p:cNvPicPr>
            <a:picLocks noChangeAspect="1"/>
          </p:cNvPicPr>
          <p:nvPr/>
        </p:nvPicPr>
        <p:blipFill>
          <a:blip r:embed="rId1"/>
          <a:stretch>
            <a:fillRect/>
          </a:stretch>
        </p:blipFill>
        <p:spPr>
          <a:xfrm>
            <a:off x="635051" y="1778051"/>
            <a:ext cx="211226" cy="211226"/>
          </a:xfrm>
          <a:prstGeom prst="rect">
            <a:avLst/>
          </a:prstGeom>
        </p:spPr>
      </p:pic>
      <p:sp>
        <p:nvSpPr>
          <p:cNvPr id="8" name="Text 5"/>
          <p:cNvSpPr/>
          <p:nvPr/>
        </p:nvSpPr>
        <p:spPr>
          <a:xfrm>
            <a:off x="1097280" y="1709928"/>
            <a:ext cx="9966960" cy="457200"/>
          </a:xfrm>
          <a:prstGeom prst="rect">
            <a:avLst/>
          </a:prstGeom>
          <a:noFill/>
          <a:ln/>
        </p:spPr>
        <p:txBody>
          <a:bodyPr wrap="square" lIns="0" tIns="0" rIns="0" bIns="0" rtlCol="0" anchor="ctr"/>
          <a:lstStyle/>
          <a:p>
            <a:pPr indent="0" marL="0">
              <a:buNone/>
            </a:pPr>
            <a:r>
              <a:rPr lang="en-US" sz="1450" dirty="0">
                <a:solidFill>
                  <a:srgbClr val="DCEAF7"/>
                </a:solidFill>
                <a:latin typeface="Calibri" pitchFamily="34" charset="0"/>
                <a:ea typeface="Calibri" pitchFamily="34" charset="-122"/>
                <a:cs typeface="Calibri" pitchFamily="34" charset="-120"/>
              </a:rPr>
              <a:t>Template is purpose-built for healthcare, not adapted from a generic layout.</a:t>
            </a:r>
            <a:endParaRPr lang="en-US" sz="1450" dirty="0"/>
          </a:p>
        </p:txBody>
      </p:sp>
      <p:sp>
        <p:nvSpPr>
          <p:cNvPr id="9" name="Shape 6"/>
          <p:cNvSpPr/>
          <p:nvPr/>
        </p:nvSpPr>
        <p:spPr>
          <a:xfrm>
            <a:off x="548640" y="2350008"/>
            <a:ext cx="384048" cy="384048"/>
          </a:xfrm>
          <a:prstGeom prst="ellipse">
            <a:avLst/>
          </a:prstGeom>
          <a:solidFill>
            <a:srgbClr val="FFFFFF"/>
          </a:solidFill>
          <a:ln/>
        </p:spPr>
      </p:sp>
      <p:pic>
        <p:nvPicPr>
          <p:cNvPr id="10" name="Image 1" descr="/home/claude/medsev-ppt/icons/check_0B5FA4.png">    </p:cNvPr>
          <p:cNvPicPr>
            <a:picLocks noChangeAspect="1"/>
          </p:cNvPicPr>
          <p:nvPr/>
        </p:nvPicPr>
        <p:blipFill>
          <a:blip r:embed="rId2"/>
          <a:stretch>
            <a:fillRect/>
          </a:stretch>
        </p:blipFill>
        <p:spPr>
          <a:xfrm>
            <a:off x="635051" y="2436419"/>
            <a:ext cx="211226" cy="211226"/>
          </a:xfrm>
          <a:prstGeom prst="rect">
            <a:avLst/>
          </a:prstGeom>
        </p:spPr>
      </p:pic>
      <p:sp>
        <p:nvSpPr>
          <p:cNvPr id="11" name="Text 7"/>
          <p:cNvSpPr/>
          <p:nvPr/>
        </p:nvSpPr>
        <p:spPr>
          <a:xfrm>
            <a:off x="1097280" y="2368296"/>
            <a:ext cx="9966960" cy="457200"/>
          </a:xfrm>
          <a:prstGeom prst="rect">
            <a:avLst/>
          </a:prstGeom>
          <a:noFill/>
          <a:ln/>
        </p:spPr>
        <p:txBody>
          <a:bodyPr wrap="square" lIns="0" tIns="0" rIns="0" bIns="0" rtlCol="0" anchor="ctr"/>
          <a:lstStyle/>
          <a:p>
            <a:pPr indent="0" marL="0">
              <a:buNone/>
            </a:pPr>
            <a:r>
              <a:rPr lang="en-US" sz="1450" dirty="0">
                <a:solidFill>
                  <a:srgbClr val="DCEAF7"/>
                </a:solidFill>
                <a:latin typeface="Calibri" pitchFamily="34" charset="0"/>
                <a:ea typeface="Calibri" pitchFamily="34" charset="-122"/>
                <a:cs typeface="Calibri" pitchFamily="34" charset="-120"/>
              </a:rPr>
              <a:t>Every page maps to a clear step in the patient journey — nothing is filler.</a:t>
            </a:r>
            <a:endParaRPr lang="en-US" sz="1450" dirty="0"/>
          </a:p>
        </p:txBody>
      </p:sp>
      <p:sp>
        <p:nvSpPr>
          <p:cNvPr id="12" name="Shape 8"/>
          <p:cNvSpPr/>
          <p:nvPr/>
        </p:nvSpPr>
        <p:spPr>
          <a:xfrm>
            <a:off x="548640" y="3008376"/>
            <a:ext cx="384048" cy="384048"/>
          </a:xfrm>
          <a:prstGeom prst="ellipse">
            <a:avLst/>
          </a:prstGeom>
          <a:solidFill>
            <a:srgbClr val="FFFFFF"/>
          </a:solidFill>
          <a:ln/>
        </p:spPr>
      </p:sp>
      <p:pic>
        <p:nvPicPr>
          <p:cNvPr id="13" name="Image 2" descr="/home/claude/medsev-ppt/icons/check_0B5FA4.png">    </p:cNvPr>
          <p:cNvPicPr>
            <a:picLocks noChangeAspect="1"/>
          </p:cNvPicPr>
          <p:nvPr/>
        </p:nvPicPr>
        <p:blipFill>
          <a:blip r:embed="rId3"/>
          <a:stretch>
            <a:fillRect/>
          </a:stretch>
        </p:blipFill>
        <p:spPr>
          <a:xfrm>
            <a:off x="635051" y="3094787"/>
            <a:ext cx="211226" cy="211226"/>
          </a:xfrm>
          <a:prstGeom prst="rect">
            <a:avLst/>
          </a:prstGeom>
        </p:spPr>
      </p:pic>
      <p:sp>
        <p:nvSpPr>
          <p:cNvPr id="14" name="Text 9"/>
          <p:cNvSpPr/>
          <p:nvPr/>
        </p:nvSpPr>
        <p:spPr>
          <a:xfrm>
            <a:off x="1097280" y="3026664"/>
            <a:ext cx="9966960" cy="457200"/>
          </a:xfrm>
          <a:prstGeom prst="rect">
            <a:avLst/>
          </a:prstGeom>
          <a:noFill/>
          <a:ln/>
        </p:spPr>
        <p:txBody>
          <a:bodyPr wrap="square" lIns="0" tIns="0" rIns="0" bIns="0" rtlCol="0" anchor="ctr"/>
          <a:lstStyle/>
          <a:p>
            <a:pPr indent="0" marL="0">
              <a:buNone/>
            </a:pPr>
            <a:r>
              <a:rPr lang="en-US" sz="1450" dirty="0">
                <a:solidFill>
                  <a:srgbClr val="DCEAF7"/>
                </a:solidFill>
                <a:latin typeface="Calibri" pitchFamily="34" charset="0"/>
                <a:ea typeface="Calibri" pitchFamily="34" charset="-122"/>
                <a:cs typeface="Calibri" pitchFamily="34" charset="-120"/>
              </a:rPr>
              <a:t>Consistent blue/white branding builds the clinical trust patients look for.</a:t>
            </a:r>
            <a:endParaRPr lang="en-US" sz="1450" dirty="0"/>
          </a:p>
        </p:txBody>
      </p:sp>
      <p:sp>
        <p:nvSpPr>
          <p:cNvPr id="15" name="Shape 10"/>
          <p:cNvSpPr/>
          <p:nvPr/>
        </p:nvSpPr>
        <p:spPr>
          <a:xfrm>
            <a:off x="548640" y="3666744"/>
            <a:ext cx="384048" cy="384048"/>
          </a:xfrm>
          <a:prstGeom prst="ellipse">
            <a:avLst/>
          </a:prstGeom>
          <a:solidFill>
            <a:srgbClr val="FFFFFF"/>
          </a:solidFill>
          <a:ln/>
        </p:spPr>
      </p:sp>
      <p:pic>
        <p:nvPicPr>
          <p:cNvPr id="16" name="Image 3" descr="/home/claude/medsev-ppt/icons/check_0B5FA4.png">    </p:cNvPr>
          <p:cNvPicPr>
            <a:picLocks noChangeAspect="1"/>
          </p:cNvPicPr>
          <p:nvPr/>
        </p:nvPicPr>
        <p:blipFill>
          <a:blip r:embed="rId4"/>
          <a:stretch>
            <a:fillRect/>
          </a:stretch>
        </p:blipFill>
        <p:spPr>
          <a:xfrm>
            <a:off x="635051" y="3753155"/>
            <a:ext cx="211226" cy="211226"/>
          </a:xfrm>
          <a:prstGeom prst="rect">
            <a:avLst/>
          </a:prstGeom>
        </p:spPr>
      </p:pic>
      <p:sp>
        <p:nvSpPr>
          <p:cNvPr id="17" name="Text 11"/>
          <p:cNvSpPr/>
          <p:nvPr/>
        </p:nvSpPr>
        <p:spPr>
          <a:xfrm>
            <a:off x="1097280" y="3685032"/>
            <a:ext cx="9966960" cy="457200"/>
          </a:xfrm>
          <a:prstGeom prst="rect">
            <a:avLst/>
          </a:prstGeom>
          <a:noFill/>
          <a:ln/>
        </p:spPr>
        <p:txBody>
          <a:bodyPr wrap="square" lIns="0" tIns="0" rIns="0" bIns="0" rtlCol="0" anchor="ctr"/>
          <a:lstStyle/>
          <a:p>
            <a:pPr indent="0" marL="0">
              <a:buNone/>
            </a:pPr>
            <a:r>
              <a:rPr lang="en-US" sz="1450" dirty="0">
                <a:solidFill>
                  <a:srgbClr val="DCEAF7"/>
                </a:solidFill>
                <a:latin typeface="Calibri" pitchFamily="34" charset="0"/>
                <a:ea typeface="Calibri" pitchFamily="34" charset="-122"/>
                <a:cs typeface="Calibri" pitchFamily="34" charset="-120"/>
              </a:rPr>
              <a:t>Fully responsive foundation, ready to be paired with a real backend like MedCare.</a:t>
            </a:r>
            <a:endParaRPr lang="en-US" sz="1450" dirty="0"/>
          </a:p>
        </p:txBody>
      </p:sp>
      <p:sp>
        <p:nvSpPr>
          <p:cNvPr id="18" name="Shape 12"/>
          <p:cNvSpPr/>
          <p:nvPr/>
        </p:nvSpPr>
        <p:spPr>
          <a:xfrm>
            <a:off x="566928" y="4526280"/>
            <a:ext cx="1005840" cy="41148"/>
          </a:xfrm>
          <a:prstGeom prst="rect">
            <a:avLst/>
          </a:prstGeom>
          <a:solidFill>
            <a:srgbClr val="00B4A6"/>
          </a:solidFill>
          <a:ln/>
        </p:spPr>
      </p:sp>
      <p:sp>
        <p:nvSpPr>
          <p:cNvPr id="19" name="Text 13"/>
          <p:cNvSpPr/>
          <p:nvPr/>
        </p:nvSpPr>
        <p:spPr>
          <a:xfrm>
            <a:off x="548640" y="4709160"/>
            <a:ext cx="73152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20" name="Text 14"/>
          <p:cNvSpPr/>
          <p:nvPr/>
        </p:nvSpPr>
        <p:spPr>
          <a:xfrm>
            <a:off x="548640" y="5623560"/>
            <a:ext cx="7315200" cy="365760"/>
          </a:xfrm>
          <a:prstGeom prst="rect">
            <a:avLst/>
          </a:prstGeom>
          <a:noFill/>
          <a:ln/>
        </p:spPr>
        <p:txBody>
          <a:bodyPr wrap="square" lIns="0" tIns="0" rIns="0" bIns="0" rtlCol="0" anchor="ctr"/>
          <a:lstStyle/>
          <a:p>
            <a:pPr indent="0" marL="0">
              <a:buNone/>
            </a:pPr>
            <a:r>
              <a:rPr lang="en-US" sz="1400" dirty="0">
                <a:solidFill>
                  <a:srgbClr val="AFC9E6"/>
                </a:solidFill>
                <a:latin typeface="Calibri" pitchFamily="34" charset="0"/>
                <a:ea typeface="Calibri" pitchFamily="34" charset="-122"/>
                <a:cs typeface="Calibri" pitchFamily="34" charset="-120"/>
              </a:rPr>
              <a:t>Questions &amp; discussion welcome.</a:t>
            </a:r>
            <a:endParaRPr lang="en-US" sz="1400" dirty="0"/>
          </a:p>
        </p:txBody>
      </p:sp>
      <p:sp>
        <p:nvSpPr>
          <p:cNvPr id="21" name="Text 15"/>
          <p:cNvSpPr/>
          <p:nvPr/>
        </p:nvSpPr>
        <p:spPr>
          <a:xfrm>
            <a:off x="548640" y="6355080"/>
            <a:ext cx="8229600" cy="320040"/>
          </a:xfrm>
          <a:prstGeom prst="rect">
            <a:avLst/>
          </a:prstGeom>
          <a:noFill/>
          <a:ln/>
        </p:spPr>
        <p:txBody>
          <a:bodyPr wrap="square" lIns="0" tIns="0" rIns="0" bIns="0" rtlCol="0" anchor="ctr"/>
          <a:lstStyle/>
          <a:p>
            <a:pPr indent="0" marL="0">
              <a:buNone/>
            </a:pPr>
            <a:r>
              <a:rPr lang="en-US" sz="1050" dirty="0">
                <a:solidFill>
                  <a:srgbClr val="7FA3CF"/>
                </a:solidFill>
                <a:latin typeface="Calibri" pitchFamily="34" charset="0"/>
                <a:ea typeface="Calibri" pitchFamily="34" charset="-122"/>
                <a:cs typeface="Calibri" pitchFamily="34" charset="-120"/>
              </a:rPr>
              <a:t>MedCare Capstone Team  ·  DEPI Round 4  ·  React.js Track</a:t>
            </a:r>
            <a:endParaRPr lang="en-US" sz="1050" dirty="0"/>
          </a:p>
        </p:txBody>
      </p:sp>
      <p:sp>
        <p:nvSpPr>
          <p:cNvPr id="22" name="Text 16"/>
          <p:cNvSpPr/>
          <p:nvPr/>
        </p:nvSpPr>
        <p:spPr>
          <a:xfrm>
            <a:off x="457200" y="6473952"/>
            <a:ext cx="2743200" cy="274320"/>
          </a:xfrm>
          <a:prstGeom prst="rect">
            <a:avLst/>
          </a:prstGeom>
          <a:noFill/>
          <a:ln/>
        </p:spPr>
        <p:txBody>
          <a:bodyPr wrap="square" lIns="0" tIns="0" rIns="0" bIns="0" rtlCol="0" anchor="ctr"/>
          <a:lstStyle/>
          <a:p>
            <a:pPr indent="0" marL="0">
              <a:buNone/>
            </a:pPr>
            <a:r>
              <a:rPr lang="en-US" sz="1000" b="1" spc="200" kern="0" dirty="0">
                <a:solidFill>
                  <a:srgbClr val="55677E"/>
                </a:solidFill>
                <a:latin typeface="Cambria" pitchFamily="34" charset="0"/>
                <a:ea typeface="Cambria" pitchFamily="34" charset="-122"/>
                <a:cs typeface="Cambria" pitchFamily="34" charset="-120"/>
              </a:rPr>
              <a:t>MEDSEV</a:t>
            </a:r>
            <a:endParaRPr lang="en-US" sz="1000" dirty="0"/>
          </a:p>
        </p:txBody>
      </p:sp>
      <p:sp>
        <p:nvSpPr>
          <p:cNvPr id="23" name="Text 17"/>
          <p:cNvSpPr/>
          <p:nvPr/>
        </p:nvSpPr>
        <p:spPr>
          <a:xfrm>
            <a:off x="3291840" y="6473952"/>
            <a:ext cx="5943600" cy="274320"/>
          </a:xfrm>
          <a:prstGeom prst="rect">
            <a:avLst/>
          </a:prstGeom>
          <a:noFill/>
          <a:ln/>
        </p:spPr>
        <p:txBody>
          <a:bodyPr wrap="square" lIns="0" tIns="0" rIns="0" bIns="0" rtlCol="0" anchor="ctr"/>
          <a:lstStyle/>
          <a:p>
            <a:pPr indent="0" marL="0">
              <a:buNone/>
            </a:pPr>
            <a:r>
              <a:rPr lang="en-US" sz="900" dirty="0">
                <a:solidFill>
                  <a:srgbClr val="55677E"/>
                </a:solidFill>
                <a:latin typeface="Calibri" pitchFamily="34" charset="0"/>
                <a:ea typeface="Calibri" pitchFamily="34" charset="-122"/>
                <a:cs typeface="Calibri" pitchFamily="34" charset="-120"/>
              </a:rPr>
              <a:t>Conclusion</a:t>
            </a:r>
            <a:endParaRPr lang="en-US" sz="900" dirty="0"/>
          </a:p>
        </p:txBody>
      </p:sp>
      <p:sp>
        <p:nvSpPr>
          <p:cNvPr id="24" name="Text 18"/>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1000" dirty="0">
                <a:solidFill>
                  <a:srgbClr val="55677E"/>
                </a:solidFill>
                <a:latin typeface="Calibri" pitchFamily="34" charset="0"/>
                <a:ea typeface="Calibri" pitchFamily="34" charset="-122"/>
                <a:cs typeface="Calibri" pitchFamily="34" charset="-120"/>
              </a:rPr>
              <a:t>23 / 23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2026-07-10T09:30:37Z</dcterms:created>
  <dcterms:modified xsi:type="dcterms:W3CDTF">2026-07-10T09:30:37Z</dcterms:modified>
</cp:coreProperties>
</file>